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e4a750cf8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e4a750cf8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4a750cf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4a750cf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4a750cf8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4a750cf8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4a750cf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4a750cf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4a750cf8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4a750cf8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4a750cf8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e4a750cf8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4a750cf8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4a750cf8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4a750cf8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4a750cf8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4a750cf8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4a750cf8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4a750cf8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4a750cf8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4a750cf8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4a750cf8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4a750cf8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e4a750cf8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xiv.org/pdf/2204.14138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Clock Synchronization - Improve total order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0" r="0" t="13209"/>
          <a:stretch/>
        </p:blipFill>
        <p:spPr>
          <a:xfrm>
            <a:off x="0" y="353964"/>
            <a:ext cx="9144000" cy="443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Huygens linear SVM Model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Coded probes filter out invalid probes.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Run linear SVM with filtered probes to get the slope and intercept.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&amp; performance: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40 Gbps data center testbed, HUYGENS only takes around 0.05% of the link bandwidth and less than 0.44% of a server’s CPU time.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625" y="2825725"/>
            <a:ext cx="5157074" cy="231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351"/>
            <a:ext cx="9143999" cy="5102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3000"/>
            <a:ext cx="64008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rgbClr val="333333"/>
                </a:solidFill>
                <a:highlight>
                  <a:srgbClr val="FFFFFF"/>
                </a:highlight>
              </a:rPr>
              <a:t>Multi-hop Precision Time Protocol: an Internet Applicable Time Synchronization Scheme</a:t>
            </a:r>
            <a:endParaRPr b="1"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365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claims: Approximately 3 times the precision of HUYGENS </a:t>
            </a:r>
            <a:b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approximately 30 times the precision of PTP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HUYGENS’s synchronization is only applicable to symmetrical </a:t>
            </a:r>
            <a:b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of the data center.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45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Multi-hop Precision Time Protocol (M-PTP) is 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especially suitable for Internet-scale high-precision 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time-synchronized scenes and with low cost.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50" y="3718200"/>
            <a:ext cx="8157576" cy="14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0350" y="882550"/>
            <a:ext cx="3563651" cy="23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450925"/>
            <a:ext cx="8520600" cy="41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Get random delay distribution based on SVM: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M-PTP encodes and filters the packets to obtain packets that are less affected by the delay of network equipment, obtains the upper and lower bounds, and estimates the random.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longitudinal distance between the data point 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above the upper support vector and the upper 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vector is its forward random queuing delay.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longitudinal distance between the data point 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below the lower support vector and the lower 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vector is its reverse random queuing delay.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9730" y="1761475"/>
            <a:ext cx="3504274" cy="250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605950"/>
            <a:ext cx="8520600" cy="39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Calculate preliminary time offset based on L-estimator: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each period of the L-estimator, we can obtain the distribution of positive and negative random queuing delay through SVM based random delay estimation, and then calculate its expectation and covariance.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is the number of historical periods of the extended model of the L-estimator.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k periods are met, calculate the parameters of the L-estimator for the current period and the previous k periods, and then calculate the time offset estimate based on the parameters, that is, the preliminary time offset.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Correction based on weight loop effect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erform a loop correction based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on the weight to obtain the final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time offset.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Loop correction means that a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group of synchronized clocks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must be transfer synchronized.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Based on the preliminary time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offset of each edge calculated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at the previous step, M-PTP would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perform a loop correction based on the weight.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675" y="930075"/>
            <a:ext cx="4772324" cy="29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Sundial: Fault-tolerant Clock Synchronization for Datacenters</a:t>
            </a:r>
            <a:endParaRPr sz="2420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-30811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3852">
                <a:solidFill>
                  <a:schemeClr val="dk1"/>
                </a:solidFill>
              </a:rPr>
              <a:t>Unlike Huygens which uses only software to improve </a:t>
            </a:r>
            <a:br>
              <a:rPr lang="en" sz="3852">
                <a:solidFill>
                  <a:schemeClr val="dk1"/>
                </a:solidFill>
              </a:rPr>
            </a:br>
            <a:r>
              <a:rPr lang="en" sz="3852">
                <a:solidFill>
                  <a:schemeClr val="dk1"/>
                </a:solidFill>
              </a:rPr>
              <a:t>clock synchronization, sundial is a hardware-software </a:t>
            </a:r>
            <a:br>
              <a:rPr lang="en" sz="3852">
                <a:solidFill>
                  <a:schemeClr val="dk1"/>
                </a:solidFill>
              </a:rPr>
            </a:br>
            <a:r>
              <a:rPr lang="en" sz="3852">
                <a:solidFill>
                  <a:schemeClr val="dk1"/>
                </a:solidFill>
              </a:rPr>
              <a:t>based solution.</a:t>
            </a:r>
            <a:endParaRPr sz="3852">
              <a:solidFill>
                <a:schemeClr val="dk1"/>
              </a:solidFill>
            </a:endParaRPr>
          </a:p>
          <a:p>
            <a:pPr indent="-30811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3852">
                <a:solidFill>
                  <a:schemeClr val="dk1"/>
                </a:solidFill>
              </a:rPr>
              <a:t>Sundia  is a submicrosecond-level clock synchronization </a:t>
            </a:r>
            <a:br>
              <a:rPr lang="en" sz="3852">
                <a:solidFill>
                  <a:schemeClr val="dk1"/>
                </a:solidFill>
              </a:rPr>
            </a:br>
            <a:r>
              <a:rPr lang="en" sz="3852">
                <a:solidFill>
                  <a:schemeClr val="dk1"/>
                </a:solidFill>
              </a:rPr>
              <a:t>system that is resilient to failures,  provides fast failure </a:t>
            </a:r>
            <a:br>
              <a:rPr lang="en" sz="3852">
                <a:solidFill>
                  <a:schemeClr val="dk1"/>
                </a:solidFill>
              </a:rPr>
            </a:br>
            <a:r>
              <a:rPr lang="en" sz="3852">
                <a:solidFill>
                  <a:schemeClr val="dk1"/>
                </a:solidFill>
              </a:rPr>
              <a:t>detection based on frequent synchronization messages in </a:t>
            </a:r>
            <a:br>
              <a:rPr lang="en" sz="3852">
                <a:solidFill>
                  <a:schemeClr val="dk1"/>
                </a:solidFill>
              </a:rPr>
            </a:br>
            <a:r>
              <a:rPr lang="en" sz="3852">
                <a:solidFill>
                  <a:schemeClr val="dk1"/>
                </a:solidFill>
              </a:rPr>
              <a:t>hardware. </a:t>
            </a:r>
            <a:endParaRPr sz="3852">
              <a:solidFill>
                <a:schemeClr val="dk1"/>
              </a:solidFill>
            </a:endParaRPr>
          </a:p>
          <a:p>
            <a:pPr indent="-30811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3852">
                <a:solidFill>
                  <a:schemeClr val="dk1"/>
                </a:solidFill>
              </a:rPr>
              <a:t>Sundial enables fast failure recovery using a novel graph </a:t>
            </a:r>
            <a:br>
              <a:rPr lang="en" sz="3852">
                <a:solidFill>
                  <a:schemeClr val="dk1"/>
                </a:solidFill>
              </a:rPr>
            </a:br>
            <a:r>
              <a:rPr lang="en" sz="3852">
                <a:solidFill>
                  <a:schemeClr val="dk1"/>
                </a:solidFill>
              </a:rPr>
              <a:t>based  algorithm to precompute a backup plan that is </a:t>
            </a:r>
            <a:br>
              <a:rPr lang="en" sz="3852">
                <a:solidFill>
                  <a:schemeClr val="dk1"/>
                </a:solidFill>
              </a:rPr>
            </a:br>
            <a:r>
              <a:rPr lang="en" sz="3852">
                <a:solidFill>
                  <a:schemeClr val="dk1"/>
                </a:solidFill>
              </a:rPr>
              <a:t>generic to failures. </a:t>
            </a:r>
            <a:endParaRPr sz="3852">
              <a:solidFill>
                <a:schemeClr val="dk1"/>
              </a:solidFill>
            </a:endParaRPr>
          </a:p>
          <a:p>
            <a:pPr indent="-30811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3852">
                <a:solidFill>
                  <a:schemeClr val="dk1"/>
                </a:solidFill>
              </a:rPr>
              <a:t>It uses hardware-software codesign to quickly detect </a:t>
            </a:r>
            <a:br>
              <a:rPr lang="en" sz="3852">
                <a:solidFill>
                  <a:schemeClr val="dk1"/>
                </a:solidFill>
              </a:rPr>
            </a:br>
            <a:r>
              <a:rPr lang="en" sz="3852">
                <a:solidFill>
                  <a:schemeClr val="dk1"/>
                </a:solidFill>
              </a:rPr>
              <a:t>failures and recover from them.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4800" u="sng">
                <a:solidFill>
                  <a:schemeClr val="hlink"/>
                </a:solidFill>
                <a:hlinkClick r:id="rId3"/>
              </a:rPr>
              <a:t>FRANCIS: Fast Reaction Algorithms for Network Coordination In Switches</a:t>
            </a:r>
            <a:r>
              <a:rPr lang="en" sz="4800">
                <a:solidFill>
                  <a:schemeClr val="dk1"/>
                </a:solidFill>
              </a:rPr>
              <a:t> - Claims that it quickly recovers from multiple failures, reduces the time uncertainty bound by up to 5x, and lowers the clock drift when compared to </a:t>
            </a:r>
            <a:r>
              <a:rPr lang="en" sz="4800">
                <a:solidFill>
                  <a:schemeClr val="dk1"/>
                </a:solidFill>
              </a:rPr>
              <a:t>sundial</a:t>
            </a:r>
            <a:r>
              <a:rPr lang="en" sz="4800">
                <a:solidFill>
                  <a:schemeClr val="dk1"/>
                </a:solidFill>
              </a:rPr>
              <a:t>. </a:t>
            </a:r>
            <a:endParaRPr sz="4800">
              <a:solidFill>
                <a:schemeClr val="dk1"/>
              </a:solidFill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0125" y="1152475"/>
            <a:ext cx="4086951" cy="22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464" y="0"/>
            <a:ext cx="436107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120"/>
              <a:t>Graham: Synchronizing Clocks by Leveraging Local Clock Properties</a:t>
            </a:r>
            <a:endParaRPr b="1" sz="2120"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Graham leverages the fact that the local clock still keeps time even when connectivity is lost and builds a failure model using the characteristics of the local clock and the desired synchronization accuracy.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Reduces the clock drift of a commodity server by up to 2000x, reducing the maximum assumed drift in most situations from 200ppm to 100ppb.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Graham </a:t>
            </a:r>
            <a:r>
              <a:rPr b="1" lang="en">
                <a:solidFill>
                  <a:schemeClr val="dk1"/>
                </a:solidFill>
              </a:rPr>
              <a:t>works in synergy with other synchronization mechanisms</a:t>
            </a:r>
            <a:r>
              <a:rPr lang="en">
                <a:solidFill>
                  <a:schemeClr val="dk1"/>
                </a:solidFill>
              </a:rPr>
              <a:t>, such as Huygens, PTP and FaRMv2 to maintain synchronization.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Establish “ground truth”, or the </a:t>
            </a:r>
            <a:r>
              <a:rPr b="1" lang="en">
                <a:solidFill>
                  <a:schemeClr val="dk1"/>
                </a:solidFill>
              </a:rPr>
              <a:t>temperature-clock error response curve</a:t>
            </a:r>
            <a:r>
              <a:rPr lang="en">
                <a:solidFill>
                  <a:schemeClr val="dk1"/>
                </a:solidFill>
              </a:rPr>
              <a:t>. If we can determine the clock error given a certain temperature, then we can correct the clock even in the absence of the accurate timing signal.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Communication-efficient Clock Synchronization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This paper is an enhancement to the HUYGENS clock synchronization. It claims to reduce the communication time between the master node and the server node.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