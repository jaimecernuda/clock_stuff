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89"/>
  </p:notesMasterIdLst>
  <p:sldIdLst>
    <p:sldId id="256" r:id="rId2"/>
    <p:sldId id="326" r:id="rId3"/>
    <p:sldId id="323" r:id="rId4"/>
    <p:sldId id="258" r:id="rId5"/>
    <p:sldId id="303" r:id="rId6"/>
    <p:sldId id="304" r:id="rId7"/>
    <p:sldId id="305" r:id="rId8"/>
    <p:sldId id="306" r:id="rId9"/>
    <p:sldId id="307" r:id="rId10"/>
    <p:sldId id="259" r:id="rId11"/>
    <p:sldId id="308" r:id="rId12"/>
    <p:sldId id="309" r:id="rId13"/>
    <p:sldId id="312" r:id="rId14"/>
    <p:sldId id="313" r:id="rId15"/>
    <p:sldId id="314" r:id="rId16"/>
    <p:sldId id="315" r:id="rId17"/>
    <p:sldId id="328" r:id="rId18"/>
    <p:sldId id="311" r:id="rId19"/>
    <p:sldId id="318" r:id="rId20"/>
    <p:sldId id="319" r:id="rId21"/>
    <p:sldId id="275" r:id="rId22"/>
    <p:sldId id="277" r:id="rId23"/>
    <p:sldId id="380" r:id="rId24"/>
    <p:sldId id="381" r:id="rId25"/>
    <p:sldId id="382" r:id="rId26"/>
    <p:sldId id="280" r:id="rId27"/>
    <p:sldId id="384" r:id="rId28"/>
    <p:sldId id="386" r:id="rId29"/>
    <p:sldId id="385" r:id="rId30"/>
    <p:sldId id="387" r:id="rId31"/>
    <p:sldId id="388" r:id="rId32"/>
    <p:sldId id="389" r:id="rId33"/>
    <p:sldId id="390" r:id="rId34"/>
    <p:sldId id="360" r:id="rId35"/>
    <p:sldId id="366" r:id="rId36"/>
    <p:sldId id="368" r:id="rId37"/>
    <p:sldId id="369" r:id="rId38"/>
    <p:sldId id="282" r:id="rId39"/>
    <p:sldId id="283" r:id="rId40"/>
    <p:sldId id="365" r:id="rId41"/>
    <p:sldId id="329" r:id="rId42"/>
    <p:sldId id="331" r:id="rId43"/>
    <p:sldId id="284" r:id="rId44"/>
    <p:sldId id="300" r:id="rId45"/>
    <p:sldId id="301" r:id="rId46"/>
    <p:sldId id="340" r:id="rId47"/>
    <p:sldId id="346" r:id="rId48"/>
    <p:sldId id="345" r:id="rId49"/>
    <p:sldId id="347" r:id="rId50"/>
    <p:sldId id="348" r:id="rId51"/>
    <p:sldId id="349" r:id="rId52"/>
    <p:sldId id="350" r:id="rId53"/>
    <p:sldId id="370" r:id="rId54"/>
    <p:sldId id="371" r:id="rId55"/>
    <p:sldId id="342" r:id="rId56"/>
    <p:sldId id="373" r:id="rId57"/>
    <p:sldId id="372" r:id="rId58"/>
    <p:sldId id="374" r:id="rId59"/>
    <p:sldId id="375" r:id="rId60"/>
    <p:sldId id="376" r:id="rId61"/>
    <p:sldId id="377" r:id="rId62"/>
    <p:sldId id="378" r:id="rId63"/>
    <p:sldId id="292" r:id="rId64"/>
    <p:sldId id="362" r:id="rId65"/>
    <p:sldId id="293" r:id="rId66"/>
    <p:sldId id="294" r:id="rId67"/>
    <p:sldId id="364" r:id="rId68"/>
    <p:sldId id="296" r:id="rId69"/>
    <p:sldId id="295" r:id="rId70"/>
    <p:sldId id="297" r:id="rId71"/>
    <p:sldId id="298" r:id="rId72"/>
    <p:sldId id="299" r:id="rId73"/>
    <p:sldId id="351" r:id="rId74"/>
    <p:sldId id="352" r:id="rId75"/>
    <p:sldId id="354" r:id="rId76"/>
    <p:sldId id="355" r:id="rId77"/>
    <p:sldId id="356" r:id="rId78"/>
    <p:sldId id="391" r:id="rId79"/>
    <p:sldId id="392" r:id="rId80"/>
    <p:sldId id="393" r:id="rId81"/>
    <p:sldId id="357" r:id="rId82"/>
    <p:sldId id="359" r:id="rId83"/>
    <p:sldId id="394" r:id="rId84"/>
    <p:sldId id="396" r:id="rId85"/>
    <p:sldId id="358" r:id="rId86"/>
    <p:sldId id="361" r:id="rId87"/>
    <p:sldId id="395" r:id="rId8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82"/>
    <p:restoredTop sz="92496"/>
  </p:normalViewPr>
  <p:slideViewPr>
    <p:cSldViewPr snapToGrid="0">
      <p:cViewPr varScale="1">
        <p:scale>
          <a:sx n="97" d="100"/>
          <a:sy n="97" d="100"/>
        </p:scale>
        <p:origin x="208" y="568"/>
      </p:cViewPr>
      <p:guideLst>
        <p:guide orient="horz" pos="1620"/>
        <p:guide pos="2880"/>
      </p:guideLst>
    </p:cSldViewPr>
  </p:slideViewPr>
  <p:outlineViewPr>
    <p:cViewPr>
      <p:scale>
        <a:sx n="33" d="100"/>
        <a:sy n="33" d="100"/>
      </p:scale>
      <p:origin x="0" y="-11888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The 1 PPS(pulse per second) signal frequency is 1Hz, which is used to indicate the whole second</a:t>
            </a:r>
            <a:endParaRPr lang="en-US" dirty="0"/>
          </a:p>
        </p:txBody>
      </p:sp>
    </p:spTree>
    <p:extLst>
      <p:ext uri="{BB962C8B-B14F-4D97-AF65-F5344CB8AC3E}">
        <p14:creationId xmlns:p14="http://schemas.microsoft.com/office/powerpoint/2010/main" val="1135073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e5060b48d8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e5060b48d8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e5060b48d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e5060b48d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PTP employs a two-way time transfer mechanism, where both the master and slave exchange timing messages (Sync, </a:t>
            </a:r>
            <a:r>
              <a:rPr lang="en" dirty="0" err="1"/>
              <a:t>Delay_Req</a:t>
            </a:r>
            <a:r>
              <a:rPr lang="en" dirty="0"/>
              <a:t>, </a:t>
            </a:r>
            <a:r>
              <a:rPr lang="en" dirty="0" err="1"/>
              <a:t>Delay_Resp</a:t>
            </a:r>
            <a:r>
              <a:rPr lang="en" dirty="0"/>
              <a:t>, and </a:t>
            </a:r>
            <a:r>
              <a:rPr lang="en" dirty="0" err="1"/>
              <a:t>Follow_Up</a:t>
            </a:r>
            <a:r>
              <a:rPr lang="en" dirty="0"/>
              <a:t>) to measure the propagation delay and determine the clock offset.</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examples in internal synchronization does not need true time. </a:t>
            </a:r>
          </a:p>
        </p:txBody>
      </p:sp>
    </p:spTree>
    <p:extLst>
      <p:ext uri="{BB962C8B-B14F-4D97-AF65-F5344CB8AC3E}">
        <p14:creationId xmlns:p14="http://schemas.microsoft.com/office/powerpoint/2010/main" val="3924604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chemeClr val="dk1"/>
                </a:solidFill>
              </a:rPr>
              <a:t>Directly evaluated on the Huawei Sound X smart speaker product using Huygens algorithm as the baseline for comparison.</a:t>
            </a:r>
          </a:p>
          <a:p>
            <a:endParaRPr lang="en-US" dirty="0"/>
          </a:p>
        </p:txBody>
      </p:sp>
    </p:spTree>
    <p:extLst>
      <p:ext uri="{BB962C8B-B14F-4D97-AF65-F5344CB8AC3E}">
        <p14:creationId xmlns:p14="http://schemas.microsoft.com/office/powerpoint/2010/main" val="8355055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System-synthetic experiment results, Comparison with Baseline Huygens without the SSA steps</a:t>
            </a:r>
          </a:p>
          <a:p>
            <a:endParaRPr lang="en-US" dirty="0"/>
          </a:p>
        </p:txBody>
      </p:sp>
    </p:spTree>
    <p:extLst>
      <p:ext uri="{BB962C8B-B14F-4D97-AF65-F5344CB8AC3E}">
        <p14:creationId xmlns:p14="http://schemas.microsoft.com/office/powerpoint/2010/main" val="3051555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571500" lvl="1" indent="0">
              <a:buNone/>
            </a:pPr>
            <a:r>
              <a:rPr lang="en-IN" dirty="0"/>
              <a:t>1 hop: Direct connection between two servers</a:t>
            </a:r>
          </a:p>
          <a:p>
            <a:pPr marL="596900" lvl="1" indent="0">
              <a:buNone/>
            </a:pPr>
            <a:r>
              <a:rPr lang="en-IN" dirty="0"/>
              <a:t>5 hops: Path through multiple switches</a:t>
            </a:r>
          </a:p>
          <a:p>
            <a:endParaRPr lang="en-US" dirty="0"/>
          </a:p>
        </p:txBody>
      </p:sp>
    </p:spTree>
    <p:extLst>
      <p:ext uri="{BB962C8B-B14F-4D97-AF65-F5344CB8AC3E}">
        <p14:creationId xmlns:p14="http://schemas.microsoft.com/office/powerpoint/2010/main" val="3362816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571500" lvl="1" indent="0">
              <a:buNone/>
            </a:pPr>
            <a:r>
              <a:rPr lang="en-IN" dirty="0"/>
              <a:t>1 hop: Direct connection between two servers</a:t>
            </a:r>
          </a:p>
          <a:p>
            <a:pPr marL="596900" lvl="1" indent="0">
              <a:buNone/>
            </a:pPr>
            <a:r>
              <a:rPr lang="en-IN" dirty="0"/>
              <a:t>5 hops: Path through multiple switches</a:t>
            </a:r>
          </a:p>
          <a:p>
            <a:endParaRPr lang="en-US" dirty="0"/>
          </a:p>
        </p:txBody>
      </p:sp>
    </p:spTree>
    <p:extLst>
      <p:ext uri="{BB962C8B-B14F-4D97-AF65-F5344CB8AC3E}">
        <p14:creationId xmlns:p14="http://schemas.microsoft.com/office/powerpoint/2010/main" val="1298144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JaimeCernuda/clock_stuff/tree/internal/research-paper-notes/clock-synchronizatio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ps.gov/applications/timin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ieeexplore.ieee.org/document/103043"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ieeexplore.ieee.org/document/103043"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document/103043"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ieeexplore.ieee.org/document/103043"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s://ieeexplore.ieee.org/document/4579760/"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ieeexplore.ieee.org/document/4579760"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ieeexplore.ieee.org/document/4579760"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ieeexplore.ieee.org/stamp/stamp.jsp?tp=&amp;arnumber=8734740"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ieeexplore.ieee.org/document/8734740"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ieeexplore.ieee.org/document/8734740"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ieeexplore.ieee.org/document/8734740"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ieeexplore.ieee.org/document/8734740"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eeexplore.ieee.org/document/8734740"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ieeexplore.ieee.org/document/8734740"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ieeexplore.ieee.org/document/8734740"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eeexplore.ieee.org/document/8734740"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hyperlink" Target="https://ieeexplore.ieee.org/document/8734740" TargetMode="External"/></Relationships>
</file>

<file path=ppt/slides/_rels/slide21.xml.rels><?xml version="1.0" encoding="UTF-8" standalone="yes"?>
<Relationships xmlns="http://schemas.openxmlformats.org/package/2006/relationships"><Relationship Id="rId2" Type="http://schemas.openxmlformats.org/officeDocument/2006/relationships/hyperlink" Target="https://www.usenix.org/system/files/conference/nsdi18/nsdi18-geng.pdf"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usenix.org/system/files/conference/nsdi18/nsdi18-geng.pdf"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www.usenix.org/system/files/conference/nsdi18/nsdi18-geng.pdf"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usenix.org/system/files/conference/nsdi18/nsdi18-geng.pdf"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usenix.org/system/files/conference/nsdi18/nsdi18-geng.pdf"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usenix.org/system/files/conference/nsdi18/nsdi18-geng.pdf"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usenix.org/system/files/conference/nsdi18/nsdi18-geng.pdf"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usenix.org/system/files/conference/nsdi18/nsdi18-geng.pdf"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usenix.org/system/files/conference/nsdi18/nsdi18-geng.pdf"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usenix.org/system/files/conference/nsdi18/nsdi18-geng.pdf"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usenix.org/system/files/conference/nsdi18/nsdi18-geng.pdf" TargetMode="External"/><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usenix.org/system/files/conference/nsdi18/nsdi18-geng.pdf"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usenix.org/system/files/conference/nsdi18/nsdi18-geng.pdf"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ieeexplore.ieee.org/document/9984784"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ieeexplore.ieee.org/document/9838677"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ieeexplore.ieee.org/document/9838677"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ieeexplore.ieee.org/document/9838677"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ieeexplore.ieee.org/document/10042489"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ieeexplore.ieee.org/document/9838677" TargetMode="External"/><Relationship Id="rId2" Type="http://schemas.openxmlformats.org/officeDocument/2006/relationships/hyperlink" Target="https://ieeexplore.ieee.org/document/10042489"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hyperlink" Target="https://ieeexplore.ieee.org/document/9838677" TargetMode="External"/><Relationship Id="rId4" Type="http://schemas.openxmlformats.org/officeDocument/2006/relationships/hyperlink" Target="https://ieeexplore.ieee.org/document/10042489"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ieeexplore.ieee.org/document/10042489" TargetMode="Externa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hyperlink" Target="https://ieeexplore.ieee.org/document/9838677"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ieeexplore.ieee.org/document/10042489" TargetMode="External"/><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hyperlink" Target="https://ieeexplore.ieee.org/document/9838677"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hyperlink" Target="https://ieeexplore.ieee.org/document/9838677" TargetMode="External"/><Relationship Id="rId4" Type="http://schemas.openxmlformats.org/officeDocument/2006/relationships/hyperlink" Target="https://ieeexplore.ieee.org/document/10042489"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hyperlink" Target="https://ieeexplore.ieee.org/document/9838677" TargetMode="External"/><Relationship Id="rId5" Type="http://schemas.openxmlformats.org/officeDocument/2006/relationships/hyperlink" Target="https://ieeexplore.ieee.org/document/10042489" TargetMode="External"/><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hyperlink" Target="https://ieeexplore.ieee.org/document/9838677"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hyperlink" Target="https://ieeexplore.ieee.org/document/10042489" TargetMode="External"/><Relationship Id="rId5" Type="http://schemas.openxmlformats.org/officeDocument/2006/relationships/image" Target="../media/image31.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2" Type="http://schemas.openxmlformats.org/officeDocument/2006/relationships/hyperlink" Target="https://www.usenix.org/system/files/nsdi22-paper-najafi_1.pdf"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usenix.org/system/files/nsdi22-paper-najafi_1.pdf" TargetMode="Externa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hyperlink" Target="https://www.usenix.org/system/files/nsdi22-paper-najafi_1.pdf"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usenix.org/system/files/nsdi22-paper-najafi_1.pdf" TargetMode="Externa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usenix.org/system/files/nsdi22-paper-najafi_1.pdf" TargetMode="Externa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www.usenix.org/system/files/nsdi22-paper-najafi_1.pdf" TargetMode="Externa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www.usenix.org/system/files/nsdi22-paper-najafi_1.pdf" TargetMode="External"/><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hyperlink" Target="https://www.usenix.org/system/files/nsdi22-paper-najafi_1.pdf"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hyperlink" Target="https://www.usenix.org/system/files/nsdi22-paper-najafi_1.pdf" TargetMode="External"/></Relationships>
</file>

<file path=ppt/slides/_rels/slide55.xml.rels><?xml version="1.0" encoding="UTF-8" standalone="yes"?>
<Relationships xmlns="http://schemas.openxmlformats.org/package/2006/relationships"><Relationship Id="rId2" Type="http://schemas.openxmlformats.org/officeDocument/2006/relationships/hyperlink" Target="https://www.usenix.org/system/files/nsdi22-paper-najafi_1.pdf" TargetMode="Externa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hyperlink" Target="https://www.usenix.org/system/files/nsdi22-paper-najafi_1.pdf" TargetMode="Externa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 Id="rId4" Type="http://schemas.openxmlformats.org/officeDocument/2006/relationships/hyperlink" Target="https://www.usenix.org/system/files/nsdi22-paper-najafi_1.pdf"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 Id="rId4" Type="http://schemas.openxmlformats.org/officeDocument/2006/relationships/hyperlink" Target="https://www.usenix.org/system/files/nsdi22-paper-najafi_1.pdf"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 Id="rId4" Type="http://schemas.openxmlformats.org/officeDocument/2006/relationships/hyperlink" Target="https://www.usenix.org/system/files/nsdi22-paper-najafi_1.pdf"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www.usenix.org/system/files/nsdi22-paper-najafi_1.pdf" TargetMode="External"/><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hyperlink" Target="https://www.usenix.org/system/files/nsdi22-paper-najafi_1.pdf" TargetMode="External"/><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hyperlink" Target="https://www.usenix.org/system/files/nsdi22-paper-najafi_1.pdf" TargetMode="Externa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ieeexplore.ieee.org/document/9789846"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s://ieeexplore.ieee.org/document/9789846"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ieeexplore.ieee.org/document/9789846" TargetMode="External"/><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 Id="rId4" Type="http://schemas.openxmlformats.org/officeDocument/2006/relationships/hyperlink" Target="https://ieeexplore.ieee.org/document/9789846"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https://ieeexplore.ieee.org/document/9789846" TargetMode="External"/><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hyperlink" Target="https://ieeexplore.ieee.org/document/9789846"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hyperlink" Target="https://ieeexplore.ieee.org/document/9789846" TargetMode="External"/></Relationships>
</file>

<file path=ppt/slides/_rels/slide70.xml.rels><?xml version="1.0" encoding="UTF-8" standalone="yes"?>
<Relationships xmlns="http://schemas.openxmlformats.org/package/2006/relationships"><Relationship Id="rId8" Type="http://schemas.openxmlformats.org/officeDocument/2006/relationships/hyperlink" Target="https://ieeexplore.ieee.org/document/9789846" TargetMode="External"/><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71.xml.rels><?xml version="1.0" encoding="UTF-8" standalone="yes"?>
<Relationships xmlns="http://schemas.openxmlformats.org/package/2006/relationships"><Relationship Id="rId8" Type="http://schemas.openxmlformats.org/officeDocument/2006/relationships/hyperlink" Target="https://ieeexplore.ieee.org/document/9789846" TargetMode="External"/><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7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hyperlink" Target="https://ieeexplore.ieee.org/document/9789846" TargetMode="External"/><Relationship Id="rId4" Type="http://schemas.openxmlformats.org/officeDocument/2006/relationships/image" Target="../media/image65.png"/></Relationships>
</file>

<file path=ppt/slides/_rels/slide73.xml.rels><?xml version="1.0" encoding="UTF-8" standalone="yes"?>
<Relationships xmlns="http://schemas.openxmlformats.org/package/2006/relationships"><Relationship Id="rId2" Type="http://schemas.openxmlformats.org/officeDocument/2006/relationships/hyperlink" Target="https://www.usenix.org/system/files/osdi20-li_yuliang.pdf"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ieeexplore.ieee.org/document/9789846" TargetMode="External"/><Relationship Id="rId2" Type="http://schemas.openxmlformats.org/officeDocument/2006/relationships/hyperlink" Target="https://www.usenix.org/system/files/osdi20-li_yuliang.pdf"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www.usenix.org/system/files/osdi20-li_yuliang.pdf" TargetMode="External"/><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hyperlink" Target="https://ieeexplore.ieee.org/document/9789846" TargetMode="External"/></Relationships>
</file>

<file path=ppt/slides/_rels/slide76.xml.rels><?xml version="1.0" encoding="UTF-8" standalone="yes"?>
<Relationships xmlns="http://schemas.openxmlformats.org/package/2006/relationships"><Relationship Id="rId3" Type="http://schemas.openxmlformats.org/officeDocument/2006/relationships/hyperlink" Target="https://www.usenix.org/system/files/osdi20-li_yuliang.pdf" TargetMode="External"/><Relationship Id="rId2" Type="http://schemas.openxmlformats.org/officeDocument/2006/relationships/image" Target="../media/image67.png"/><Relationship Id="rId1" Type="http://schemas.openxmlformats.org/officeDocument/2006/relationships/slideLayout" Target="../slideLayouts/slideLayout5.xml"/><Relationship Id="rId4" Type="http://schemas.openxmlformats.org/officeDocument/2006/relationships/hyperlink" Target="https://ieeexplore.ieee.org/document/9789846" TargetMode="External"/></Relationships>
</file>

<file path=ppt/slides/_rels/slide77.xml.rels><?xml version="1.0" encoding="UTF-8" standalone="yes"?>
<Relationships xmlns="http://schemas.openxmlformats.org/package/2006/relationships"><Relationship Id="rId3" Type="http://schemas.openxmlformats.org/officeDocument/2006/relationships/hyperlink" Target="https://www.usenix.org/system/files/osdi20-li_yuliang.pdf" TargetMode="External"/><Relationship Id="rId2" Type="http://schemas.openxmlformats.org/officeDocument/2006/relationships/image" Target="../media/image68.png"/><Relationship Id="rId1" Type="http://schemas.openxmlformats.org/officeDocument/2006/relationships/slideLayout" Target="../slideLayouts/slideLayout5.xml"/><Relationship Id="rId4" Type="http://schemas.openxmlformats.org/officeDocument/2006/relationships/hyperlink" Target="https://ieeexplore.ieee.org/document/9789846" TargetMode="External"/></Relationships>
</file>

<file path=ppt/slides/_rels/slide78.xml.rels><?xml version="1.0" encoding="UTF-8" standalone="yes"?>
<Relationships xmlns="http://schemas.openxmlformats.org/package/2006/relationships"><Relationship Id="rId3" Type="http://schemas.openxmlformats.org/officeDocument/2006/relationships/hyperlink" Target="https://ieeexplore.ieee.org/document/9789846" TargetMode="External"/><Relationship Id="rId2" Type="http://schemas.openxmlformats.org/officeDocument/2006/relationships/hyperlink" Target="https://www.usenix.org/system/files/osdi20-li_yuliang.pdf"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www.usenix.org/system/files/osdi20-li_yuliang.pdf" TargetMode="External"/><Relationship Id="rId2" Type="http://schemas.openxmlformats.org/officeDocument/2006/relationships/image" Target="../media/image69.png"/><Relationship Id="rId1" Type="http://schemas.openxmlformats.org/officeDocument/2006/relationships/slideLayout" Target="../slideLayouts/slideLayout5.xml"/><Relationship Id="rId4" Type="http://schemas.openxmlformats.org/officeDocument/2006/relationships/hyperlink" Target="https://ieeexplore.ieee.org/document/9789846" TargetMode="External"/></Relationships>
</file>

<file path=ppt/slides/_rels/slide80.xml.rels><?xml version="1.0" encoding="UTF-8" standalone="yes"?>
<Relationships xmlns="http://schemas.openxmlformats.org/package/2006/relationships"><Relationship Id="rId3" Type="http://schemas.openxmlformats.org/officeDocument/2006/relationships/hyperlink" Target="https://www.usenix.org/system/files/osdi20-li_yuliang.pdf" TargetMode="External"/><Relationship Id="rId2" Type="http://schemas.openxmlformats.org/officeDocument/2006/relationships/image" Target="../media/image70.png"/><Relationship Id="rId1" Type="http://schemas.openxmlformats.org/officeDocument/2006/relationships/slideLayout" Target="../slideLayouts/slideLayout3.xml"/><Relationship Id="rId4" Type="http://schemas.openxmlformats.org/officeDocument/2006/relationships/hyperlink" Target="https://ieeexplore.ieee.org/document/9789846" TargetMode="External"/></Relationships>
</file>

<file path=ppt/slides/_rels/slide81.xml.rels><?xml version="1.0" encoding="UTF-8" standalone="yes"?>
<Relationships xmlns="http://schemas.openxmlformats.org/package/2006/relationships"><Relationship Id="rId3" Type="http://schemas.openxmlformats.org/officeDocument/2006/relationships/hyperlink" Target="https://www.usenix.org/system/files/osdi20-li_yuliang.pdf" TargetMode="External"/><Relationship Id="rId2" Type="http://schemas.openxmlformats.org/officeDocument/2006/relationships/image" Target="../media/image71.png"/><Relationship Id="rId1" Type="http://schemas.openxmlformats.org/officeDocument/2006/relationships/slideLayout" Target="../slideLayouts/slideLayout3.xml"/><Relationship Id="rId4" Type="http://schemas.openxmlformats.org/officeDocument/2006/relationships/hyperlink" Target="https://ieeexplore.ieee.org/document/9789846" TargetMode="External"/></Relationships>
</file>

<file path=ppt/slides/_rels/slide82.xml.rels><?xml version="1.0" encoding="UTF-8" standalone="yes"?>
<Relationships xmlns="http://schemas.openxmlformats.org/package/2006/relationships"><Relationship Id="rId3" Type="http://schemas.openxmlformats.org/officeDocument/2006/relationships/hyperlink" Target="https://ieeexplore.ieee.org/document/9789846" TargetMode="External"/><Relationship Id="rId2" Type="http://schemas.openxmlformats.org/officeDocument/2006/relationships/hyperlink" Target="https://www.usenix.org/system/files/osdi20-li_yuliang.pdf" TargetMode="Externa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83.xml.rels><?xml version="1.0" encoding="UTF-8" standalone="yes"?>
<Relationships xmlns="http://schemas.openxmlformats.org/package/2006/relationships"><Relationship Id="rId3" Type="http://schemas.openxmlformats.org/officeDocument/2006/relationships/hyperlink" Target="https://www.usenix.org/system/files/osdi20-li_yuliang.pdf" TargetMode="External"/><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hyperlink" Target="https://ieeexplore.ieee.org/document/9789846" TargetMode="External"/></Relationships>
</file>

<file path=ppt/slides/_rels/slide84.xml.rels><?xml version="1.0" encoding="UTF-8" standalone="yes"?>
<Relationships xmlns="http://schemas.openxmlformats.org/package/2006/relationships"><Relationship Id="rId3" Type="http://schemas.openxmlformats.org/officeDocument/2006/relationships/hyperlink" Target="https://www.usenix.org/system/files/osdi20-li_yuliang.pdf" TargetMode="External"/><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hyperlink" Target="https://ieeexplore.ieee.org/document/9789846"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s://www.usenix.org/system/files/osdi20-li_yuliang.pdf" TargetMode="External"/><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hyperlink" Target="https://ieeexplore.ieee.org/document/9789846" TargetMode="External"/></Relationships>
</file>

<file path=ppt/slides/_rels/slide86.xml.rels><?xml version="1.0" encoding="UTF-8" standalone="yes"?>
<Relationships xmlns="http://schemas.openxmlformats.org/package/2006/relationships"><Relationship Id="rId2" Type="http://schemas.openxmlformats.org/officeDocument/2006/relationships/hyperlink" Target="https://arxiv.org/pdf/2204.14138"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github.com/EmekaGdswill/Distributed-DNN-aided-time-synchronization" TargetMode="External"/><Relationship Id="rId2" Type="http://schemas.openxmlformats.org/officeDocument/2006/relationships/hyperlink" Target="https://github.com/EmekaGdswill/Distributed-DNN-aided-time-synchronization#:~:text=%22Deep%20Learning%20Aided%20Distributed%20Clock%20Synchronization%20for%20Wireless%20Networks%2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 name="Text Placeholder 1">
            <a:extLst>
              <a:ext uri="{FF2B5EF4-FFF2-40B4-BE49-F238E27FC236}">
                <a16:creationId xmlns:a16="http://schemas.microsoft.com/office/drawing/2014/main" id="{8CD9D3A9-956D-B2B2-1962-3BA00F62CE51}"/>
              </a:ext>
            </a:extLst>
          </p:cNvPr>
          <p:cNvSpPr>
            <a:spLocks noGrp="1"/>
          </p:cNvSpPr>
          <p:nvPr>
            <p:ph type="body" idx="1"/>
          </p:nvPr>
        </p:nvSpPr>
        <p:spPr>
          <a:xfrm>
            <a:off x="4572000" y="3793862"/>
            <a:ext cx="5998800" cy="605100"/>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By,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Vaishnavi </a:t>
            </a:r>
            <a:r>
              <a:rPr lang="en-US" dirty="0" err="1">
                <a:latin typeface="Times New Roman" panose="02020603050405020304" pitchFamily="18" charset="0"/>
                <a:cs typeface="Times New Roman" panose="02020603050405020304" pitchFamily="18" charset="0"/>
              </a:rPr>
              <a:t>Papudesi</a:t>
            </a:r>
            <a:r>
              <a:rPr lang="en-US" dirty="0">
                <a:latin typeface="Times New Roman" panose="02020603050405020304" pitchFamily="18" charset="0"/>
                <a:cs typeface="Times New Roman" panose="02020603050405020304" pitchFamily="18" charset="0"/>
              </a:rPr>
              <a:t> Babu</a:t>
            </a:r>
          </a:p>
        </p:txBody>
      </p:sp>
      <p:sp>
        <p:nvSpPr>
          <p:cNvPr id="54" name="Google Shape;54;p13"/>
          <p:cNvSpPr txBox="1">
            <a:spLocks noGrp="1"/>
          </p:cNvSpPr>
          <p:nvPr>
            <p:ph type="ctrTitle" idx="4294967295"/>
          </p:nvPr>
        </p:nvSpPr>
        <p:spPr>
          <a:xfrm>
            <a:off x="0" y="744538"/>
            <a:ext cx="8521700" cy="2052637"/>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Clock Synchronization </a:t>
            </a:r>
            <a:br>
              <a:rPr lang="en" dirty="0">
                <a:latin typeface="Times New Roman" panose="02020603050405020304" pitchFamily="18" charset="0"/>
                <a:cs typeface="Times New Roman" panose="02020603050405020304" pitchFamily="18" charset="0"/>
              </a:rPr>
            </a:br>
            <a:r>
              <a:rPr lang="en" sz="2500" dirty="0">
                <a:latin typeface="Times New Roman" panose="02020603050405020304" pitchFamily="18" charset="0"/>
                <a:cs typeface="Times New Roman" panose="02020603050405020304" pitchFamily="18" charset="0"/>
              </a:rPr>
              <a:t>State of Art</a:t>
            </a:r>
            <a:endParaRPr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52C02-621F-A6AB-7810-B67126184C97}"/>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Summary</a:t>
            </a:r>
          </a:p>
        </p:txBody>
      </p:sp>
      <p:sp>
        <p:nvSpPr>
          <p:cNvPr id="3" name="Text Placeholder 2">
            <a:extLst>
              <a:ext uri="{FF2B5EF4-FFF2-40B4-BE49-F238E27FC236}">
                <a16:creationId xmlns:a16="http://schemas.microsoft.com/office/drawing/2014/main" id="{CFF05762-80C2-075D-6509-2232BC03A341}"/>
              </a:ext>
            </a:extLst>
          </p:cNvPr>
          <p:cNvSpPr>
            <a:spLocks noGrp="1"/>
          </p:cNvSpPr>
          <p:nvPr>
            <p:ph type="body" idx="1"/>
          </p:nvPr>
        </p:nvSpPr>
        <p:spPr/>
        <p:txBody>
          <a:bodyPr>
            <a:normAutofit/>
          </a:bodyPr>
          <a:lstStyle/>
          <a:p>
            <a:pPr marL="114300" indent="0">
              <a:buNone/>
            </a:pPr>
            <a:r>
              <a:rPr lang="en-US" b="1" dirty="0">
                <a:solidFill>
                  <a:schemeClr val="tx1"/>
                </a:solidFill>
                <a:latin typeface="Times New Roman" panose="02020603050405020304" pitchFamily="18" charset="0"/>
                <a:cs typeface="Times New Roman" panose="02020603050405020304" pitchFamily="18" charset="0"/>
              </a:rPr>
              <a:t>Base paper: </a:t>
            </a:r>
            <a:r>
              <a:rPr lang="en-US" dirty="0">
                <a:solidFill>
                  <a:schemeClr val="tx1"/>
                </a:solidFill>
                <a:latin typeface="Times New Roman" panose="02020603050405020304" pitchFamily="18" charset="0"/>
                <a:cs typeface="Times New Roman" panose="02020603050405020304" pitchFamily="18" charset="0"/>
              </a:rPr>
              <a:t>HUYGENS - </a:t>
            </a:r>
            <a:r>
              <a:rPr lang="en-IN" dirty="0">
                <a:solidFill>
                  <a:schemeClr val="tx1"/>
                </a:solidFill>
                <a:latin typeface="Times New Roman" panose="02020603050405020304" pitchFamily="18" charset="0"/>
                <a:cs typeface="Times New Roman" panose="02020603050405020304" pitchFamily="18" charset="0"/>
              </a:rPr>
              <a:t>Exploiting a Natural Network Effect for Scalable, Fine-grained Clock Synchronization</a:t>
            </a:r>
          </a:p>
          <a:p>
            <a:pPr marL="114300" indent="0">
              <a:buNone/>
            </a:pPr>
            <a:endParaRPr lang="en-IN"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b="1" dirty="0">
                <a:solidFill>
                  <a:schemeClr val="tx1"/>
                </a:solidFill>
                <a:latin typeface="Times New Roman" panose="02020603050405020304" pitchFamily="18" charset="0"/>
                <a:cs typeface="Times New Roman" panose="02020603050405020304" pitchFamily="18" charset="0"/>
              </a:rPr>
              <a:t>Total papers read: </a:t>
            </a:r>
            <a:r>
              <a:rPr lang="en-IN" dirty="0">
                <a:solidFill>
                  <a:schemeClr val="tx1"/>
                </a:solidFill>
                <a:latin typeface="Times New Roman" panose="02020603050405020304" pitchFamily="18" charset="0"/>
                <a:cs typeface="Times New Roman" panose="02020603050405020304" pitchFamily="18" charset="0"/>
              </a:rPr>
              <a:t>58</a:t>
            </a:r>
          </a:p>
          <a:p>
            <a:pPr marL="114300" indent="0">
              <a:buNone/>
            </a:pPr>
            <a:r>
              <a:rPr lang="en-US" b="1" dirty="0">
                <a:solidFill>
                  <a:schemeClr val="tx1"/>
                </a:solidFill>
                <a:latin typeface="Times New Roman" panose="02020603050405020304" pitchFamily="18" charset="0"/>
                <a:cs typeface="Times New Roman" panose="02020603050405020304" pitchFamily="18" charset="0"/>
              </a:rPr>
              <a:t>Found Relative: </a:t>
            </a:r>
            <a:r>
              <a:rPr lang="en-US" dirty="0">
                <a:solidFill>
                  <a:schemeClr val="tx1"/>
                </a:solidFill>
                <a:latin typeface="Times New Roman" panose="02020603050405020304" pitchFamily="18" charset="0"/>
                <a:cs typeface="Times New Roman" panose="02020603050405020304" pitchFamily="18" charset="0"/>
              </a:rPr>
              <a:t>16</a:t>
            </a:r>
          </a:p>
          <a:p>
            <a:pPr marL="114300" indent="0">
              <a:buNone/>
            </a:pPr>
            <a:r>
              <a:rPr lang="en-US" b="1" dirty="0">
                <a:solidFill>
                  <a:schemeClr val="tx1"/>
                </a:solidFill>
                <a:latin typeface="Times New Roman" panose="02020603050405020304" pitchFamily="18" charset="0"/>
                <a:cs typeface="Times New Roman" panose="02020603050405020304" pitchFamily="18" charset="0"/>
              </a:rPr>
              <a:t>PPT: </a:t>
            </a:r>
            <a:r>
              <a:rPr lang="en-US" dirty="0">
                <a:solidFill>
                  <a:schemeClr val="tx1"/>
                </a:solidFill>
                <a:latin typeface="Times New Roman" panose="02020603050405020304" pitchFamily="18" charset="0"/>
                <a:cs typeface="Times New Roman" panose="02020603050405020304" pitchFamily="18" charset="0"/>
              </a:rPr>
              <a:t>10</a:t>
            </a:r>
          </a:p>
          <a:p>
            <a:pPr marL="114300" indent="0">
              <a:buNone/>
            </a:pPr>
            <a:r>
              <a:rPr lang="en-US" b="1" dirty="0">
                <a:solidFill>
                  <a:schemeClr val="tx1"/>
                </a:solidFill>
                <a:latin typeface="Times New Roman" panose="02020603050405020304" pitchFamily="18" charset="0"/>
                <a:cs typeface="Times New Roman" panose="02020603050405020304" pitchFamily="18" charset="0"/>
              </a:rPr>
              <a:t>Others: </a:t>
            </a:r>
            <a:r>
              <a:rPr lang="en-US"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Github Notes</a:t>
            </a:r>
            <a:r>
              <a:rPr lang="en-US"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57717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99014-D59D-F944-D4D4-6362BE1080A6}"/>
              </a:ext>
            </a:extLst>
          </p:cNvPr>
          <p:cNvSpPr>
            <a:spLocks noGrp="1"/>
          </p:cNvSpPr>
          <p:nvPr>
            <p:ph type="title"/>
          </p:nvPr>
        </p:nvSpPr>
        <p:spPr/>
        <p:txBody>
          <a:bodyPr>
            <a:normAutofit fontScale="90000"/>
          </a:bodyPr>
          <a:lstStyle/>
          <a:p>
            <a:r>
              <a:rPr lang="en-IN" sz="2800" dirty="0">
                <a:latin typeface="Times New Roman" panose="02020603050405020304" pitchFamily="18" charset="0"/>
                <a:cs typeface="Times New Roman" panose="02020603050405020304" pitchFamily="18" charset="0"/>
                <a:hlinkClick r:id="rId3"/>
              </a:rPr>
              <a:t>Global Positioning System(GPS)</a:t>
            </a:r>
            <a:r>
              <a:rPr lang="en-US" dirty="0">
                <a:hlinkClick r:id="rId3"/>
              </a:rPr>
              <a:t> </a:t>
            </a:r>
            <a:r>
              <a:rPr lang="en-US" dirty="0"/>
              <a:t> </a:t>
            </a:r>
            <a:r>
              <a:rPr lang="en-US" sz="1000" dirty="0">
                <a:latin typeface="Times New Roman" panose="02020603050405020304" pitchFamily="18" charset="0"/>
                <a:cs typeface="Times New Roman" panose="02020603050405020304" pitchFamily="18" charset="0"/>
              </a:rPr>
              <a:t>First launched: 1978</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9C97BB2-B048-AFE7-D253-72F779CA35B8}"/>
              </a:ext>
            </a:extLst>
          </p:cNvPr>
          <p:cNvSpPr>
            <a:spLocks noGrp="1"/>
          </p:cNvSpPr>
          <p:nvPr>
            <p:ph type="body" idx="1"/>
          </p:nvPr>
        </p:nvSpPr>
        <p:spPr>
          <a:xfrm>
            <a:off x="311700" y="1152475"/>
            <a:ext cx="5580372" cy="3416400"/>
          </a:xfrm>
        </p:spPr>
        <p:txBody>
          <a:bodyPr>
            <a:normAutofit fontScale="85000" lnSpcReduction="10000"/>
          </a:bodyPr>
          <a:lstStyle/>
          <a:p>
            <a:pPr marL="114300" indent="0">
              <a:buNone/>
            </a:pPr>
            <a:r>
              <a:rPr lang="en-IN" sz="1700" dirty="0">
                <a:solidFill>
                  <a:schemeClr val="tx1"/>
                </a:solidFill>
                <a:latin typeface="Times New Roman" panose="02020603050405020304" pitchFamily="18" charset="0"/>
                <a:cs typeface="Times New Roman" panose="02020603050405020304" pitchFamily="18" charset="0"/>
              </a:rPr>
              <a:t>Developed by U.S. Department of Defence, provides precise time information.</a:t>
            </a:r>
          </a:p>
          <a:p>
            <a:pPr marL="114300" indent="0">
              <a:buNone/>
            </a:pPr>
            <a:endParaRPr lang="en-IN" sz="17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700" dirty="0">
                <a:solidFill>
                  <a:schemeClr val="tx1"/>
                </a:solidFill>
                <a:latin typeface="Times New Roman" panose="02020603050405020304" pitchFamily="18" charset="0"/>
                <a:cs typeface="Times New Roman" panose="02020603050405020304" pitchFamily="18" charset="0"/>
              </a:rPr>
              <a:t>Each GPS satellite contains multiple atomic clocks that contribute very precise time data to the GPS signals.</a:t>
            </a:r>
          </a:p>
          <a:p>
            <a:pPr marL="114300" indent="0">
              <a:buNone/>
            </a:pPr>
            <a:endParaRPr lang="en-IN" sz="17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700" dirty="0">
                <a:solidFill>
                  <a:schemeClr val="tx1"/>
                </a:solidFill>
                <a:latin typeface="Times New Roman" panose="02020603050405020304" pitchFamily="18" charset="0"/>
                <a:cs typeface="Times New Roman" panose="02020603050405020304" pitchFamily="18" charset="0"/>
              </a:rPr>
              <a:t>Determine time with an accuracy of within 100 billionths of a second.</a:t>
            </a:r>
          </a:p>
          <a:p>
            <a:pPr marL="114300" indent="0">
              <a:buNone/>
            </a:pPr>
            <a:endParaRPr lang="en-IN" sz="17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700" dirty="0">
                <a:solidFill>
                  <a:schemeClr val="tx1"/>
                </a:solidFill>
                <a:latin typeface="Times New Roman" panose="02020603050405020304" pitchFamily="18" charset="0"/>
                <a:cs typeface="Times New Roman" panose="02020603050405020304" pitchFamily="18" charset="0"/>
              </a:rPr>
              <a:t>To receive PPS signal from GPS receiver, it should be installed on a roof with a clear view to the sky. </a:t>
            </a:r>
          </a:p>
          <a:p>
            <a:pPr marL="114300" indent="0">
              <a:buNone/>
            </a:pPr>
            <a:endParaRPr lang="en-US" sz="17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700" b="1" dirty="0">
                <a:solidFill>
                  <a:schemeClr val="tx1"/>
                </a:solidFill>
                <a:latin typeface="Times New Roman" panose="02020603050405020304" pitchFamily="18" charset="0"/>
                <a:cs typeface="Times New Roman" panose="02020603050405020304" pitchFamily="18" charset="0"/>
              </a:rPr>
              <a:t>Drawback: </a:t>
            </a:r>
            <a:r>
              <a:rPr lang="en-IN" sz="1700" dirty="0">
                <a:solidFill>
                  <a:schemeClr val="tx1"/>
                </a:solidFill>
                <a:latin typeface="Times New Roman" panose="02020603050405020304" pitchFamily="18" charset="0"/>
                <a:cs typeface="Times New Roman" panose="02020603050405020304" pitchFamily="18" charset="0"/>
              </a:rPr>
              <a:t>Expensive to deploy at scale</a:t>
            </a:r>
          </a:p>
          <a:p>
            <a:pPr marL="114300" indent="0">
              <a:buNone/>
            </a:pPr>
            <a:r>
              <a:rPr lang="en-IN" sz="1700" dirty="0">
                <a:solidFill>
                  <a:schemeClr val="tx1"/>
                </a:solidFill>
                <a:latin typeface="Times New Roman" panose="02020603050405020304" pitchFamily="18" charset="0"/>
                <a:cs typeface="Times New Roman" panose="02020603050405020304" pitchFamily="18" charset="0"/>
              </a:rPr>
              <a:t>Hence, widely used in stratum 0 zone in NTP and as ref clock in PTP</a:t>
            </a:r>
          </a:p>
          <a:p>
            <a:pPr marL="114300" indent="0">
              <a:buNone/>
            </a:pP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D5FDD2E-56D3-A878-F325-B0A78DB7497D}"/>
              </a:ext>
            </a:extLst>
          </p:cNvPr>
          <p:cNvPicPr>
            <a:picLocks noChangeAspect="1"/>
          </p:cNvPicPr>
          <p:nvPr/>
        </p:nvPicPr>
        <p:blipFill>
          <a:blip r:embed="rId4"/>
          <a:stretch>
            <a:fillRect/>
          </a:stretch>
        </p:blipFill>
        <p:spPr>
          <a:xfrm>
            <a:off x="5892072" y="1152475"/>
            <a:ext cx="3161330" cy="3125709"/>
          </a:xfrm>
          <a:prstGeom prst="rect">
            <a:avLst/>
          </a:prstGeom>
        </p:spPr>
      </p:pic>
    </p:spTree>
    <p:extLst>
      <p:ext uri="{BB962C8B-B14F-4D97-AF65-F5344CB8AC3E}">
        <p14:creationId xmlns:p14="http://schemas.microsoft.com/office/powerpoint/2010/main" val="560054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6" name="Google Shape;66;p15"/>
          <p:cNvSpPr txBox="1">
            <a:spLocks noGrp="1"/>
          </p:cNvSpPr>
          <p:nvPr>
            <p:ph type="subTitle" idx="1"/>
          </p:nvPr>
        </p:nvSpPr>
        <p:spPr>
          <a:xfrm>
            <a:off x="311700" y="475433"/>
            <a:ext cx="8520600" cy="67205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dirty="0">
                <a:solidFill>
                  <a:srgbClr val="333333"/>
                </a:solidFill>
                <a:latin typeface="Times New Roman" panose="02020603050405020304" pitchFamily="18" charset="0"/>
                <a:cs typeface="Times New Roman" panose="02020603050405020304" pitchFamily="18" charset="0"/>
                <a:hlinkClick r:id="rId3"/>
              </a:rPr>
              <a:t>Network Time Protocol (NTP)</a:t>
            </a:r>
            <a:r>
              <a:rPr lang="en" sz="2400" dirty="0">
                <a:solidFill>
                  <a:srgbClr val="333333"/>
                </a:solidFill>
                <a:latin typeface="Times New Roman" panose="02020603050405020304" pitchFamily="18" charset="0"/>
                <a:cs typeface="Times New Roman" panose="02020603050405020304" pitchFamily="18" charset="0"/>
              </a:rPr>
              <a:t> </a:t>
            </a:r>
            <a:r>
              <a:rPr lang="en-IN" sz="900" dirty="0">
                <a:latin typeface="Times New Roman" panose="02020603050405020304" pitchFamily="18" charset="0"/>
                <a:cs typeface="Times New Roman" panose="02020603050405020304" pitchFamily="18" charset="0"/>
              </a:rPr>
              <a:t>Established: 1985 </a:t>
            </a:r>
            <a:r>
              <a:rPr lang="en" dirty="0">
                <a:solidFill>
                  <a:srgbClr val="333333"/>
                </a:solidFill>
              </a:rPr>
              <a:t>		</a:t>
            </a:r>
            <a:endParaRPr dirty="0">
              <a:solidFill>
                <a:srgbClr val="333333"/>
              </a:solidFill>
            </a:endParaRPr>
          </a:p>
        </p:txBody>
      </p:sp>
      <p:sp>
        <p:nvSpPr>
          <p:cNvPr id="2" name="TextBox 1">
            <a:extLst>
              <a:ext uri="{FF2B5EF4-FFF2-40B4-BE49-F238E27FC236}">
                <a16:creationId xmlns:a16="http://schemas.microsoft.com/office/drawing/2014/main" id="{92222CD2-7D7A-1567-371C-099695019C72}"/>
              </a:ext>
            </a:extLst>
          </p:cNvPr>
          <p:cNvSpPr txBox="1"/>
          <p:nvPr/>
        </p:nvSpPr>
        <p:spPr>
          <a:xfrm>
            <a:off x="311700" y="1243374"/>
            <a:ext cx="8520600" cy="2893100"/>
          </a:xfrm>
          <a:prstGeom prst="rect">
            <a:avLst/>
          </a:prstGeom>
          <a:noFill/>
        </p:spPr>
        <p:txBody>
          <a:bodyPr wrap="square" rtlCol="0">
            <a:spAutoFit/>
          </a:bodyPr>
          <a:lstStyle/>
          <a:p>
            <a:r>
              <a:rPr lang="en-IN" u="sng" dirty="0">
                <a:solidFill>
                  <a:schemeClr val="tx1"/>
                </a:solidFill>
                <a:latin typeface="Times New Roman" panose="02020603050405020304" pitchFamily="18" charset="0"/>
                <a:cs typeface="Times New Roman" panose="02020603050405020304" pitchFamily="18" charset="0"/>
              </a:rPr>
              <a:t>The Need for NTP: A Survey Revelation</a:t>
            </a:r>
          </a:p>
          <a:p>
            <a:pPr lvl="2"/>
            <a:r>
              <a:rPr lang="en-IN" dirty="0">
                <a:solidFill>
                  <a:schemeClr val="tx1"/>
                </a:solidFill>
                <a:latin typeface="Times New Roman" panose="02020603050405020304" pitchFamily="18" charset="0"/>
                <a:cs typeface="Times New Roman" panose="02020603050405020304" pitchFamily="18" charset="0"/>
              </a:rPr>
              <a:t>Among 94,260 hosts of the Internet system, </a:t>
            </a:r>
          </a:p>
          <a:p>
            <a:pPr lvl="7"/>
            <a:r>
              <a:rPr lang="en-IN" dirty="0">
                <a:solidFill>
                  <a:schemeClr val="tx1"/>
                </a:solidFill>
                <a:latin typeface="Times New Roman" panose="02020603050405020304" pitchFamily="18" charset="0"/>
                <a:cs typeface="Times New Roman" panose="02020603050405020304" pitchFamily="18" charset="0"/>
              </a:rPr>
              <a:t> 	About half had time errors &gt; 2 minutes </a:t>
            </a:r>
          </a:p>
          <a:p>
            <a:pPr lvl="7"/>
            <a:r>
              <a:rPr lang="en-IN" dirty="0">
                <a:solidFill>
                  <a:schemeClr val="tx1"/>
                </a:solidFill>
                <a:latin typeface="Times New Roman" panose="02020603050405020304" pitchFamily="18" charset="0"/>
                <a:cs typeface="Times New Roman" panose="02020603050405020304" pitchFamily="18" charset="0"/>
              </a:rPr>
              <a:t> 	10% had errors &gt; 4 hours </a:t>
            </a:r>
          </a:p>
          <a:p>
            <a:pPr lvl="7"/>
            <a:r>
              <a:rPr lang="en-IN" dirty="0">
                <a:solidFill>
                  <a:schemeClr val="tx1"/>
                </a:solidFill>
                <a:latin typeface="Times New Roman" panose="02020603050405020304" pitchFamily="18" charset="0"/>
                <a:cs typeface="Times New Roman" panose="02020603050405020304" pitchFamily="18" charset="0"/>
              </a:rPr>
              <a:t> 	A few had errors over 2 weeks</a:t>
            </a:r>
          </a:p>
          <a:p>
            <a:pPr lvl="2"/>
            <a:endParaRPr lang="en-IN" dirty="0">
              <a:solidFill>
                <a:schemeClr val="tx1"/>
              </a:solidFill>
              <a:latin typeface="Times New Roman" panose="02020603050405020304" pitchFamily="18" charset="0"/>
              <a:cs typeface="Times New Roman" panose="02020603050405020304" pitchFamily="18" charset="0"/>
            </a:endParaRPr>
          </a:p>
          <a:p>
            <a:r>
              <a:rPr lang="en-IN" u="sng" dirty="0">
                <a:solidFill>
                  <a:schemeClr val="tx1"/>
                </a:solidFill>
                <a:latin typeface="Times New Roman" panose="02020603050405020304" pitchFamily="18" charset="0"/>
                <a:cs typeface="Times New Roman" panose="02020603050405020304" pitchFamily="18" charset="0"/>
              </a:rPr>
              <a:t>Issues with Pre-NTP Clocks:</a:t>
            </a:r>
          </a:p>
          <a:p>
            <a:pPr marL="342900" lvl="3"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Most clocks set manually using wristwatches</a:t>
            </a:r>
          </a:p>
          <a:p>
            <a:pPr marL="342900" lvl="3"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Rarely checked for accuracy</a:t>
            </a:r>
          </a:p>
          <a:p>
            <a:pPr marL="342900" lvl="3"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Quartz oscillator drift: up to 1 second/day</a:t>
            </a:r>
          </a:p>
          <a:p>
            <a:pPr marL="342900" lvl="3"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Weeks between manual corrections</a:t>
            </a:r>
          </a:p>
          <a:p>
            <a:pPr lvl="3"/>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Many applications, especially distributed internet systems, require much greater accuracy and reliability</a:t>
            </a:r>
            <a:endParaRPr 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C03C5-B8EF-D291-537B-0E766FAEAAC4}"/>
              </a:ext>
            </a:extLst>
          </p:cNvPr>
          <p:cNvSpPr>
            <a:spLocks noGrp="1"/>
          </p:cNvSpPr>
          <p:nvPr>
            <p:ph type="title"/>
          </p:nvPr>
        </p:nvSpPr>
        <p:spPr>
          <a:xfrm>
            <a:off x="311700" y="512400"/>
            <a:ext cx="8520600" cy="572700"/>
          </a:xfrm>
        </p:spPr>
        <p:txBody>
          <a:bodyPr>
            <a:normAutofit fontScale="90000"/>
          </a:bodyPr>
          <a:lstStyle/>
          <a:p>
            <a:r>
              <a:rPr lang="en-US" dirty="0"/>
              <a:t>Overview</a:t>
            </a:r>
          </a:p>
        </p:txBody>
      </p:sp>
      <p:sp>
        <p:nvSpPr>
          <p:cNvPr id="3" name="Text Placeholder 2">
            <a:extLst>
              <a:ext uri="{FF2B5EF4-FFF2-40B4-BE49-F238E27FC236}">
                <a16:creationId xmlns:a16="http://schemas.microsoft.com/office/drawing/2014/main" id="{FBDE1317-D3B3-251F-AEF9-3B0255C03EF3}"/>
              </a:ext>
            </a:extLst>
          </p:cNvPr>
          <p:cNvSpPr>
            <a:spLocks noGrp="1"/>
          </p:cNvSpPr>
          <p:nvPr>
            <p:ph type="body" idx="1"/>
          </p:nvPr>
        </p:nvSpPr>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Client-server model</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Organizes and maintains a set of time servers and transmission paths as a synchronization subnet.</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Built on the Internet Protocol (IP) and User Datagram Protocol (UDP)</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Provides a connectionless transport mechanism.</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Designed to maintain accuracy and reliability, even over typical Internet paths involving multiple gateways and unreliable networks.</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90C4F259-770C-7094-1F0F-D41D8DC606EF}"/>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2"/>
              </a:rPr>
              <a:t>NTP</a:t>
            </a:r>
            <a:endParaRPr lang="en-US" dirty="0"/>
          </a:p>
        </p:txBody>
      </p:sp>
    </p:spTree>
    <p:extLst>
      <p:ext uri="{BB962C8B-B14F-4D97-AF65-F5344CB8AC3E}">
        <p14:creationId xmlns:p14="http://schemas.microsoft.com/office/powerpoint/2010/main" val="2891643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4757B-36E1-FEC9-2D87-2AFEA4CBD961}"/>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Synchronization Subnet</a:t>
            </a:r>
          </a:p>
        </p:txBody>
      </p:sp>
      <p:pic>
        <p:nvPicPr>
          <p:cNvPr id="4" name="Picture 3">
            <a:extLst>
              <a:ext uri="{FF2B5EF4-FFF2-40B4-BE49-F238E27FC236}">
                <a16:creationId xmlns:a16="http://schemas.microsoft.com/office/drawing/2014/main" id="{C12F7815-FD47-1E05-921D-E8E6BC20011F}"/>
              </a:ext>
            </a:extLst>
          </p:cNvPr>
          <p:cNvPicPr>
            <a:picLocks noChangeAspect="1"/>
          </p:cNvPicPr>
          <p:nvPr/>
        </p:nvPicPr>
        <p:blipFill>
          <a:blip r:embed="rId2"/>
          <a:stretch>
            <a:fillRect/>
          </a:stretch>
        </p:blipFill>
        <p:spPr>
          <a:xfrm>
            <a:off x="5931259" y="739739"/>
            <a:ext cx="3091518" cy="3664021"/>
          </a:xfrm>
          <a:prstGeom prst="rect">
            <a:avLst/>
          </a:prstGeom>
        </p:spPr>
      </p:pic>
      <p:sp>
        <p:nvSpPr>
          <p:cNvPr id="3" name="Text Placeholder 2">
            <a:extLst>
              <a:ext uri="{FF2B5EF4-FFF2-40B4-BE49-F238E27FC236}">
                <a16:creationId xmlns:a16="http://schemas.microsoft.com/office/drawing/2014/main" id="{A54DF323-276B-3F82-D9C8-80FE22116CDF}"/>
              </a:ext>
            </a:extLst>
          </p:cNvPr>
          <p:cNvSpPr>
            <a:spLocks noGrp="1"/>
          </p:cNvSpPr>
          <p:nvPr>
            <p:ph type="body" idx="1"/>
          </p:nvPr>
        </p:nvSpPr>
        <p:spPr>
          <a:xfrm>
            <a:off x="311700" y="1152475"/>
            <a:ext cx="5619559" cy="3416400"/>
          </a:xfrm>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Stratum 0 is usually a timecode receiver or atomic clock.</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A primary time server (Stratum 1) is directly synchronized to a primary reference source at Stratum 0</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Stratum 2 servers are synchronized with Stratum 1 and so on.. </a:t>
            </a:r>
          </a:p>
          <a:p>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29BC7439-8588-A894-361D-5D6FD3D7809F}"/>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3"/>
              </a:rPr>
              <a:t>NTP</a:t>
            </a:r>
            <a:endParaRPr lang="en-US" dirty="0"/>
          </a:p>
        </p:txBody>
      </p:sp>
    </p:spTree>
    <p:extLst>
      <p:ext uri="{BB962C8B-B14F-4D97-AF65-F5344CB8AC3E}">
        <p14:creationId xmlns:p14="http://schemas.microsoft.com/office/powerpoint/2010/main" val="2199949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98BBB-F4D4-D6B3-3C8E-E15EB926855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Algorithm</a:t>
            </a:r>
          </a:p>
        </p:txBody>
      </p:sp>
      <p:sp>
        <p:nvSpPr>
          <p:cNvPr id="3" name="Text Placeholder 2">
            <a:extLst>
              <a:ext uri="{FF2B5EF4-FFF2-40B4-BE49-F238E27FC236}">
                <a16:creationId xmlns:a16="http://schemas.microsoft.com/office/drawing/2014/main" id="{829F87B2-9954-58BE-7D20-16800257EEA5}"/>
              </a:ext>
            </a:extLst>
          </p:cNvPr>
          <p:cNvSpPr>
            <a:spLocks noGrp="1"/>
          </p:cNvSpPr>
          <p:nvPr>
            <p:ph type="body" idx="1"/>
          </p:nvPr>
        </p:nvSpPr>
        <p:spPr>
          <a:xfrm>
            <a:off x="311700" y="1152475"/>
            <a:ext cx="8660636" cy="3416400"/>
          </a:xfrm>
        </p:spPr>
        <p:txBody>
          <a:bodyPr>
            <a:normAutofit/>
          </a:bodyPr>
          <a:lstStyle/>
          <a:p>
            <a:pPr marL="114300" indent="0">
              <a:buNone/>
            </a:pPr>
            <a:r>
              <a:rPr lang="en-IN" sz="1400" b="0" i="0" dirty="0">
                <a:solidFill>
                  <a:schemeClr val="tx1"/>
                </a:solidFill>
                <a:effectLst/>
                <a:highlight>
                  <a:srgbClr val="FFFFFF"/>
                </a:highlight>
                <a:latin typeface="Times New Roman" panose="02020603050405020304" pitchFamily="18" charset="0"/>
                <a:cs typeface="Times New Roman" panose="02020603050405020304" pitchFamily="18" charset="0"/>
              </a:rPr>
              <a:t>NTP client regularly polls one or more NTP servers</a:t>
            </a:r>
          </a:p>
          <a:p>
            <a:pPr marL="114300" indent="0">
              <a:buNone/>
            </a:pPr>
            <a:endParaRPr lang="en-IN" sz="1400" dirty="0">
              <a:solidFill>
                <a:schemeClr val="tx1"/>
              </a:solidFill>
              <a:highlight>
                <a:srgbClr val="FFFFFF"/>
              </a:highlight>
              <a:latin typeface="Times New Roman" panose="02020603050405020304" pitchFamily="18" charset="0"/>
              <a:cs typeface="Times New Roman" panose="02020603050405020304" pitchFamily="18" charset="0"/>
            </a:endParaRPr>
          </a:p>
          <a:p>
            <a:pPr marL="114300" indent="0">
              <a:buNone/>
            </a:pPr>
            <a:r>
              <a:rPr lang="en-IN" sz="1400" b="0" i="0" dirty="0">
                <a:solidFill>
                  <a:schemeClr val="tx1"/>
                </a:solidFill>
                <a:effectLst/>
                <a:highlight>
                  <a:srgbClr val="FFFFFF"/>
                </a:highlight>
                <a:latin typeface="Times New Roman" panose="02020603050405020304" pitchFamily="18" charset="0"/>
                <a:cs typeface="Times New Roman" panose="02020603050405020304" pitchFamily="18" charset="0"/>
              </a:rPr>
              <a:t>The client must compute its time offset c and round-trip delay d</a:t>
            </a:r>
          </a:p>
          <a:p>
            <a:pPr marL="114300" indent="0">
              <a:buNone/>
            </a:pPr>
            <a:endParaRPr lang="en-IN" sz="1400" dirty="0">
              <a:solidFill>
                <a:schemeClr val="tx1"/>
              </a:solidFill>
              <a:highlight>
                <a:srgbClr val="FFFFFF"/>
              </a:highlight>
              <a:latin typeface="Times New Roman" panose="02020603050405020304" pitchFamily="18" charset="0"/>
              <a:cs typeface="Times New Roman" panose="02020603050405020304" pitchFamily="18" charset="0"/>
            </a:endParaRPr>
          </a:p>
          <a:p>
            <a:pPr marL="114300" indent="0">
              <a:buNone/>
            </a:pPr>
            <a:endParaRPr lang="en-IN" sz="1400" dirty="0">
              <a:solidFill>
                <a:schemeClr val="tx1"/>
              </a:solidFill>
              <a:highlight>
                <a:srgbClr val="FFFFFF"/>
              </a:highlight>
              <a:latin typeface="Times New Roman" panose="02020603050405020304" pitchFamily="18" charset="0"/>
              <a:cs typeface="Times New Roman" panose="02020603050405020304" pitchFamily="18" charset="0"/>
            </a:endParaRP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400" b="0" i="0" dirty="0">
              <a:solidFill>
                <a:schemeClr val="tx1"/>
              </a:solidFill>
              <a:effectLst/>
              <a:highlight>
                <a:srgbClr val="FFFFFF"/>
              </a:highlight>
              <a:latin typeface="Times New Roman" panose="02020603050405020304" pitchFamily="18" charset="0"/>
              <a:cs typeface="Times New Roman" panose="02020603050405020304" pitchFamily="18" charset="0"/>
            </a:endParaRPr>
          </a:p>
          <a:p>
            <a:pPr marL="114300" indent="0">
              <a:buNone/>
            </a:pPr>
            <a:endParaRPr lang="en-IN" sz="1400" dirty="0">
              <a:solidFill>
                <a:schemeClr val="tx1"/>
              </a:solidFill>
              <a:highlight>
                <a:srgbClr val="FFFFFF"/>
              </a:highlight>
              <a:latin typeface="Times New Roman" panose="02020603050405020304" pitchFamily="18" charset="0"/>
              <a:cs typeface="Times New Roman" panose="02020603050405020304" pitchFamily="18" charset="0"/>
            </a:endParaRPr>
          </a:p>
          <a:p>
            <a:pPr marL="114300" indent="0">
              <a:buNone/>
            </a:pPr>
            <a:r>
              <a:rPr lang="en-IN" sz="1400" b="0" i="0" dirty="0">
                <a:solidFill>
                  <a:schemeClr val="tx1"/>
                </a:solidFill>
                <a:effectLst/>
                <a:highlight>
                  <a:srgbClr val="FFFFFF"/>
                </a:highlight>
                <a:latin typeface="Times New Roman" panose="02020603050405020304" pitchFamily="18" charset="0"/>
                <a:cs typeface="Times New Roman" panose="02020603050405020304" pitchFamily="18" charset="0"/>
              </a:rPr>
              <a:t>Timestamps are stored as seconds</a:t>
            </a:r>
          </a:p>
          <a:p>
            <a:pPr marL="114300" indent="0">
              <a:buNone/>
            </a:pPr>
            <a:endParaRPr lang="en-IN" sz="1400" dirty="0">
              <a:solidFill>
                <a:schemeClr val="tx1"/>
              </a:solidFill>
              <a:highlight>
                <a:srgbClr val="FFFFFF"/>
              </a:highlight>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highlight>
                  <a:srgbClr val="FFFFFF"/>
                </a:highlight>
                <a:latin typeface="Times New Roman" panose="02020603050405020304" pitchFamily="18" charset="0"/>
                <a:cs typeface="Times New Roman" panose="02020603050405020304" pitchFamily="18" charset="0"/>
              </a:rPr>
              <a:t>The client’s clock frequency is then adjusted to reduce the offset gradually</a:t>
            </a:r>
          </a:p>
          <a:p>
            <a:pPr marL="114300" indent="0">
              <a:buNone/>
            </a:pPr>
            <a:endParaRPr lang="en-IN" sz="1400" dirty="0">
              <a:solidFill>
                <a:schemeClr val="tx1"/>
              </a:solidFill>
              <a:highlight>
                <a:srgbClr val="FFFFFF"/>
              </a:highlight>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highlight>
                  <a:srgbClr val="FFFFFF"/>
                </a:highlight>
                <a:latin typeface="Times New Roman" panose="02020603050405020304" pitchFamily="18" charset="0"/>
                <a:cs typeface="Times New Roman" panose="02020603050405020304" pitchFamily="18" charset="0"/>
              </a:rPr>
              <a:t>Achieves millisecond level accuracy. </a:t>
            </a:r>
          </a:p>
          <a:p>
            <a:endParaRPr lang="en-IN" sz="1400" b="0" i="0" dirty="0">
              <a:solidFill>
                <a:schemeClr val="tx1"/>
              </a:solidFill>
              <a:effectLst/>
              <a:highlight>
                <a:srgbClr val="FFFFFF"/>
              </a:highlight>
              <a:latin typeface="Times New Roman" panose="02020603050405020304" pitchFamily="18" charset="0"/>
              <a:cs typeface="Times New Roman" panose="02020603050405020304" pitchFamily="18" charset="0"/>
            </a:endParaRPr>
          </a:p>
          <a:p>
            <a:endParaRPr lang="en-IN" b="0" i="0" dirty="0">
              <a:solidFill>
                <a:schemeClr val="tx1"/>
              </a:solidFill>
              <a:effectLst/>
              <a:highlight>
                <a:srgbClr val="FFFFFF"/>
              </a:highlight>
              <a:latin typeface="source-serif-pro"/>
            </a:endParaRPr>
          </a:p>
        </p:txBody>
      </p:sp>
      <p:pic>
        <p:nvPicPr>
          <p:cNvPr id="4" name="Picture 3">
            <a:extLst>
              <a:ext uri="{FF2B5EF4-FFF2-40B4-BE49-F238E27FC236}">
                <a16:creationId xmlns:a16="http://schemas.microsoft.com/office/drawing/2014/main" id="{FED835B7-5C7E-0682-93D7-0206F3DAAD51}"/>
              </a:ext>
            </a:extLst>
          </p:cNvPr>
          <p:cNvPicPr>
            <a:picLocks noChangeAspect="1"/>
          </p:cNvPicPr>
          <p:nvPr/>
        </p:nvPicPr>
        <p:blipFill>
          <a:blip r:embed="rId2"/>
          <a:stretch>
            <a:fillRect/>
          </a:stretch>
        </p:blipFill>
        <p:spPr>
          <a:xfrm>
            <a:off x="6374667" y="574625"/>
            <a:ext cx="2457633" cy="1255530"/>
          </a:xfrm>
          <a:prstGeom prst="rect">
            <a:avLst/>
          </a:prstGeom>
        </p:spPr>
      </p:pic>
      <p:pic>
        <p:nvPicPr>
          <p:cNvPr id="5" name="Picture 4">
            <a:extLst>
              <a:ext uri="{FF2B5EF4-FFF2-40B4-BE49-F238E27FC236}">
                <a16:creationId xmlns:a16="http://schemas.microsoft.com/office/drawing/2014/main" id="{89EF7A01-57E2-C29E-3D77-B5FB70352097}"/>
              </a:ext>
            </a:extLst>
          </p:cNvPr>
          <p:cNvPicPr>
            <a:picLocks noChangeAspect="1"/>
          </p:cNvPicPr>
          <p:nvPr/>
        </p:nvPicPr>
        <p:blipFill>
          <a:blip r:embed="rId3"/>
          <a:stretch>
            <a:fillRect/>
          </a:stretch>
        </p:blipFill>
        <p:spPr>
          <a:xfrm>
            <a:off x="2363055" y="2201881"/>
            <a:ext cx="2979107" cy="993036"/>
          </a:xfrm>
          <a:prstGeom prst="rect">
            <a:avLst/>
          </a:prstGeom>
        </p:spPr>
      </p:pic>
      <p:sp>
        <p:nvSpPr>
          <p:cNvPr id="7" name="Title 1">
            <a:extLst>
              <a:ext uri="{FF2B5EF4-FFF2-40B4-BE49-F238E27FC236}">
                <a16:creationId xmlns:a16="http://schemas.microsoft.com/office/drawing/2014/main" id="{208335AA-C547-462C-67E9-4FA2B37104DF}"/>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4"/>
              </a:rPr>
              <a:t>NTP</a:t>
            </a:r>
            <a:endParaRPr lang="en-US" dirty="0"/>
          </a:p>
        </p:txBody>
      </p:sp>
    </p:spTree>
    <p:extLst>
      <p:ext uri="{BB962C8B-B14F-4D97-AF65-F5344CB8AC3E}">
        <p14:creationId xmlns:p14="http://schemas.microsoft.com/office/powerpoint/2010/main" val="2075405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A92BD-FCA4-06AA-B9F2-0DBEA8C02F60}"/>
              </a:ext>
            </a:extLst>
          </p:cNvPr>
          <p:cNvSpPr>
            <a:spLocks noGrp="1"/>
          </p:cNvSpPr>
          <p:nvPr>
            <p:ph type="title"/>
          </p:nvPr>
        </p:nvSpPr>
        <p:spPr/>
        <p:txBody>
          <a:bodyPr>
            <a:normAutofit fontScale="90000"/>
          </a:bodyPr>
          <a:lstStyle/>
          <a:p>
            <a:r>
              <a:rPr lang="en-IN" b="0" i="0" dirty="0">
                <a:solidFill>
                  <a:srgbClr val="333333"/>
                </a:solidFill>
                <a:effectLst/>
                <a:highlight>
                  <a:srgbClr val="FFFFFF"/>
                </a:highlight>
                <a:latin typeface="Times New Roman" panose="02020603050405020304" pitchFamily="18" charset="0"/>
                <a:cs typeface="Times New Roman" panose="02020603050405020304" pitchFamily="18" charset="0"/>
                <a:hlinkClick r:id="rId2"/>
              </a:rPr>
              <a:t>Precision Time Protocol</a:t>
            </a:r>
            <a:r>
              <a:rPr lang="en-IN" b="0" i="0" dirty="0">
                <a:solidFill>
                  <a:srgbClr val="333333"/>
                </a:solidFill>
                <a:effectLst/>
                <a:highlight>
                  <a:srgbClr val="FFFFFF"/>
                </a:highlight>
                <a:latin typeface="Times New Roman" panose="02020603050405020304" pitchFamily="18" charset="0"/>
                <a:cs typeface="Times New Roman" panose="02020603050405020304" pitchFamily="18" charset="0"/>
              </a:rPr>
              <a:t> </a:t>
            </a:r>
            <a:r>
              <a:rPr lang="en-IN" sz="900" dirty="0"/>
              <a:t>IEEE 1588; </a:t>
            </a:r>
            <a:r>
              <a:rPr lang="en-IN" sz="1100" b="0" i="0" dirty="0">
                <a:solidFill>
                  <a:srgbClr val="333333"/>
                </a:solidFill>
                <a:effectLst/>
                <a:highlight>
                  <a:srgbClr val="FFFFFF"/>
                </a:highlight>
                <a:latin typeface="Helvetica" pitchFamily="2" charset="0"/>
              </a:rPr>
              <a:t>Established: 2002 </a:t>
            </a:r>
            <a:br>
              <a:rPr lang="en-IN" b="0" i="0" dirty="0">
                <a:solidFill>
                  <a:srgbClr val="333333"/>
                </a:solidFill>
                <a:effectLst/>
                <a:highlight>
                  <a:srgbClr val="FFFFFF"/>
                </a:highlight>
                <a:latin typeface="Helvetica" pitchFamily="2" charset="0"/>
              </a:rPr>
            </a:br>
            <a:br>
              <a:rPr lang="en-IN" dirty="0"/>
            </a:br>
            <a:endParaRPr lang="en-US" dirty="0"/>
          </a:p>
        </p:txBody>
      </p:sp>
      <p:sp>
        <p:nvSpPr>
          <p:cNvPr id="3" name="Text Placeholder 2">
            <a:extLst>
              <a:ext uri="{FF2B5EF4-FFF2-40B4-BE49-F238E27FC236}">
                <a16:creationId xmlns:a16="http://schemas.microsoft.com/office/drawing/2014/main" id="{52153A73-D99A-EE25-036C-C6DF2198B9E7}"/>
              </a:ext>
            </a:extLst>
          </p:cNvPr>
          <p:cNvSpPr>
            <a:spLocks noGrp="1"/>
          </p:cNvSpPr>
          <p:nvPr>
            <p:ph type="body" idx="1"/>
          </p:nvPr>
        </p:nvSpPr>
        <p:spPr/>
        <p:txBody>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For time critical applications</a:t>
            </a:r>
            <a:r>
              <a:rPr lang="en-IN" sz="1400" dirty="0">
                <a:solidFill>
                  <a:schemeClr val="tx1"/>
                </a:solidFill>
                <a:latin typeface="Times New Roman" panose="02020603050405020304" pitchFamily="18" charset="0"/>
                <a:cs typeface="Times New Roman" panose="02020603050405020304" pitchFamily="18" charset="0"/>
              </a:rPr>
              <a:t>, millisecond-level accuracy provided by NTP is not sufficient.</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Also, NTP is software based.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The network latency will critically impact the accuracy.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Hence, raised a need of higher precision time protocol. </a:t>
            </a:r>
            <a:endParaRPr lang="en-IN" sz="1400" b="0" i="0" dirty="0">
              <a:solidFill>
                <a:schemeClr val="tx1"/>
              </a:solidFill>
              <a:effectLst/>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5023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0C1B4-C3B4-2081-6BB0-4D9E5A4FE3C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Overview</a:t>
            </a:r>
          </a:p>
        </p:txBody>
      </p:sp>
      <p:sp>
        <p:nvSpPr>
          <p:cNvPr id="3" name="Text Placeholder 2">
            <a:extLst>
              <a:ext uri="{FF2B5EF4-FFF2-40B4-BE49-F238E27FC236}">
                <a16:creationId xmlns:a16="http://schemas.microsoft.com/office/drawing/2014/main" id="{4C423991-179B-6B41-100E-570CE6FED220}"/>
              </a:ext>
            </a:extLst>
          </p:cNvPr>
          <p:cNvSpPr>
            <a:spLocks noGrp="1"/>
          </p:cNvSpPr>
          <p:nvPr>
            <p:ph type="body" idx="1"/>
          </p:nvPr>
        </p:nvSpPr>
        <p:spPr/>
        <p:txBody>
          <a:bodyPr>
            <a:normAutofit/>
          </a:bodyPr>
          <a:lstStyle/>
          <a:p>
            <a:pPr marL="114300" indent="0">
              <a:buNone/>
            </a:pPr>
            <a:r>
              <a:rPr lang="en-IN" sz="1400" dirty="0">
                <a:solidFill>
                  <a:srgbClr val="19191A"/>
                </a:solidFill>
                <a:highlight>
                  <a:srgbClr val="FFFFFF"/>
                </a:highlight>
                <a:latin typeface="Times New Roman" panose="02020603050405020304" pitchFamily="18" charset="0"/>
                <a:cs typeface="Times New Roman" panose="02020603050405020304" pitchFamily="18" charset="0"/>
              </a:rPr>
              <a:t>A Master - slave model</a:t>
            </a:r>
          </a:p>
          <a:p>
            <a:pPr marL="114300" indent="0">
              <a:buNone/>
            </a:pPr>
            <a:endParaRPr lang="en-IN" sz="1400" b="0" i="0" dirty="0">
              <a:solidFill>
                <a:srgbClr val="19191A"/>
              </a:solidFill>
              <a:effectLst/>
              <a:highlight>
                <a:srgbClr val="FFFFFF"/>
              </a:highlight>
              <a:latin typeface="Times New Roman" panose="02020603050405020304" pitchFamily="18" charset="0"/>
              <a:cs typeface="Times New Roman" panose="02020603050405020304" pitchFamily="18" charset="0"/>
            </a:endParaRPr>
          </a:p>
          <a:p>
            <a:pPr marL="114300" indent="0">
              <a:buNone/>
            </a:pPr>
            <a:r>
              <a:rPr lang="en-IN" sz="1400" dirty="0">
                <a:solidFill>
                  <a:srgbClr val="19191A"/>
                </a:solidFill>
                <a:highlight>
                  <a:srgbClr val="FFFFFF"/>
                </a:highlight>
                <a:latin typeface="Times New Roman" panose="02020603050405020304" pitchFamily="18" charset="0"/>
                <a:cs typeface="Times New Roman" panose="02020603050405020304" pitchFamily="18" charset="0"/>
              </a:rPr>
              <a:t>Synchronize clocks of packet-switched network to a “Grandmaster”</a:t>
            </a:r>
          </a:p>
          <a:p>
            <a:pPr marL="114300" indent="0">
              <a:buNone/>
            </a:pPr>
            <a:endParaRPr lang="en-IN" sz="1400" dirty="0">
              <a:solidFill>
                <a:srgbClr val="19191A"/>
              </a:solidFill>
              <a:highlight>
                <a:srgbClr val="FFFFFF"/>
              </a:highlight>
              <a:latin typeface="Times New Roman" panose="02020603050405020304" pitchFamily="18" charset="0"/>
              <a:cs typeface="Times New Roman" panose="02020603050405020304" pitchFamily="18" charset="0"/>
            </a:endParaRPr>
          </a:p>
          <a:p>
            <a:pPr marL="114300" indent="0">
              <a:buNone/>
            </a:pPr>
            <a:r>
              <a:rPr lang="en-IN" sz="1400" dirty="0">
                <a:solidFill>
                  <a:srgbClr val="19191A"/>
                </a:solidFill>
                <a:highlight>
                  <a:srgbClr val="FFFFFF"/>
                </a:highlight>
                <a:latin typeface="Times New Roman" panose="02020603050405020304" pitchFamily="18" charset="0"/>
                <a:cs typeface="Times New Roman" panose="02020603050405020304" pitchFamily="18" charset="0"/>
              </a:rPr>
              <a:t>R</a:t>
            </a:r>
            <a:r>
              <a:rPr lang="en-IN" sz="1400" b="0" i="0" dirty="0">
                <a:solidFill>
                  <a:srgbClr val="19191A"/>
                </a:solidFill>
                <a:effectLst/>
                <a:highlight>
                  <a:srgbClr val="FFFFFF"/>
                </a:highlight>
                <a:latin typeface="Times New Roman" panose="02020603050405020304" pitchFamily="18" charset="0"/>
                <a:cs typeface="Times New Roman" panose="02020603050405020304" pitchFamily="18" charset="0"/>
              </a:rPr>
              <a:t>elies on hardware-based time stamping mechanisms using network switches, Network Interface Controllers(NICs) etc. </a:t>
            </a:r>
          </a:p>
          <a:p>
            <a:pPr marL="114300" indent="0">
              <a:buNone/>
            </a:pPr>
            <a:endParaRPr lang="en-IN" sz="1400" dirty="0">
              <a:solidFill>
                <a:srgbClr val="19191A"/>
              </a:solidFill>
              <a:highlight>
                <a:srgbClr val="FFFFFF"/>
              </a:highlight>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685B6CA-1CC7-67FC-EEF1-D48C6E42D69B}"/>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2"/>
              </a:rPr>
              <a:t>PTP</a:t>
            </a:r>
            <a:endParaRPr lang="en-US" dirty="0"/>
          </a:p>
        </p:txBody>
      </p:sp>
    </p:spTree>
    <p:extLst>
      <p:ext uri="{BB962C8B-B14F-4D97-AF65-F5344CB8AC3E}">
        <p14:creationId xmlns:p14="http://schemas.microsoft.com/office/powerpoint/2010/main" val="3796637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16"/>
          <p:cNvSpPr txBox="1"/>
          <p:nvPr/>
        </p:nvSpPr>
        <p:spPr>
          <a:xfrm>
            <a:off x="278876" y="1181100"/>
            <a:ext cx="4772957" cy="3327000"/>
          </a:xfrm>
          <a:prstGeom prst="rect">
            <a:avLst/>
          </a:prstGeom>
          <a:noFill/>
          <a:ln>
            <a:noFill/>
          </a:ln>
        </p:spPr>
        <p:txBody>
          <a:bodyPr spcFirstLastPara="1" wrap="square" lIns="91425" tIns="91425" rIns="91425" bIns="91425" anchor="t" anchorCtr="0">
            <a:noAutofit/>
          </a:bodyPr>
          <a:lstStyle/>
          <a:p>
            <a:pPr algn="l"/>
            <a:r>
              <a:rPr lang="en-IN" sz="1200" dirty="0">
                <a:solidFill>
                  <a:schemeClr val="tx1"/>
                </a:solidFill>
                <a:latin typeface="Times New Roman" panose="02020603050405020304" pitchFamily="18" charset="0"/>
                <a:cs typeface="Times New Roman" panose="02020603050405020304" pitchFamily="18" charset="0"/>
              </a:rPr>
              <a:t>Slaves adjust their clocks based on the calculated offset to synchronize with the master clock.</a:t>
            </a:r>
          </a:p>
          <a:p>
            <a:pPr algn="l"/>
            <a:endParaRPr lang="en-IN" sz="1200" b="0" i="0" dirty="0">
              <a:solidFill>
                <a:schemeClr val="tx1"/>
              </a:solidFill>
              <a:effectLst/>
              <a:highlight>
                <a:srgbClr val="FFFFFF"/>
              </a:highlight>
              <a:latin typeface="Times New Roman" panose="02020603050405020304" pitchFamily="18" charset="0"/>
              <a:cs typeface="Times New Roman" panose="02020603050405020304" pitchFamily="18" charset="0"/>
            </a:endParaRPr>
          </a:p>
          <a:p>
            <a:pPr algn="l"/>
            <a:r>
              <a:rPr lang="en-IN" sz="1200" b="0" i="0" dirty="0">
                <a:solidFill>
                  <a:schemeClr val="tx1"/>
                </a:solidFill>
                <a:effectLst/>
                <a:highlight>
                  <a:srgbClr val="FFFFFF"/>
                </a:highlight>
                <a:latin typeface="Times New Roman" panose="02020603050405020304" pitchFamily="18" charset="0"/>
                <a:cs typeface="Times New Roman" panose="02020603050405020304" pitchFamily="18" charset="0"/>
              </a:rPr>
              <a:t>Master to Slave difference = T2 – T1</a:t>
            </a:r>
          </a:p>
          <a:p>
            <a:pPr algn="l"/>
            <a:br>
              <a:rPr lang="en-IN" sz="1200" dirty="0">
                <a:solidFill>
                  <a:schemeClr val="tx1"/>
                </a:solidFill>
                <a:latin typeface="Times New Roman" panose="02020603050405020304" pitchFamily="18" charset="0"/>
                <a:cs typeface="Times New Roman" panose="02020603050405020304" pitchFamily="18" charset="0"/>
              </a:rPr>
            </a:br>
            <a:r>
              <a:rPr lang="en-IN" sz="1200" b="0" i="0" dirty="0">
                <a:solidFill>
                  <a:schemeClr val="tx1"/>
                </a:solidFill>
                <a:effectLst/>
                <a:highlight>
                  <a:srgbClr val="FFFFFF"/>
                </a:highlight>
                <a:latin typeface="Times New Roman" panose="02020603050405020304" pitchFamily="18" charset="0"/>
                <a:cs typeface="Times New Roman" panose="02020603050405020304" pitchFamily="18" charset="0"/>
              </a:rPr>
              <a:t>Slave to Master difference = T4 – T3</a:t>
            </a:r>
          </a:p>
          <a:p>
            <a:pPr algn="l"/>
            <a:br>
              <a:rPr lang="en-IN" sz="1200" dirty="0">
                <a:solidFill>
                  <a:schemeClr val="tx1"/>
                </a:solidFill>
                <a:latin typeface="Times New Roman" panose="02020603050405020304" pitchFamily="18" charset="0"/>
                <a:cs typeface="Times New Roman" panose="02020603050405020304" pitchFamily="18" charset="0"/>
              </a:rPr>
            </a:br>
            <a:r>
              <a:rPr lang="en-IN" sz="1200" b="0" i="0" dirty="0">
                <a:solidFill>
                  <a:schemeClr val="tx1"/>
                </a:solidFill>
                <a:effectLst/>
                <a:highlight>
                  <a:srgbClr val="FFFFFF"/>
                </a:highlight>
                <a:latin typeface="Times New Roman" panose="02020603050405020304" pitchFamily="18" charset="0"/>
                <a:cs typeface="Times New Roman" panose="02020603050405020304" pitchFamily="18" charset="0"/>
              </a:rPr>
              <a:t>One-way delay = (Master to Slave difference </a:t>
            </a:r>
          </a:p>
          <a:p>
            <a:pPr algn="l"/>
            <a:r>
              <a:rPr lang="en-IN" sz="1200" dirty="0">
                <a:solidFill>
                  <a:schemeClr val="tx1"/>
                </a:solidFill>
                <a:highlight>
                  <a:srgbClr val="FFFFFF"/>
                </a:highlight>
                <a:latin typeface="Times New Roman" panose="02020603050405020304" pitchFamily="18" charset="0"/>
                <a:cs typeface="Times New Roman" panose="02020603050405020304" pitchFamily="18" charset="0"/>
              </a:rPr>
              <a:t>		</a:t>
            </a:r>
            <a:r>
              <a:rPr lang="en-IN" sz="1200" b="0" i="0" dirty="0">
                <a:solidFill>
                  <a:schemeClr val="tx1"/>
                </a:solidFill>
                <a:effectLst/>
                <a:highlight>
                  <a:srgbClr val="FFFFFF"/>
                </a:highlight>
                <a:latin typeface="Times New Roman" panose="02020603050405020304" pitchFamily="18" charset="0"/>
                <a:cs typeface="Times New Roman" panose="02020603050405020304" pitchFamily="18" charset="0"/>
              </a:rPr>
              <a:t>+ Slave to Master difference) / 2</a:t>
            </a:r>
          </a:p>
          <a:p>
            <a:pPr algn="l"/>
            <a:br>
              <a:rPr lang="en-IN" sz="1200" dirty="0">
                <a:solidFill>
                  <a:schemeClr val="tx1"/>
                </a:solidFill>
                <a:latin typeface="Times New Roman" panose="02020603050405020304" pitchFamily="18" charset="0"/>
                <a:cs typeface="Times New Roman" panose="02020603050405020304" pitchFamily="18" charset="0"/>
              </a:rPr>
            </a:br>
            <a:r>
              <a:rPr lang="en-IN" sz="1200" b="0" i="0" dirty="0">
                <a:solidFill>
                  <a:schemeClr val="tx1"/>
                </a:solidFill>
                <a:effectLst/>
                <a:highlight>
                  <a:srgbClr val="FFFFFF"/>
                </a:highlight>
                <a:latin typeface="Times New Roman" panose="02020603050405020304" pitchFamily="18" charset="0"/>
                <a:cs typeface="Times New Roman" panose="02020603050405020304" pitchFamily="18" charset="0"/>
              </a:rPr>
              <a:t>Offset = Master to Slave difference – One-way delay</a:t>
            </a:r>
            <a:br>
              <a:rPr lang="en-IN" sz="1200" dirty="0">
                <a:solidFill>
                  <a:schemeClr val="tx1"/>
                </a:solidFill>
                <a:latin typeface="Times New Roman" panose="02020603050405020304" pitchFamily="18" charset="0"/>
                <a:cs typeface="Times New Roman" panose="02020603050405020304" pitchFamily="18" charset="0"/>
              </a:rPr>
            </a:br>
            <a:endParaRPr lang="en-IN" sz="1200" dirty="0">
              <a:solidFill>
                <a:schemeClr val="tx1"/>
              </a:solidFill>
              <a:latin typeface="Times New Roman" panose="02020603050405020304" pitchFamily="18" charset="0"/>
              <a:cs typeface="Times New Roman" panose="02020603050405020304" pitchFamily="18" charset="0"/>
            </a:endParaRPr>
          </a:p>
          <a:p>
            <a:r>
              <a:rPr lang="en-IN" sz="1200" dirty="0">
                <a:solidFill>
                  <a:schemeClr val="tx1"/>
                </a:solidFill>
                <a:highlight>
                  <a:srgbClr val="FFFFFF"/>
                </a:highlight>
                <a:latin typeface="Times New Roman" panose="02020603050405020304" pitchFamily="18" charset="0"/>
                <a:cs typeface="Times New Roman" panose="02020603050405020304" pitchFamily="18" charset="0"/>
              </a:rPr>
              <a:t>Achieves accuracy in sub microsecond precision</a:t>
            </a:r>
            <a:endParaRPr lang="en-US" sz="1200" dirty="0">
              <a:solidFill>
                <a:schemeClr val="tx1"/>
              </a:solidFill>
              <a:highlight>
                <a:srgbClr val="FFFFFF"/>
              </a:highlight>
              <a:latin typeface="Times New Roman" panose="02020603050405020304" pitchFamily="18" charset="0"/>
              <a:cs typeface="Times New Roman" panose="02020603050405020304" pitchFamily="18" charset="0"/>
            </a:endParaRPr>
          </a:p>
          <a:p>
            <a:pPr algn="l"/>
            <a:endParaRPr lang="en-IN" sz="1200" dirty="0">
              <a:solidFill>
                <a:schemeClr val="tx1"/>
              </a:solidFill>
              <a:latin typeface="Times New Roman" panose="02020603050405020304" pitchFamily="18" charset="0"/>
              <a:cs typeface="Times New Roman" panose="02020603050405020304" pitchFamily="18" charset="0"/>
            </a:endParaRPr>
          </a:p>
          <a:p>
            <a:pPr marL="114300" lvl="0" algn="l" rtl="0">
              <a:spcBef>
                <a:spcPts val="0"/>
              </a:spcBef>
              <a:spcAft>
                <a:spcPts val="0"/>
              </a:spcAft>
              <a:buClr>
                <a:schemeClr val="dk1"/>
              </a:buClr>
              <a:buSzPts val="1800"/>
            </a:pPr>
            <a:endParaRPr sz="1200" dirty="0">
              <a:solidFill>
                <a:schemeClr val="tx1"/>
              </a:solidFill>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Clr>
                <a:schemeClr val="dk2"/>
              </a:buClr>
              <a:buSzPts val="1800"/>
              <a:buChar char="-"/>
            </a:pPr>
            <a:endParaRPr sz="1200" dirty="0">
              <a:solidFill>
                <a:schemeClr val="tx1"/>
              </a:solidFill>
              <a:latin typeface="Times New Roman" panose="02020603050405020304" pitchFamily="18" charset="0"/>
              <a:cs typeface="Times New Roman" panose="02020603050405020304" pitchFamily="18" charset="0"/>
            </a:endParaRPr>
          </a:p>
        </p:txBody>
      </p:sp>
      <p:pic>
        <p:nvPicPr>
          <p:cNvPr id="78" name="Google Shape;78;p16"/>
          <p:cNvPicPr preferRelativeResize="0"/>
          <p:nvPr/>
        </p:nvPicPr>
        <p:blipFill rotWithShape="1">
          <a:blip r:embed="rId3">
            <a:alphaModFix/>
          </a:blip>
          <a:srcRect l="3461" t="4797" r="4218" b="7011"/>
          <a:stretch/>
        </p:blipFill>
        <p:spPr>
          <a:xfrm>
            <a:off x="4934138" y="1367246"/>
            <a:ext cx="4023360" cy="2595154"/>
          </a:xfrm>
          <a:prstGeom prst="rect">
            <a:avLst/>
          </a:prstGeom>
          <a:noFill/>
          <a:ln>
            <a:noFill/>
          </a:ln>
        </p:spPr>
      </p:pic>
      <p:sp>
        <p:nvSpPr>
          <p:cNvPr id="2" name="Title 1">
            <a:extLst>
              <a:ext uri="{FF2B5EF4-FFF2-40B4-BE49-F238E27FC236}">
                <a16:creationId xmlns:a16="http://schemas.microsoft.com/office/drawing/2014/main" id="{1094AE6C-0AD8-70AF-B4F8-DB7A921D4BF7}"/>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4"/>
              </a:rPr>
              <a:t>PTP</a:t>
            </a:r>
            <a:endParaRPr lang="en-US" dirty="0"/>
          </a:p>
        </p:txBody>
      </p:sp>
      <p:sp>
        <p:nvSpPr>
          <p:cNvPr id="3" name="Title 2">
            <a:extLst>
              <a:ext uri="{FF2B5EF4-FFF2-40B4-BE49-F238E27FC236}">
                <a16:creationId xmlns:a16="http://schemas.microsoft.com/office/drawing/2014/main" id="{2A44DE5F-64BE-DF37-4089-C34CC05708FD}"/>
              </a:ext>
            </a:extLst>
          </p:cNvPr>
          <p:cNvSpPr>
            <a:spLocks noGrp="1"/>
          </p:cNvSpPr>
          <p:nvPr>
            <p:ph type="title"/>
          </p:nvPr>
        </p:nvSpPr>
        <p:spPr/>
        <p:txBody>
          <a:bodyPr>
            <a:normAutofit fontScale="90000"/>
          </a:bodyPr>
          <a:lstStyle/>
          <a:p>
            <a:r>
              <a:rPr lang="en-US" dirty="0"/>
              <a:t>Overview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0DA31-0566-95B1-92E1-FF3766EBFC57}"/>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hlinkClick r:id="rId2"/>
              </a:rPr>
              <a:t>Datacenter Time Protocol</a:t>
            </a:r>
            <a:r>
              <a:rPr lang="en-IN"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paper release: 2019</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B9CAA1B-B833-53F4-8ECE-5256DFBD8F5E}"/>
              </a:ext>
            </a:extLst>
          </p:cNvPr>
          <p:cNvSpPr>
            <a:spLocks noGrp="1"/>
          </p:cNvSpPr>
          <p:nvPr>
            <p:ph type="body" idx="1"/>
          </p:nvPr>
        </p:nvSpPr>
        <p:spPr/>
        <p:txBody>
          <a:bodyPr>
            <a:normAutofit/>
          </a:bodyPr>
          <a:lstStyle/>
          <a:p>
            <a:pPr marL="114300" indent="0">
              <a:buNone/>
            </a:pPr>
            <a:r>
              <a:rPr lang="en-US" sz="1400" b="1" dirty="0">
                <a:solidFill>
                  <a:schemeClr val="tx1"/>
                </a:solidFill>
                <a:latin typeface="Times New Roman" panose="02020603050405020304" pitchFamily="18" charset="0"/>
                <a:cs typeface="Times New Roman" panose="02020603050405020304" pitchFamily="18" charset="0"/>
              </a:rPr>
              <a:t>Motivation 1</a:t>
            </a: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Impact of Round-Trip Times (RTTs) on time synchronization</a:t>
            </a:r>
          </a:p>
          <a:p>
            <a:pPr lvl="1"/>
            <a:r>
              <a:rPr lang="en-IN" dirty="0">
                <a:solidFill>
                  <a:schemeClr val="tx1"/>
                </a:solidFill>
                <a:latin typeface="Times New Roman" panose="02020603050405020304" pitchFamily="18" charset="0"/>
                <a:cs typeface="Times New Roman" panose="02020603050405020304" pitchFamily="18" charset="0"/>
              </a:rPr>
              <a:t>Fundamental to accurate time synchronization</a:t>
            </a:r>
          </a:p>
          <a:p>
            <a:pPr lvl="1"/>
            <a:r>
              <a:rPr lang="en-IN" dirty="0">
                <a:solidFill>
                  <a:schemeClr val="tx1"/>
                </a:solidFill>
                <a:latin typeface="Times New Roman" panose="02020603050405020304" pitchFamily="18" charset="0"/>
                <a:cs typeface="Times New Roman" panose="02020603050405020304" pitchFamily="18" charset="0"/>
              </a:rPr>
              <a:t>Lower, consistent RTTs lead to better synchronization precision</a:t>
            </a:r>
          </a:p>
          <a:p>
            <a:pPr lvl="1"/>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Traditional protocols have inherent limitations to meet stringent precision</a:t>
            </a:r>
          </a:p>
          <a:p>
            <a:pPr lvl="1"/>
            <a:r>
              <a:rPr lang="en-US" dirty="0">
                <a:solidFill>
                  <a:schemeClr val="tx1"/>
                </a:solidFill>
                <a:latin typeface="Times New Roman" panose="02020603050405020304" pitchFamily="18" charset="0"/>
                <a:cs typeface="Times New Roman" panose="02020603050405020304" pitchFamily="18" charset="0"/>
              </a:rPr>
              <a:t>Network jitter</a:t>
            </a:r>
          </a:p>
          <a:p>
            <a:pPr lvl="1"/>
            <a:r>
              <a:rPr lang="en-US" dirty="0">
                <a:solidFill>
                  <a:schemeClr val="tx1"/>
                </a:solidFill>
                <a:latin typeface="Times New Roman" panose="02020603050405020304" pitchFamily="18" charset="0"/>
                <a:cs typeface="Times New Roman" panose="02020603050405020304" pitchFamily="18" charset="0"/>
              </a:rPr>
              <a:t>Packet buffering</a:t>
            </a:r>
          </a:p>
          <a:p>
            <a:pPr lvl="1"/>
            <a:r>
              <a:rPr lang="en-US" dirty="0">
                <a:solidFill>
                  <a:schemeClr val="tx1"/>
                </a:solidFill>
                <a:latin typeface="Times New Roman" panose="02020603050405020304" pitchFamily="18" charset="0"/>
                <a:cs typeface="Times New Roman" panose="02020603050405020304" pitchFamily="18" charset="0"/>
              </a:rPr>
              <a:t>Network delays</a:t>
            </a:r>
          </a:p>
          <a:p>
            <a:pPr lvl="1"/>
            <a:r>
              <a:rPr lang="en-US" dirty="0">
                <a:solidFill>
                  <a:schemeClr val="tx1"/>
                </a:solidFill>
                <a:latin typeface="Times New Roman" panose="02020603050405020304" pitchFamily="18" charset="0"/>
                <a:cs typeface="Times New Roman" panose="02020603050405020304" pitchFamily="18" charset="0"/>
              </a:rPr>
              <a:t>Network stack overhead</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b="1" dirty="0">
                <a:solidFill>
                  <a:schemeClr val="tx1"/>
                </a:solidFill>
                <a:latin typeface="Times New Roman" panose="02020603050405020304" pitchFamily="18" charset="0"/>
                <a:cs typeface="Times New Roman" panose="02020603050405020304" pitchFamily="18" charset="0"/>
              </a:rPr>
              <a:t>Hence, there is a need to have </a:t>
            </a:r>
            <a:r>
              <a:rPr lang="en-IN" sz="1400" b="1" dirty="0">
                <a:solidFill>
                  <a:schemeClr val="tx1"/>
                </a:solidFill>
                <a:latin typeface="Times New Roman" panose="02020603050405020304" pitchFamily="18" charset="0"/>
                <a:cs typeface="Times New Roman" panose="02020603050405020304" pitchFamily="18" charset="0"/>
              </a:rPr>
              <a:t>nanosecond precision with no protocol message overhead.</a:t>
            </a:r>
          </a:p>
        </p:txBody>
      </p:sp>
    </p:spTree>
    <p:extLst>
      <p:ext uri="{BB962C8B-B14F-4D97-AF65-F5344CB8AC3E}">
        <p14:creationId xmlns:p14="http://schemas.microsoft.com/office/powerpoint/2010/main" val="3501177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0CACB8-229D-076C-DD3F-CD106998DB65}"/>
              </a:ext>
            </a:extLst>
          </p:cNvPr>
          <p:cNvSpPr>
            <a:spLocks noGrp="1"/>
          </p:cNvSpPr>
          <p:nvPr>
            <p:ph type="body" idx="1"/>
          </p:nvPr>
        </p:nvSpPr>
        <p:spPr>
          <a:xfrm>
            <a:off x="311700" y="863550"/>
            <a:ext cx="8520600" cy="3959462"/>
          </a:xfrm>
        </p:spPr>
        <p:txBody>
          <a:bodyPr>
            <a:normAutofit fontScale="92500" lnSpcReduction="10000"/>
          </a:bodyPr>
          <a:lstStyle/>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Motivation 2</a:t>
            </a:r>
          </a:p>
          <a:p>
            <a:pPr marL="114300" indent="0">
              <a:buNone/>
            </a:pPr>
            <a:r>
              <a:rPr lang="en-IN" sz="1500" b="1" dirty="0">
                <a:solidFill>
                  <a:schemeClr val="tx1"/>
                </a:solidFill>
                <a:latin typeface="Times New Roman" panose="02020603050405020304" pitchFamily="18" charset="0"/>
                <a:cs typeface="Times New Roman" panose="02020603050405020304" pitchFamily="18" charset="0"/>
              </a:rPr>
              <a:t>External Synchronization</a:t>
            </a:r>
            <a:endParaRPr lang="en-IN" sz="15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500" dirty="0">
                <a:solidFill>
                  <a:schemeClr val="tx1"/>
                </a:solidFill>
                <a:latin typeface="Times New Roman" panose="02020603050405020304" pitchFamily="18" charset="0"/>
                <a:cs typeface="Times New Roman" panose="02020603050405020304" pitchFamily="18" charset="0"/>
              </a:rPr>
              <a:t>Synchronizing to true time (e.g., atomic clock, satellite) </a:t>
            </a:r>
          </a:p>
          <a:p>
            <a:pPr marL="114300" indent="0">
              <a:buNone/>
            </a:pPr>
            <a:r>
              <a:rPr lang="en-IN" sz="1500" dirty="0">
                <a:solidFill>
                  <a:schemeClr val="tx1"/>
                </a:solidFill>
                <a:latin typeface="Times New Roman" panose="02020603050405020304" pitchFamily="18" charset="0"/>
                <a:cs typeface="Times New Roman" panose="02020603050405020304" pitchFamily="18" charset="0"/>
              </a:rPr>
              <a:t>Externally synchronized clocks are also internally synchronized, but not vice versa</a:t>
            </a:r>
          </a:p>
          <a:p>
            <a:pPr marL="114300" indent="0">
              <a:buNone/>
            </a:pPr>
            <a:endParaRPr lang="en-IN" sz="15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500" b="1" dirty="0">
                <a:solidFill>
                  <a:schemeClr val="tx1"/>
                </a:solidFill>
                <a:latin typeface="Times New Roman" panose="02020603050405020304" pitchFamily="18" charset="0"/>
                <a:cs typeface="Times New Roman" panose="02020603050405020304" pitchFamily="18" charset="0"/>
              </a:rPr>
              <a:t>Internal Synchronization</a:t>
            </a:r>
          </a:p>
          <a:p>
            <a:pPr marL="114300" indent="0">
              <a:buNone/>
            </a:pPr>
            <a:r>
              <a:rPr lang="en-IN" sz="1500" dirty="0">
                <a:solidFill>
                  <a:schemeClr val="tx1"/>
                </a:solidFill>
                <a:latin typeface="Times New Roman" panose="02020603050405020304" pitchFamily="18" charset="0"/>
                <a:cs typeface="Times New Roman" panose="02020603050405020304" pitchFamily="18" charset="0"/>
              </a:rPr>
              <a:t>Synchronizing with peer processes, with or without regard to true time </a:t>
            </a:r>
          </a:p>
          <a:p>
            <a:pPr marL="114300" indent="0">
              <a:buNone/>
            </a:pPr>
            <a:r>
              <a:rPr lang="en-US" sz="1500" dirty="0">
                <a:solidFill>
                  <a:schemeClr val="tx1"/>
                </a:solidFill>
                <a:latin typeface="Times New Roman" panose="02020603050405020304" pitchFamily="18" charset="0"/>
                <a:cs typeface="Times New Roman" panose="02020603050405020304" pitchFamily="18" charset="0"/>
              </a:rPr>
              <a:t>Most </a:t>
            </a:r>
            <a:r>
              <a:rPr lang="en-IN" sz="1500" dirty="0">
                <a:solidFill>
                  <a:schemeClr val="tx1"/>
                </a:solidFill>
                <a:latin typeface="Times New Roman" panose="02020603050405020304" pitchFamily="18" charset="0"/>
                <a:cs typeface="Times New Roman" panose="02020603050405020304" pitchFamily="18" charset="0"/>
              </a:rPr>
              <a:t>data </a:t>
            </a:r>
            <a:r>
              <a:rPr lang="en-IN" sz="1500" dirty="0" err="1">
                <a:solidFill>
                  <a:schemeClr val="tx1"/>
                </a:solidFill>
                <a:latin typeface="Times New Roman" panose="02020603050405020304" pitchFamily="18" charset="0"/>
                <a:cs typeface="Times New Roman" panose="02020603050405020304" pitchFamily="18" charset="0"/>
              </a:rPr>
              <a:t>center</a:t>
            </a:r>
            <a:r>
              <a:rPr lang="en-IN" sz="1500" dirty="0">
                <a:solidFill>
                  <a:schemeClr val="tx1"/>
                </a:solidFill>
                <a:latin typeface="Times New Roman" panose="02020603050405020304" pitchFamily="18" charset="0"/>
                <a:cs typeface="Times New Roman" panose="02020603050405020304" pitchFamily="18" charset="0"/>
              </a:rPr>
              <a:t> applications require relative time consistency. </a:t>
            </a:r>
          </a:p>
          <a:p>
            <a:pPr marL="114300" indent="0">
              <a:buNone/>
            </a:pPr>
            <a:r>
              <a:rPr lang="en-IN" sz="1500" dirty="0">
                <a:solidFill>
                  <a:schemeClr val="tx1"/>
                </a:solidFill>
                <a:latin typeface="Times New Roman" panose="02020603050405020304" pitchFamily="18" charset="0"/>
                <a:cs typeface="Times New Roman" panose="02020603050405020304" pitchFamily="18" charset="0"/>
              </a:rPr>
              <a:t>Can achieve higher precision eliminating external network delays and uncertainties </a:t>
            </a:r>
          </a:p>
          <a:p>
            <a:pPr marL="114300" indent="0">
              <a:buNone/>
            </a:pPr>
            <a:r>
              <a:rPr lang="en-IN" sz="1500" dirty="0">
                <a:solidFill>
                  <a:schemeClr val="tx1"/>
                </a:solidFill>
                <a:latin typeface="Times New Roman" panose="02020603050405020304" pitchFamily="18" charset="0"/>
                <a:cs typeface="Times New Roman" panose="02020603050405020304" pitchFamily="18" charset="0"/>
              </a:rPr>
              <a:t>Eliminates need for expensive external time source hardware utilizing existing data </a:t>
            </a:r>
            <a:r>
              <a:rPr lang="en-IN" sz="1500" dirty="0" err="1">
                <a:solidFill>
                  <a:schemeClr val="tx1"/>
                </a:solidFill>
                <a:latin typeface="Times New Roman" panose="02020603050405020304" pitchFamily="18" charset="0"/>
                <a:cs typeface="Times New Roman" panose="02020603050405020304" pitchFamily="18" charset="0"/>
              </a:rPr>
              <a:t>center</a:t>
            </a:r>
            <a:r>
              <a:rPr lang="en-IN" sz="1500" dirty="0">
                <a:solidFill>
                  <a:schemeClr val="tx1"/>
                </a:solidFill>
                <a:latin typeface="Times New Roman" panose="02020603050405020304" pitchFamily="18" charset="0"/>
                <a:cs typeface="Times New Roman" panose="02020603050405020304" pitchFamily="18" charset="0"/>
              </a:rPr>
              <a:t> infrastructure</a:t>
            </a:r>
          </a:p>
          <a:p>
            <a:pPr marL="571500" lvl="1" indent="0">
              <a:buNone/>
            </a:pPr>
            <a:r>
              <a:rPr lang="en-IN" sz="1500" b="1" dirty="0">
                <a:solidFill>
                  <a:schemeClr val="tx1"/>
                </a:solidFill>
                <a:latin typeface="Times New Roman" panose="02020603050405020304" pitchFamily="18" charset="0"/>
                <a:cs typeface="Times New Roman" panose="02020603050405020304" pitchFamily="18" charset="0"/>
              </a:rPr>
              <a:t>Examples: </a:t>
            </a:r>
          </a:p>
          <a:p>
            <a:pPr marL="571500" lvl="1" indent="0">
              <a:buNone/>
            </a:pPr>
            <a:r>
              <a:rPr lang="en-IN" sz="1500" dirty="0">
                <a:solidFill>
                  <a:schemeClr val="tx1"/>
                </a:solidFill>
                <a:latin typeface="Times New Roman" panose="02020603050405020304" pitchFamily="18" charset="0"/>
                <a:cs typeface="Times New Roman" panose="02020603050405020304" pitchFamily="18" charset="0"/>
              </a:rPr>
              <a:t>	Measuring one-way delay, </a:t>
            </a:r>
          </a:p>
          <a:p>
            <a:pPr marL="571500" lvl="1" indent="0">
              <a:buNone/>
            </a:pPr>
            <a:r>
              <a:rPr lang="en-IN" sz="1500" dirty="0">
                <a:solidFill>
                  <a:schemeClr val="tx1"/>
                </a:solidFill>
                <a:latin typeface="Times New Roman" panose="02020603050405020304" pitchFamily="18" charset="0"/>
                <a:cs typeface="Times New Roman" panose="02020603050405020304" pitchFamily="18" charset="0"/>
              </a:rPr>
              <a:t>	Processing time, </a:t>
            </a:r>
          </a:p>
          <a:p>
            <a:pPr marL="571500" lvl="1" indent="0">
              <a:buNone/>
            </a:pPr>
            <a:r>
              <a:rPr lang="en-IN" sz="1500" dirty="0">
                <a:solidFill>
                  <a:schemeClr val="tx1"/>
                </a:solidFill>
                <a:latin typeface="Times New Roman" panose="02020603050405020304" pitchFamily="18" charset="0"/>
                <a:cs typeface="Times New Roman" panose="02020603050405020304" pitchFamily="18" charset="0"/>
              </a:rPr>
              <a:t>	Ordering global events</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500" b="1" dirty="0">
                <a:solidFill>
                  <a:schemeClr val="tx1"/>
                </a:solidFill>
                <a:latin typeface="Times New Roman" panose="02020603050405020304" pitchFamily="18" charset="0"/>
                <a:cs typeface="Times New Roman" panose="02020603050405020304" pitchFamily="18" charset="0"/>
              </a:rPr>
              <a:t>Hence, there is a need </a:t>
            </a:r>
            <a:r>
              <a:rPr lang="en-IN" sz="1500" b="1" dirty="0">
                <a:solidFill>
                  <a:schemeClr val="tx1"/>
                </a:solidFill>
                <a:effectLst/>
                <a:latin typeface="Times New Roman" panose="02020603050405020304" pitchFamily="18" charset="0"/>
                <a:cs typeface="Times New Roman" panose="02020603050405020304" pitchFamily="18" charset="0"/>
              </a:rPr>
              <a:t>to achieve internal synchronization with high precision </a:t>
            </a:r>
            <a:endParaRPr lang="en-IN" sz="15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F46A4B42-B6CF-8F41-C57B-81E5E2506338}"/>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3"/>
              </a:rPr>
              <a:t>DTP</a:t>
            </a:r>
            <a:endParaRPr lang="en-US" dirty="0"/>
          </a:p>
        </p:txBody>
      </p:sp>
    </p:spTree>
    <p:extLst>
      <p:ext uri="{BB962C8B-B14F-4D97-AF65-F5344CB8AC3E}">
        <p14:creationId xmlns:p14="http://schemas.microsoft.com/office/powerpoint/2010/main" val="2967724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5CDE-3EA5-A185-9E9C-D338367022F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Contribution</a:t>
            </a:r>
          </a:p>
        </p:txBody>
      </p:sp>
      <p:sp>
        <p:nvSpPr>
          <p:cNvPr id="3" name="Text Placeholder 2">
            <a:extLst>
              <a:ext uri="{FF2B5EF4-FFF2-40B4-BE49-F238E27FC236}">
                <a16:creationId xmlns:a16="http://schemas.microsoft.com/office/drawing/2014/main" id="{CB835853-E911-6C1C-5000-F8817F3FE3F2}"/>
              </a:ext>
            </a:extLst>
          </p:cNvPr>
          <p:cNvSpPr>
            <a:spLocks noGrp="1"/>
          </p:cNvSpPr>
          <p:nvPr>
            <p:ph type="body" idx="1"/>
          </p:nvPr>
        </p:nvSpPr>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DTP provides clock synchronization of all clocks in a datacenter with high precision leveraging physical layer of network stack eliminating non-determinism from measuring RTTs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Use PHY to synchronize clocks because, </a:t>
            </a:r>
          </a:p>
          <a:p>
            <a:pPr lvl="1">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Two peers are already synchronized. </a:t>
            </a:r>
          </a:p>
          <a:p>
            <a:pPr lvl="1">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No network overhead</a:t>
            </a:r>
          </a:p>
          <a:p>
            <a:pPr lvl="1">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Scalable</a:t>
            </a:r>
          </a:p>
          <a:p>
            <a:pPr marL="596900" lvl="1" indent="0">
              <a:buNone/>
            </a:pPr>
            <a:endParaRPr lang="en-US" dirty="0">
              <a:solidFill>
                <a:schemeClr val="tx1"/>
              </a:solidFill>
              <a:latin typeface="Times New Roman" panose="02020603050405020304" pitchFamily="18" charset="0"/>
              <a:cs typeface="Times New Roman" panose="02020603050405020304" pitchFamily="18" charset="0"/>
            </a:endParaRPr>
          </a:p>
          <a:p>
            <a:pPr marL="139700" indent="0">
              <a:buNone/>
            </a:pPr>
            <a:r>
              <a:rPr lang="en-IN" sz="1400" dirty="0">
                <a:solidFill>
                  <a:schemeClr val="tx1"/>
                </a:solidFill>
                <a:latin typeface="Times New Roman" panose="02020603050405020304" pitchFamily="18" charset="0"/>
                <a:cs typeface="Times New Roman" panose="02020603050405020304" pitchFamily="18" charset="0"/>
              </a:rPr>
              <a:t>RX path recovers clock from TX path of sending peer's PHY </a:t>
            </a:r>
          </a:p>
          <a:p>
            <a:pPr marL="139700" indent="0">
              <a:buNone/>
            </a:pPr>
            <a:r>
              <a:rPr lang="en-IN" sz="1400" dirty="0">
                <a:solidFill>
                  <a:schemeClr val="tx1"/>
                </a:solidFill>
                <a:latin typeface="Times New Roman" panose="02020603050405020304" pitchFamily="18" charset="0"/>
                <a:cs typeface="Times New Roman" panose="02020603050405020304" pitchFamily="18" charset="0"/>
              </a:rPr>
              <a:t>Creates a "virtual circuit" of synchronized clocks</a:t>
            </a:r>
            <a:endParaRPr lang="en-US" sz="1400" dirty="0">
              <a:solidFill>
                <a:schemeClr val="tx1"/>
              </a:solidFill>
              <a:latin typeface="Times New Roman" panose="02020603050405020304" pitchFamily="18" charset="0"/>
              <a:cs typeface="Times New Roman" panose="02020603050405020304" pitchFamily="18" charset="0"/>
            </a:endParaRPr>
          </a:p>
          <a:p>
            <a:pPr marL="139700" indent="0">
              <a:buNone/>
            </a:pPr>
            <a:endParaRPr lang="en-US" dirty="0"/>
          </a:p>
        </p:txBody>
      </p:sp>
      <p:pic>
        <p:nvPicPr>
          <p:cNvPr id="4" name="Picture 3">
            <a:extLst>
              <a:ext uri="{FF2B5EF4-FFF2-40B4-BE49-F238E27FC236}">
                <a16:creationId xmlns:a16="http://schemas.microsoft.com/office/drawing/2014/main" id="{A13BFD56-B39A-9A35-490D-7A6B8F2C5055}"/>
              </a:ext>
            </a:extLst>
          </p:cNvPr>
          <p:cNvPicPr>
            <a:picLocks noChangeAspect="1"/>
          </p:cNvPicPr>
          <p:nvPr/>
        </p:nvPicPr>
        <p:blipFill>
          <a:blip r:embed="rId2"/>
          <a:stretch>
            <a:fillRect/>
          </a:stretch>
        </p:blipFill>
        <p:spPr>
          <a:xfrm>
            <a:off x="5301251" y="2043849"/>
            <a:ext cx="3390900" cy="1193800"/>
          </a:xfrm>
          <a:prstGeom prst="rect">
            <a:avLst/>
          </a:prstGeom>
        </p:spPr>
      </p:pic>
      <p:sp>
        <p:nvSpPr>
          <p:cNvPr id="5" name="Title 1">
            <a:extLst>
              <a:ext uri="{FF2B5EF4-FFF2-40B4-BE49-F238E27FC236}">
                <a16:creationId xmlns:a16="http://schemas.microsoft.com/office/drawing/2014/main" id="{A23CBBD4-E97E-5FFD-A2D1-C88793E52DC0}"/>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3"/>
              </a:rPr>
              <a:t>DTP</a:t>
            </a:r>
            <a:endParaRPr lang="en-US" dirty="0"/>
          </a:p>
        </p:txBody>
      </p:sp>
    </p:spTree>
    <p:extLst>
      <p:ext uri="{BB962C8B-B14F-4D97-AF65-F5344CB8AC3E}">
        <p14:creationId xmlns:p14="http://schemas.microsoft.com/office/powerpoint/2010/main" val="3940011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5CDE-3EA5-A185-9E9C-D338367022F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Implementation</a:t>
            </a:r>
          </a:p>
        </p:txBody>
      </p:sp>
      <p:sp>
        <p:nvSpPr>
          <p:cNvPr id="3" name="Text Placeholder 2">
            <a:extLst>
              <a:ext uri="{FF2B5EF4-FFF2-40B4-BE49-F238E27FC236}">
                <a16:creationId xmlns:a16="http://schemas.microsoft.com/office/drawing/2014/main" id="{CB835853-E911-6C1C-5000-F8817F3FE3F2}"/>
              </a:ext>
            </a:extLst>
          </p:cNvPr>
          <p:cNvSpPr>
            <a:spLocks noGrp="1"/>
          </p:cNvSpPr>
          <p:nvPr>
            <p:ph type="body" idx="1"/>
          </p:nvPr>
        </p:nvSpPr>
        <p:spPr/>
        <p:txBody>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According to IEEE 802.3ae, a 10GbS ethernet PHY consists of 66-bit Control block (/E/) and 8 7-bit idle characters (/I/)</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The standard requires at least 12 /I/ interpacket gap so there is at least one /E/ block between packets.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/E/ blocks are sent continuously if no ethernet frames to send. </a:t>
            </a:r>
          </a:p>
          <a:p>
            <a:pPr marL="114300" indent="0">
              <a:buNone/>
            </a:pPr>
            <a:endParaRPr lang="en-IN" sz="140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DTP uses /I/s in the /E/ control block to deliver protocol messages.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Upon processing, </a:t>
            </a:r>
            <a:r>
              <a:rPr lang="en-IN" sz="1400" dirty="0">
                <a:solidFill>
                  <a:schemeClr val="tx1"/>
                </a:solidFill>
                <a:effectLst/>
                <a:latin typeface="Times New Roman" panose="02020603050405020304" pitchFamily="18" charset="0"/>
                <a:cs typeface="Times New Roman" panose="02020603050405020304" pitchFamily="18" charset="0"/>
              </a:rPr>
              <a:t>DTP replaces /E/ blocks with required /I/s </a:t>
            </a:r>
            <a:endParaRPr lang="en-IN" sz="14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5" name="Title 1">
            <a:extLst>
              <a:ext uri="{FF2B5EF4-FFF2-40B4-BE49-F238E27FC236}">
                <a16:creationId xmlns:a16="http://schemas.microsoft.com/office/drawing/2014/main" id="{08DB7C89-3A22-671C-F0FD-DC8481A3E901}"/>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2"/>
              </a:rPr>
              <a:t>DTP</a:t>
            </a:r>
            <a:endParaRPr lang="en-US" dirty="0"/>
          </a:p>
        </p:txBody>
      </p:sp>
    </p:spTree>
    <p:extLst>
      <p:ext uri="{BB962C8B-B14F-4D97-AF65-F5344CB8AC3E}">
        <p14:creationId xmlns:p14="http://schemas.microsoft.com/office/powerpoint/2010/main" val="1697230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5CDE-3EA5-A185-9E9C-D338367022F3}"/>
              </a:ext>
            </a:extLst>
          </p:cNvPr>
          <p:cNvSpPr>
            <a:spLocks noGrp="1"/>
          </p:cNvSpPr>
          <p:nvPr>
            <p:ph type="title"/>
          </p:nvPr>
        </p:nvSpPr>
        <p:spPr/>
        <p:txBody>
          <a:bodyPr>
            <a:normAutofit fontScale="90000"/>
          </a:bodyPr>
          <a:lstStyle/>
          <a:p>
            <a:r>
              <a:rPr lang="en-US" dirty="0">
                <a:solidFill>
                  <a:schemeClr val="tx1"/>
                </a:solidFill>
                <a:latin typeface="Times New Roman" panose="02020603050405020304" pitchFamily="18" charset="0"/>
                <a:cs typeface="Times New Roman" panose="02020603050405020304" pitchFamily="18" charset="0"/>
              </a:rPr>
              <a:t>Implementation</a:t>
            </a:r>
          </a:p>
        </p:txBody>
      </p:sp>
      <p:pic>
        <p:nvPicPr>
          <p:cNvPr id="4" name="Picture 3">
            <a:extLst>
              <a:ext uri="{FF2B5EF4-FFF2-40B4-BE49-F238E27FC236}">
                <a16:creationId xmlns:a16="http://schemas.microsoft.com/office/drawing/2014/main" id="{2A1DE183-8043-EC78-B05B-828164525E39}"/>
              </a:ext>
            </a:extLst>
          </p:cNvPr>
          <p:cNvPicPr>
            <a:picLocks noChangeAspect="1"/>
          </p:cNvPicPr>
          <p:nvPr/>
        </p:nvPicPr>
        <p:blipFill>
          <a:blip r:embed="rId2"/>
          <a:stretch>
            <a:fillRect/>
          </a:stretch>
        </p:blipFill>
        <p:spPr>
          <a:xfrm>
            <a:off x="4326594" y="574625"/>
            <a:ext cx="4817406" cy="4123850"/>
          </a:xfrm>
          <a:prstGeom prst="rect">
            <a:avLst/>
          </a:prstGeom>
        </p:spPr>
      </p:pic>
      <p:sp>
        <p:nvSpPr>
          <p:cNvPr id="3" name="Text Placeholder 2">
            <a:extLst>
              <a:ext uri="{FF2B5EF4-FFF2-40B4-BE49-F238E27FC236}">
                <a16:creationId xmlns:a16="http://schemas.microsoft.com/office/drawing/2014/main" id="{CB835853-E911-6C1C-5000-F8817F3FE3F2}"/>
              </a:ext>
            </a:extLst>
          </p:cNvPr>
          <p:cNvSpPr>
            <a:spLocks noGrp="1"/>
          </p:cNvSpPr>
          <p:nvPr>
            <p:ph type="body" idx="1"/>
          </p:nvPr>
        </p:nvSpPr>
        <p:spPr>
          <a:xfrm>
            <a:off x="311700" y="1152475"/>
            <a:ext cx="4014894" cy="3546000"/>
          </a:xfrm>
        </p:spPr>
        <p:txBody>
          <a:bodyPr>
            <a:normAutofit fontScale="77500" lnSpcReduction="20000"/>
          </a:bodyPr>
          <a:lstStyle/>
          <a:p>
            <a:pPr marL="114300" indent="0">
              <a:buNone/>
            </a:pPr>
            <a:r>
              <a:rPr lang="en-IN" dirty="0">
                <a:solidFill>
                  <a:schemeClr val="tx1"/>
                </a:solidFill>
                <a:latin typeface="Times New Roman" panose="02020603050405020304" pitchFamily="18" charset="0"/>
                <a:cs typeface="Times New Roman" panose="02020603050405020304" pitchFamily="18" charset="0"/>
              </a:rPr>
              <a:t>Each DTP component (TX, CTRL, RX) integrates with the PCS sublayer</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b="1" dirty="0">
                <a:solidFill>
                  <a:schemeClr val="tx1"/>
                </a:solidFill>
                <a:latin typeface="Times New Roman" panose="02020603050405020304" pitchFamily="18" charset="0"/>
                <a:cs typeface="Times New Roman" panose="02020603050405020304" pitchFamily="18" charset="0"/>
              </a:rPr>
              <a:t>DTP TX(Transmit Path)</a:t>
            </a:r>
            <a:r>
              <a:rPr lang="en-IN" dirty="0">
                <a:solidFill>
                  <a:schemeClr val="tx1"/>
                </a:solidFill>
                <a:latin typeface="Times New Roman" panose="02020603050405020304" pitchFamily="18" charset="0"/>
                <a:cs typeface="Times New Roman" panose="02020603050405020304" pitchFamily="18" charset="0"/>
              </a:rPr>
              <a:t> inserts protocol messages into the data stream.</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Uses the same oscillator as other modules in the PCS, ensuring consistent clock domain.</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Protocol message is 3-bit message type+53-bit payload. </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Message types: INIT, INIT-ACK, BEACON, BEACON-JOIN, BEACON MSB</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Payload: Part of the local counter of the sender</a:t>
            </a:r>
          </a:p>
        </p:txBody>
      </p:sp>
      <p:sp>
        <p:nvSpPr>
          <p:cNvPr id="5" name="Title 1">
            <a:extLst>
              <a:ext uri="{FF2B5EF4-FFF2-40B4-BE49-F238E27FC236}">
                <a16:creationId xmlns:a16="http://schemas.microsoft.com/office/drawing/2014/main" id="{CA3E48CC-E6F2-3A97-77E2-3A9C47BB7612}"/>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3"/>
              </a:rPr>
              <a:t>DTP</a:t>
            </a:r>
            <a:endParaRPr lang="en-US" dirty="0"/>
          </a:p>
        </p:txBody>
      </p:sp>
    </p:spTree>
    <p:extLst>
      <p:ext uri="{BB962C8B-B14F-4D97-AF65-F5344CB8AC3E}">
        <p14:creationId xmlns:p14="http://schemas.microsoft.com/office/powerpoint/2010/main" val="4160067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5CDE-3EA5-A185-9E9C-D338367022F3}"/>
              </a:ext>
            </a:extLst>
          </p:cNvPr>
          <p:cNvSpPr>
            <a:spLocks noGrp="1"/>
          </p:cNvSpPr>
          <p:nvPr>
            <p:ph type="title"/>
          </p:nvPr>
        </p:nvSpPr>
        <p:spPr/>
        <p:txBody>
          <a:bodyPr>
            <a:normAutofit fontScale="90000"/>
          </a:bodyPr>
          <a:lstStyle/>
          <a:p>
            <a:r>
              <a:rPr lang="en-US" dirty="0">
                <a:solidFill>
                  <a:schemeClr val="tx1"/>
                </a:solidFill>
                <a:latin typeface="Times New Roman" panose="02020603050405020304" pitchFamily="18" charset="0"/>
                <a:cs typeface="Times New Roman" panose="02020603050405020304" pitchFamily="18" charset="0"/>
              </a:rPr>
              <a:t>Implementation</a:t>
            </a:r>
          </a:p>
        </p:txBody>
      </p:sp>
      <p:pic>
        <p:nvPicPr>
          <p:cNvPr id="4" name="Picture 3">
            <a:extLst>
              <a:ext uri="{FF2B5EF4-FFF2-40B4-BE49-F238E27FC236}">
                <a16:creationId xmlns:a16="http://schemas.microsoft.com/office/drawing/2014/main" id="{2A1DE183-8043-EC78-B05B-828164525E39}"/>
              </a:ext>
            </a:extLst>
          </p:cNvPr>
          <p:cNvPicPr>
            <a:picLocks noChangeAspect="1"/>
          </p:cNvPicPr>
          <p:nvPr/>
        </p:nvPicPr>
        <p:blipFill>
          <a:blip r:embed="rId2"/>
          <a:stretch>
            <a:fillRect/>
          </a:stretch>
        </p:blipFill>
        <p:spPr>
          <a:xfrm>
            <a:off x="4326594" y="574625"/>
            <a:ext cx="4817406" cy="4123850"/>
          </a:xfrm>
          <a:prstGeom prst="rect">
            <a:avLst/>
          </a:prstGeom>
        </p:spPr>
      </p:pic>
      <p:sp>
        <p:nvSpPr>
          <p:cNvPr id="3" name="Text Placeholder 2">
            <a:extLst>
              <a:ext uri="{FF2B5EF4-FFF2-40B4-BE49-F238E27FC236}">
                <a16:creationId xmlns:a16="http://schemas.microsoft.com/office/drawing/2014/main" id="{CB835853-E911-6C1C-5000-F8817F3FE3F2}"/>
              </a:ext>
            </a:extLst>
          </p:cNvPr>
          <p:cNvSpPr>
            <a:spLocks noGrp="1"/>
          </p:cNvSpPr>
          <p:nvPr>
            <p:ph type="body" idx="1"/>
          </p:nvPr>
        </p:nvSpPr>
        <p:spPr>
          <a:xfrm>
            <a:off x="311700" y="1152475"/>
            <a:ext cx="4014894" cy="3416400"/>
          </a:xfrm>
        </p:spPr>
        <p:txBody>
          <a:bodyPr>
            <a:normAutofit/>
          </a:bodyPr>
          <a:lstStyle/>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DTP RX(Receive path) </a:t>
            </a:r>
            <a:r>
              <a:rPr lang="en-IN" sz="1400" dirty="0">
                <a:solidFill>
                  <a:schemeClr val="tx1"/>
                </a:solidFill>
                <a:latin typeface="Times New Roman" panose="02020603050405020304" pitchFamily="18" charset="0"/>
                <a:cs typeface="Times New Roman" panose="02020603050405020304" pitchFamily="18" charset="0"/>
              </a:rPr>
              <a:t>processes incoming protocol message and forward to control logic.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Replace DTP messages with idle characters after processing</a:t>
            </a:r>
          </a:p>
        </p:txBody>
      </p:sp>
      <p:sp>
        <p:nvSpPr>
          <p:cNvPr id="5" name="Title 1">
            <a:extLst>
              <a:ext uri="{FF2B5EF4-FFF2-40B4-BE49-F238E27FC236}">
                <a16:creationId xmlns:a16="http://schemas.microsoft.com/office/drawing/2014/main" id="{DE286589-A6C0-B3B5-0F8B-6D68BC1DC104}"/>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3"/>
              </a:rPr>
              <a:t>DTP</a:t>
            </a:r>
            <a:endParaRPr lang="en-US" dirty="0"/>
          </a:p>
        </p:txBody>
      </p:sp>
    </p:spTree>
    <p:extLst>
      <p:ext uri="{BB962C8B-B14F-4D97-AF65-F5344CB8AC3E}">
        <p14:creationId xmlns:p14="http://schemas.microsoft.com/office/powerpoint/2010/main" val="149139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5CDE-3EA5-A185-9E9C-D338367022F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Implementation</a:t>
            </a:r>
          </a:p>
        </p:txBody>
      </p:sp>
      <p:pic>
        <p:nvPicPr>
          <p:cNvPr id="4" name="Picture 3">
            <a:extLst>
              <a:ext uri="{FF2B5EF4-FFF2-40B4-BE49-F238E27FC236}">
                <a16:creationId xmlns:a16="http://schemas.microsoft.com/office/drawing/2014/main" id="{2A1DE183-8043-EC78-B05B-828164525E39}"/>
              </a:ext>
            </a:extLst>
          </p:cNvPr>
          <p:cNvPicPr>
            <a:picLocks noChangeAspect="1"/>
          </p:cNvPicPr>
          <p:nvPr/>
        </p:nvPicPr>
        <p:blipFill>
          <a:blip r:embed="rId2"/>
          <a:stretch>
            <a:fillRect/>
          </a:stretch>
        </p:blipFill>
        <p:spPr>
          <a:xfrm>
            <a:off x="4326594" y="574625"/>
            <a:ext cx="4817406" cy="4123850"/>
          </a:xfrm>
          <a:prstGeom prst="rect">
            <a:avLst/>
          </a:prstGeom>
        </p:spPr>
      </p:pic>
      <p:sp>
        <p:nvSpPr>
          <p:cNvPr id="3" name="Text Placeholder 2">
            <a:extLst>
              <a:ext uri="{FF2B5EF4-FFF2-40B4-BE49-F238E27FC236}">
                <a16:creationId xmlns:a16="http://schemas.microsoft.com/office/drawing/2014/main" id="{CB835853-E911-6C1C-5000-F8817F3FE3F2}"/>
              </a:ext>
            </a:extLst>
          </p:cNvPr>
          <p:cNvSpPr>
            <a:spLocks noGrp="1"/>
          </p:cNvSpPr>
          <p:nvPr>
            <p:ph type="body" idx="1"/>
          </p:nvPr>
        </p:nvSpPr>
        <p:spPr>
          <a:xfrm>
            <a:off x="311700" y="1152475"/>
            <a:ext cx="4014894" cy="3416400"/>
          </a:xfrm>
        </p:spPr>
        <p:txBody>
          <a:bodyPr>
            <a:normAutofit/>
          </a:bodyPr>
          <a:lstStyle/>
          <a:p>
            <a:pPr marL="114300" indent="0">
              <a:buNone/>
            </a:pPr>
            <a:endParaRPr lang="en-IN" sz="1400" dirty="0">
              <a:latin typeface="Times New Roman" panose="02020603050405020304" pitchFamily="18" charset="0"/>
              <a:cs typeface="Times New Roman" panose="02020603050405020304" pitchFamily="18" charset="0"/>
            </a:endParaRP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DTP CTRL(Control Logic)</a:t>
            </a:r>
            <a:r>
              <a:rPr lang="en-IN" sz="1400" dirty="0">
                <a:solidFill>
                  <a:schemeClr val="tx1"/>
                </a:solidFill>
                <a:latin typeface="Times New Roman" panose="02020603050405020304" pitchFamily="18" charset="0"/>
                <a:cs typeface="Times New Roman" panose="02020603050405020304" pitchFamily="18" charset="0"/>
              </a:rPr>
              <a:t> manages synchronization logic and local clock counter.</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Adjust clock based on received BEACON messages</a:t>
            </a:r>
          </a:p>
        </p:txBody>
      </p:sp>
      <p:sp>
        <p:nvSpPr>
          <p:cNvPr id="5" name="Title 1">
            <a:extLst>
              <a:ext uri="{FF2B5EF4-FFF2-40B4-BE49-F238E27FC236}">
                <a16:creationId xmlns:a16="http://schemas.microsoft.com/office/drawing/2014/main" id="{74A4051F-33C5-A67D-D3CC-1EFA735381EA}"/>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3"/>
              </a:rPr>
              <a:t>DTP</a:t>
            </a:r>
            <a:endParaRPr lang="en-US" dirty="0"/>
          </a:p>
        </p:txBody>
      </p:sp>
    </p:spTree>
    <p:extLst>
      <p:ext uri="{BB962C8B-B14F-4D97-AF65-F5344CB8AC3E}">
        <p14:creationId xmlns:p14="http://schemas.microsoft.com/office/powerpoint/2010/main" val="563611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5CDE-3EA5-A185-9E9C-D338367022F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Deployment – Hardware changes</a:t>
            </a:r>
          </a:p>
        </p:txBody>
      </p:sp>
      <p:sp>
        <p:nvSpPr>
          <p:cNvPr id="3" name="Text Placeholder 2">
            <a:extLst>
              <a:ext uri="{FF2B5EF4-FFF2-40B4-BE49-F238E27FC236}">
                <a16:creationId xmlns:a16="http://schemas.microsoft.com/office/drawing/2014/main" id="{CB835853-E911-6C1C-5000-F8817F3FE3F2}"/>
              </a:ext>
            </a:extLst>
          </p:cNvPr>
          <p:cNvSpPr>
            <a:spLocks noGrp="1"/>
          </p:cNvSpPr>
          <p:nvPr>
            <p:ph type="body" idx="1"/>
          </p:nvPr>
        </p:nvSpPr>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Best implemented inside the switching chip.</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DTP-enabled switches create a DTP-enabled network.</a:t>
            </a:r>
          </a:p>
          <a:p>
            <a:pPr marL="114300" indent="0">
              <a:buNone/>
            </a:pPr>
            <a:endParaRPr lang="en-IN" sz="140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PTP uses a similar approach to improve precision </a:t>
            </a: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Hence, deployment cost is similar to Precision Time Protocol (PTP).</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Alternatively, </a:t>
            </a:r>
            <a:r>
              <a:rPr lang="en-IN" sz="1400" dirty="0">
                <a:solidFill>
                  <a:schemeClr val="tx1"/>
                </a:solidFill>
                <a:latin typeface="Times New Roman" panose="02020603050405020304" pitchFamily="18" charset="0"/>
                <a:cs typeface="Times New Roman" panose="02020603050405020304" pitchFamily="18" charset="0"/>
              </a:rPr>
              <a:t>use FPGA-based NICs and switches for flexible firmware updates.</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Implement customized PHYs with high-speed transceivers.</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Incremental deployment </a:t>
            </a:r>
            <a:r>
              <a:rPr lang="en-IN" sz="1400" dirty="0">
                <a:solidFill>
                  <a:schemeClr val="tx1"/>
                </a:solidFill>
                <a:latin typeface="Times New Roman" panose="02020603050405020304" pitchFamily="18" charset="0"/>
                <a:cs typeface="Times New Roman" panose="02020603050405020304" pitchFamily="18" charset="0"/>
              </a:rPr>
              <a:t>by updating racks and switches in stages.</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5AA32FA-C101-8DE6-0C2F-60359EC10E5F}"/>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2"/>
              </a:rPr>
              <a:t>DTP</a:t>
            </a:r>
            <a:endParaRPr lang="en-US" dirty="0"/>
          </a:p>
        </p:txBody>
      </p:sp>
    </p:spTree>
    <p:extLst>
      <p:ext uri="{BB962C8B-B14F-4D97-AF65-F5344CB8AC3E}">
        <p14:creationId xmlns:p14="http://schemas.microsoft.com/office/powerpoint/2010/main" val="2363825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5CDE-3EA5-A185-9E9C-D338367022F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 - PTP</a:t>
            </a:r>
          </a:p>
        </p:txBody>
      </p:sp>
      <p:sp>
        <p:nvSpPr>
          <p:cNvPr id="3" name="Text Placeholder 2">
            <a:extLst>
              <a:ext uri="{FF2B5EF4-FFF2-40B4-BE49-F238E27FC236}">
                <a16:creationId xmlns:a16="http://schemas.microsoft.com/office/drawing/2014/main" id="{CB835853-E911-6C1C-5000-F8817F3FE3F2}"/>
              </a:ext>
            </a:extLst>
          </p:cNvPr>
          <p:cNvSpPr>
            <a:spLocks noGrp="1"/>
          </p:cNvSpPr>
          <p:nvPr>
            <p:ph type="body" idx="1"/>
          </p:nvPr>
        </p:nvSpPr>
        <p:spPr>
          <a:xfrm>
            <a:off x="311700" y="1147482"/>
            <a:ext cx="5024914" cy="1000543"/>
          </a:xfrm>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Idle Network (No Network Traffic) - Clocks differ by a few hundred nanoseconds</a:t>
            </a:r>
          </a:p>
        </p:txBody>
      </p:sp>
      <p:sp>
        <p:nvSpPr>
          <p:cNvPr id="5" name="Title 1">
            <a:extLst>
              <a:ext uri="{FF2B5EF4-FFF2-40B4-BE49-F238E27FC236}">
                <a16:creationId xmlns:a16="http://schemas.microsoft.com/office/drawing/2014/main" id="{744DB539-04CB-60DD-8BB1-E90EC6AE20A0}"/>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2"/>
              </a:rPr>
              <a:t>DTP</a:t>
            </a:r>
            <a:endParaRPr lang="en-US" dirty="0"/>
          </a:p>
        </p:txBody>
      </p:sp>
      <p:pic>
        <p:nvPicPr>
          <p:cNvPr id="6" name="Picture 5">
            <a:extLst>
              <a:ext uri="{FF2B5EF4-FFF2-40B4-BE49-F238E27FC236}">
                <a16:creationId xmlns:a16="http://schemas.microsoft.com/office/drawing/2014/main" id="{88343CD9-8723-6123-1300-1D4167F9189C}"/>
              </a:ext>
            </a:extLst>
          </p:cNvPr>
          <p:cNvPicPr>
            <a:picLocks noChangeAspect="1"/>
          </p:cNvPicPr>
          <p:nvPr/>
        </p:nvPicPr>
        <p:blipFill rotWithShape="1">
          <a:blip r:embed="rId3"/>
          <a:srcRect t="8332" r="3007" b="1681"/>
          <a:stretch/>
        </p:blipFill>
        <p:spPr>
          <a:xfrm>
            <a:off x="5648314" y="787272"/>
            <a:ext cx="2977600" cy="1370867"/>
          </a:xfrm>
          <a:prstGeom prst="rect">
            <a:avLst/>
          </a:prstGeom>
        </p:spPr>
      </p:pic>
      <p:pic>
        <p:nvPicPr>
          <p:cNvPr id="7" name="Picture 6">
            <a:extLst>
              <a:ext uri="{FF2B5EF4-FFF2-40B4-BE49-F238E27FC236}">
                <a16:creationId xmlns:a16="http://schemas.microsoft.com/office/drawing/2014/main" id="{D9B458B6-3796-C067-1E6E-27F513A1B05F}"/>
              </a:ext>
            </a:extLst>
          </p:cNvPr>
          <p:cNvPicPr>
            <a:picLocks noChangeAspect="1"/>
          </p:cNvPicPr>
          <p:nvPr/>
        </p:nvPicPr>
        <p:blipFill>
          <a:blip r:embed="rId4"/>
          <a:stretch>
            <a:fillRect/>
          </a:stretch>
        </p:blipFill>
        <p:spPr>
          <a:xfrm>
            <a:off x="5766250" y="2188567"/>
            <a:ext cx="2911676" cy="1370867"/>
          </a:xfrm>
          <a:prstGeom prst="rect">
            <a:avLst/>
          </a:prstGeom>
        </p:spPr>
      </p:pic>
      <p:pic>
        <p:nvPicPr>
          <p:cNvPr id="8" name="Picture 7">
            <a:extLst>
              <a:ext uri="{FF2B5EF4-FFF2-40B4-BE49-F238E27FC236}">
                <a16:creationId xmlns:a16="http://schemas.microsoft.com/office/drawing/2014/main" id="{D4D35136-690D-EF76-D176-64D52B9313B6}"/>
              </a:ext>
            </a:extLst>
          </p:cNvPr>
          <p:cNvPicPr>
            <a:picLocks noChangeAspect="1"/>
          </p:cNvPicPr>
          <p:nvPr/>
        </p:nvPicPr>
        <p:blipFill rotWithShape="1">
          <a:blip r:embed="rId5"/>
          <a:srcRect t="5378"/>
          <a:stretch/>
        </p:blipFill>
        <p:spPr>
          <a:xfrm>
            <a:off x="5726938" y="3628098"/>
            <a:ext cx="2990300" cy="1370867"/>
          </a:xfrm>
          <a:prstGeom prst="rect">
            <a:avLst/>
          </a:prstGeom>
        </p:spPr>
      </p:pic>
      <p:sp>
        <p:nvSpPr>
          <p:cNvPr id="9" name="Text Placeholder 2">
            <a:extLst>
              <a:ext uri="{FF2B5EF4-FFF2-40B4-BE49-F238E27FC236}">
                <a16:creationId xmlns:a16="http://schemas.microsoft.com/office/drawing/2014/main" id="{775C385B-F666-B0CF-10BD-8F8DFB112204}"/>
              </a:ext>
            </a:extLst>
          </p:cNvPr>
          <p:cNvSpPr txBox="1">
            <a:spLocks/>
          </p:cNvSpPr>
          <p:nvPr/>
        </p:nvSpPr>
        <p:spPr>
          <a:xfrm>
            <a:off x="311700" y="2375142"/>
            <a:ext cx="5024914" cy="84745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IN" sz="1400" dirty="0">
                <a:solidFill>
                  <a:schemeClr val="tx1"/>
                </a:solidFill>
                <a:latin typeface="Times New Roman" panose="02020603050405020304" pitchFamily="18" charset="0"/>
                <a:cs typeface="Times New Roman" panose="02020603050405020304" pitchFamily="18" charset="0"/>
              </a:rPr>
              <a:t>Medium Loaded Network (4Gbps Traffic) - Clocks differ by tens of microseconds</a:t>
            </a:r>
          </a:p>
        </p:txBody>
      </p:sp>
      <p:sp>
        <p:nvSpPr>
          <p:cNvPr id="10" name="Text Placeholder 2">
            <a:extLst>
              <a:ext uri="{FF2B5EF4-FFF2-40B4-BE49-F238E27FC236}">
                <a16:creationId xmlns:a16="http://schemas.microsoft.com/office/drawing/2014/main" id="{2C4547E1-1B20-123A-0390-649CBBAB4AAE}"/>
              </a:ext>
            </a:extLst>
          </p:cNvPr>
          <p:cNvSpPr txBox="1">
            <a:spLocks/>
          </p:cNvSpPr>
          <p:nvPr/>
        </p:nvSpPr>
        <p:spPr>
          <a:xfrm>
            <a:off x="370939" y="3701487"/>
            <a:ext cx="5024914" cy="929722"/>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IN" sz="1400" dirty="0">
                <a:solidFill>
                  <a:schemeClr val="tx1"/>
                </a:solidFill>
                <a:latin typeface="Times New Roman" panose="02020603050405020304" pitchFamily="18" charset="0"/>
                <a:cs typeface="Times New Roman" panose="02020603050405020304" pitchFamily="18" charset="0"/>
              </a:rPr>
              <a:t>Heavily Loaded Network (9Gbps Traffic) - Clocks differ by hundreds of microseconds</a:t>
            </a:r>
            <a:endParaRPr lang="en-US"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8059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5CDE-3EA5-A185-9E9C-D338367022F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 - DTP</a:t>
            </a:r>
          </a:p>
        </p:txBody>
      </p:sp>
      <p:sp>
        <p:nvSpPr>
          <p:cNvPr id="3" name="Text Placeholder 2">
            <a:extLst>
              <a:ext uri="{FF2B5EF4-FFF2-40B4-BE49-F238E27FC236}">
                <a16:creationId xmlns:a16="http://schemas.microsoft.com/office/drawing/2014/main" id="{CB835853-E911-6C1C-5000-F8817F3FE3F2}"/>
              </a:ext>
            </a:extLst>
          </p:cNvPr>
          <p:cNvSpPr>
            <a:spLocks noGrp="1"/>
          </p:cNvSpPr>
          <p:nvPr>
            <p:ph type="body" idx="1"/>
          </p:nvPr>
        </p:nvSpPr>
        <p:spPr>
          <a:xfrm>
            <a:off x="311700" y="3118023"/>
            <a:ext cx="8520600" cy="1450851"/>
          </a:xfrm>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Clocks never differed by more than 4 clock ticks, 25ns Bounded Precision</a:t>
            </a:r>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2A0EE19-21A8-5622-DB23-C22F2E5529E6}"/>
              </a:ext>
            </a:extLst>
          </p:cNvPr>
          <p:cNvPicPr>
            <a:picLocks noChangeAspect="1"/>
          </p:cNvPicPr>
          <p:nvPr/>
        </p:nvPicPr>
        <p:blipFill>
          <a:blip r:embed="rId2"/>
          <a:stretch>
            <a:fillRect/>
          </a:stretch>
        </p:blipFill>
        <p:spPr>
          <a:xfrm>
            <a:off x="398124" y="1017725"/>
            <a:ext cx="7772400" cy="2021025"/>
          </a:xfrm>
          <a:prstGeom prst="rect">
            <a:avLst/>
          </a:prstGeom>
        </p:spPr>
      </p:pic>
      <p:pic>
        <p:nvPicPr>
          <p:cNvPr id="6" name="Picture 5">
            <a:extLst>
              <a:ext uri="{FF2B5EF4-FFF2-40B4-BE49-F238E27FC236}">
                <a16:creationId xmlns:a16="http://schemas.microsoft.com/office/drawing/2014/main" id="{E3015354-297A-F5C4-F0CF-2847F25D281B}"/>
              </a:ext>
            </a:extLst>
          </p:cNvPr>
          <p:cNvPicPr>
            <a:picLocks noChangeAspect="1"/>
          </p:cNvPicPr>
          <p:nvPr/>
        </p:nvPicPr>
        <p:blipFill>
          <a:blip r:embed="rId3"/>
          <a:stretch>
            <a:fillRect/>
          </a:stretch>
        </p:blipFill>
        <p:spPr>
          <a:xfrm>
            <a:off x="5639955" y="1165591"/>
            <a:ext cx="3309477" cy="1255628"/>
          </a:xfrm>
          <a:prstGeom prst="rect">
            <a:avLst/>
          </a:prstGeom>
        </p:spPr>
      </p:pic>
      <p:sp>
        <p:nvSpPr>
          <p:cNvPr id="7" name="Title 1">
            <a:extLst>
              <a:ext uri="{FF2B5EF4-FFF2-40B4-BE49-F238E27FC236}">
                <a16:creationId xmlns:a16="http://schemas.microsoft.com/office/drawing/2014/main" id="{0F0999E2-5A7B-1903-29DE-55F504A8332E}"/>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hlinkClick r:id="rId4"/>
              </a:rPr>
              <a:t>DTP</a:t>
            </a:r>
            <a:endParaRPr lang="en-US" dirty="0"/>
          </a:p>
        </p:txBody>
      </p:sp>
    </p:spTree>
    <p:extLst>
      <p:ext uri="{BB962C8B-B14F-4D97-AF65-F5344CB8AC3E}">
        <p14:creationId xmlns:p14="http://schemas.microsoft.com/office/powerpoint/2010/main" val="1463906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BB1C3D-A1CA-230D-502C-876596A47A70}"/>
              </a:ext>
            </a:extLst>
          </p:cNvPr>
          <p:cNvSpPr>
            <a:spLocks noGrp="1"/>
          </p:cNvSpPr>
          <p:nvPr>
            <p:ph type="title"/>
          </p:nvPr>
        </p:nvSpPr>
        <p:spPr>
          <a:xfrm>
            <a:off x="374453" y="140225"/>
            <a:ext cx="8520600" cy="572700"/>
          </a:xfrm>
        </p:spPr>
        <p:txBody>
          <a:bodyPr>
            <a:noAutofit/>
          </a:bodyPr>
          <a:lstStyle/>
          <a:p>
            <a:r>
              <a:rPr lang="en-US" sz="1800" dirty="0">
                <a:latin typeface="Times New Roman" panose="02020603050405020304" pitchFamily="18" charset="0"/>
                <a:cs typeface="Times New Roman" panose="02020603050405020304" pitchFamily="18" charset="0"/>
                <a:hlinkClick r:id="rId2"/>
              </a:rPr>
              <a:t>Huygen: Exploiting a Natural Network Effect for Scalable, Fine-grained Clock Synchronization</a:t>
            </a:r>
            <a:r>
              <a:rPr lang="en-US" sz="1800" dirty="0">
                <a:latin typeface="Times New Roman" panose="02020603050405020304" pitchFamily="18" charset="0"/>
                <a:cs typeface="Times New Roman" panose="02020603050405020304" pitchFamily="18" charset="0"/>
              </a:rPr>
              <a:t>, </a:t>
            </a:r>
            <a:r>
              <a:rPr lang="en-US" sz="1100" dirty="0">
                <a:latin typeface="Times New Roman" panose="02020603050405020304" pitchFamily="18" charset="0"/>
                <a:cs typeface="Times New Roman" panose="02020603050405020304" pitchFamily="18" charset="0"/>
              </a:rPr>
              <a:t>2018</a:t>
            </a:r>
            <a:endParaRPr lang="en-US" sz="1800" dirty="0">
              <a:latin typeface="Times New Roman" panose="02020603050405020304" pitchFamily="18" charset="0"/>
              <a:cs typeface="Times New Roman" panose="02020603050405020304" pitchFamily="18" charset="0"/>
            </a:endParaRPr>
          </a:p>
        </p:txBody>
      </p:sp>
      <p:sp>
        <p:nvSpPr>
          <p:cNvPr id="9" name="Text Placeholder 2">
            <a:extLst>
              <a:ext uri="{FF2B5EF4-FFF2-40B4-BE49-F238E27FC236}">
                <a16:creationId xmlns:a16="http://schemas.microsoft.com/office/drawing/2014/main" id="{CE2F7500-B26B-2423-E61D-26C8732D46EA}"/>
              </a:ext>
            </a:extLst>
          </p:cNvPr>
          <p:cNvSpPr>
            <a:spLocks noGrp="1"/>
          </p:cNvSpPr>
          <p:nvPr>
            <p:ph type="body" idx="1"/>
          </p:nvPr>
        </p:nvSpPr>
        <p:spPr>
          <a:xfrm>
            <a:off x="311700" y="1438825"/>
            <a:ext cx="8520600" cy="3416400"/>
          </a:xfrm>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New applications are driving the need for very fine-grained clock synchronization with improved accuracy and lower cost compared to current solutions.</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Example use cases:</a:t>
            </a:r>
            <a:endParaRPr lang="en-IN" sz="1400" dirty="0">
              <a:solidFill>
                <a:schemeClr val="tx1"/>
              </a:solidFill>
              <a:latin typeface="Times New Roman" panose="02020603050405020304" pitchFamily="18" charset="0"/>
              <a:cs typeface="Times New Roman" panose="02020603050405020304" pitchFamily="18" charset="0"/>
            </a:endParaRPr>
          </a:p>
          <a:p>
            <a:pPr lvl="1">
              <a:buFontTx/>
              <a:buChar char="-"/>
            </a:pPr>
            <a:r>
              <a:rPr lang="en-IN" sz="1400" dirty="0">
                <a:solidFill>
                  <a:schemeClr val="tx1"/>
                </a:solidFill>
                <a:latin typeface="Times New Roman" panose="02020603050405020304" pitchFamily="18" charset="0"/>
                <a:cs typeface="Times New Roman" panose="02020603050405020304" pitchFamily="18" charset="0"/>
              </a:rPr>
              <a:t>In distributed databases like Spanner, clock uncertainty (T) directly impacts write transaction latency and overall performance. </a:t>
            </a:r>
          </a:p>
          <a:p>
            <a:pPr lvl="1">
              <a:buFontTx/>
              <a:buChar char="-"/>
            </a:pPr>
            <a:endParaRPr lang="en-IN" dirty="0">
              <a:solidFill>
                <a:schemeClr val="tx1"/>
              </a:solidFill>
              <a:latin typeface="Times New Roman" panose="02020603050405020304" pitchFamily="18" charset="0"/>
              <a:cs typeface="Times New Roman" panose="02020603050405020304" pitchFamily="18" charset="0"/>
            </a:endParaRPr>
          </a:p>
          <a:p>
            <a:pPr lvl="1">
              <a:buFontTx/>
              <a:buChar char="-"/>
            </a:pPr>
            <a:r>
              <a:rPr lang="en-IN" dirty="0" err="1">
                <a:solidFill>
                  <a:schemeClr val="tx1"/>
                </a:solidFill>
                <a:latin typeface="Times New Roman" panose="02020603050405020304" pitchFamily="18" charset="0"/>
                <a:cs typeface="Times New Roman" panose="02020603050405020304" pitchFamily="18" charset="0"/>
              </a:rPr>
              <a:t>CockroachDB</a:t>
            </a:r>
            <a:r>
              <a:rPr lang="en-IN" dirty="0">
                <a:solidFill>
                  <a:schemeClr val="tx1"/>
                </a:solidFill>
                <a:latin typeface="Times New Roman" panose="02020603050405020304" pitchFamily="18" charset="0"/>
                <a:cs typeface="Times New Roman" panose="02020603050405020304" pitchFamily="18" charset="0"/>
              </a:rPr>
              <a:t> showed that reducing clock uncertainty from 1ms to 100ns decreased read retry rates from 99.30% to 0.08%.</a:t>
            </a:r>
          </a:p>
          <a:p>
            <a:pPr marL="596900" lvl="1"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Current synchronization methods (NTP, PTP, PPS, DTP) either lack accuracy or require expensive hardware upgrades.</a:t>
            </a:r>
          </a:p>
          <a:p>
            <a:pPr>
              <a:buFont typeface="Arial" panose="020B0604020202020204" pitchFamily="34" charset="0"/>
              <a:buChar char="•"/>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48C8E887-B040-291E-2E63-975368E488C1}"/>
              </a:ext>
            </a:extLst>
          </p:cNvPr>
          <p:cNvSpPr txBox="1">
            <a:spLocks/>
          </p:cNvSpPr>
          <p:nvPr/>
        </p:nvSpPr>
        <p:spPr>
          <a:xfrm>
            <a:off x="374453" y="86612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800" b="1" dirty="0">
                <a:latin typeface="Times New Roman" panose="02020603050405020304" pitchFamily="18" charset="0"/>
                <a:cs typeface="Times New Roman" panose="02020603050405020304" pitchFamily="18" charset="0"/>
              </a:rPr>
              <a:t>Motivation</a:t>
            </a:r>
          </a:p>
        </p:txBody>
      </p:sp>
    </p:spTree>
    <p:extLst>
      <p:ext uri="{BB962C8B-B14F-4D97-AF65-F5344CB8AC3E}">
        <p14:creationId xmlns:p14="http://schemas.microsoft.com/office/powerpoint/2010/main" val="499104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A9BE-FBEC-FCBC-2436-CB40A7048C28}"/>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Contributions</a:t>
            </a:r>
          </a:p>
        </p:txBody>
      </p:sp>
      <p:sp>
        <p:nvSpPr>
          <p:cNvPr id="3" name="Text Placeholder 2">
            <a:extLst>
              <a:ext uri="{FF2B5EF4-FFF2-40B4-BE49-F238E27FC236}">
                <a16:creationId xmlns:a16="http://schemas.microsoft.com/office/drawing/2014/main" id="{A12E3FEF-5213-CA5C-6AA5-297F876CA72D}"/>
              </a:ext>
            </a:extLst>
          </p:cNvPr>
          <p:cNvSpPr>
            <a:spLocks noGrp="1"/>
          </p:cNvSpPr>
          <p:nvPr>
            <p:ph type="body" idx="1"/>
          </p:nvPr>
        </p:nvSpPr>
        <p:spPr/>
        <p:txBody>
          <a:bodyPr>
            <a:normAutofit/>
          </a:bodyPr>
          <a:lstStyle/>
          <a:p>
            <a:pPr>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Comprehensive study of clock discrepancies in real-world networks.</a:t>
            </a:r>
          </a:p>
          <a:p>
            <a:pPr>
              <a:buFont typeface="+mj-lt"/>
              <a:buAutoNum type="arabicPeriod"/>
            </a:pPr>
            <a:endParaRPr lang="en-IN" sz="1400"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HUYGENS and HUYGENS-R algorithms for offline timestamp alignment and real-time clock synchronization in distributed systems.</a:t>
            </a:r>
          </a:p>
          <a:p>
            <a:pPr>
              <a:buFont typeface="+mj-lt"/>
              <a:buAutoNum type="arabicPeriod"/>
            </a:pPr>
            <a:endParaRPr lang="en-IN" sz="1400"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Proposal of a lightweight implementation that achieves high accuracy with minimal resource overhead.</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EE36946A-88A2-1247-649F-B37F4AF62B93}"/>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2"/>
              </a:rPr>
              <a:t>Huygen</a:t>
            </a:r>
            <a:endParaRPr lang="en-US" dirty="0"/>
          </a:p>
        </p:txBody>
      </p:sp>
    </p:spTree>
    <p:extLst>
      <p:ext uri="{BB962C8B-B14F-4D97-AF65-F5344CB8AC3E}">
        <p14:creationId xmlns:p14="http://schemas.microsoft.com/office/powerpoint/2010/main" val="1843031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A9BE-FBEC-FCBC-2436-CB40A7048C28}"/>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Study of clocks</a:t>
            </a:r>
          </a:p>
        </p:txBody>
      </p:sp>
      <p:sp>
        <p:nvSpPr>
          <p:cNvPr id="3" name="Text Placeholder 2">
            <a:extLst>
              <a:ext uri="{FF2B5EF4-FFF2-40B4-BE49-F238E27FC236}">
                <a16:creationId xmlns:a16="http://schemas.microsoft.com/office/drawing/2014/main" id="{A12E3FEF-5213-CA5C-6AA5-297F876CA72D}"/>
              </a:ext>
            </a:extLst>
          </p:cNvPr>
          <p:cNvSpPr>
            <a:spLocks noGrp="1"/>
          </p:cNvSpPr>
          <p:nvPr>
            <p:ph type="body" idx="1"/>
          </p:nvPr>
        </p:nvSpPr>
        <p:spPr>
          <a:xfrm>
            <a:off x="311700" y="1152475"/>
            <a:ext cx="5774090" cy="1861715"/>
          </a:xfrm>
        </p:spPr>
        <p:txBody>
          <a:bodyPr>
            <a:normAutofit lnSpcReduction="10000"/>
          </a:bodyPr>
          <a:lstStyle/>
          <a:p>
            <a:pPr marL="114300" indent="0">
              <a:buNone/>
            </a:pPr>
            <a:r>
              <a:rPr lang="en-IN" sz="1300" dirty="0">
                <a:solidFill>
                  <a:schemeClr val="tx1"/>
                </a:solidFill>
                <a:effectLst/>
                <a:latin typeface="Times New Roman" panose="02020603050405020304" pitchFamily="18" charset="0"/>
                <a:cs typeface="Times New Roman" panose="02020603050405020304" pitchFamily="18" charset="0"/>
              </a:rPr>
              <a:t>The clock offset between two servers in 2 second by coded probes.</a:t>
            </a:r>
          </a:p>
          <a:p>
            <a:pPr marL="114300" indent="0">
              <a:buNone/>
            </a:pPr>
            <a:endParaRPr lang="en-IN" sz="13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300" dirty="0">
                <a:solidFill>
                  <a:schemeClr val="tx1"/>
                </a:solidFill>
                <a:effectLst/>
                <a:latin typeface="Times New Roman" panose="02020603050405020304" pitchFamily="18" charset="0"/>
                <a:cs typeface="Times New Roman" panose="02020603050405020304" pitchFamily="18" charset="0"/>
              </a:rPr>
              <a:t>Coded probe is 64-byte UDP packets between two servers forward and backword.</a:t>
            </a:r>
          </a:p>
          <a:p>
            <a:pPr marL="114300" indent="0">
              <a:buNone/>
            </a:pPr>
            <a:endParaRPr lang="en-IN" sz="130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sz="1300" dirty="0">
                <a:solidFill>
                  <a:schemeClr val="tx1"/>
                </a:solidFill>
                <a:latin typeface="Times New Roman" panose="02020603050405020304" pitchFamily="18" charset="0"/>
                <a:cs typeface="Times New Roman" panose="02020603050405020304" pitchFamily="18" charset="0"/>
              </a:rPr>
              <a:t>The average of the two intercepts is the </a:t>
            </a:r>
            <a:r>
              <a:rPr lang="en-IN" sz="1300" b="1" dirty="0">
                <a:solidFill>
                  <a:schemeClr val="tx1"/>
                </a:solidFill>
                <a:latin typeface="Times New Roman" panose="02020603050405020304" pitchFamily="18" charset="0"/>
                <a:cs typeface="Times New Roman" panose="02020603050405020304" pitchFamily="18" charset="0"/>
              </a:rPr>
              <a:t>offset</a:t>
            </a:r>
            <a:r>
              <a:rPr lang="en-IN" sz="1300" dirty="0">
                <a:solidFill>
                  <a:schemeClr val="tx1"/>
                </a:solidFill>
                <a:latin typeface="Times New Roman" panose="02020603050405020304" pitchFamily="18" charset="0"/>
                <a:cs typeface="Times New Roman" panose="02020603050405020304" pitchFamily="18" charset="0"/>
              </a:rPr>
              <a:t> between the two clocks</a:t>
            </a:r>
          </a:p>
          <a:p>
            <a:pPr marL="571500" lvl="1" indent="0">
              <a:buNone/>
            </a:pPr>
            <a:r>
              <a:rPr lang="en-IN" sz="1300" dirty="0">
                <a:solidFill>
                  <a:schemeClr val="tx1"/>
                </a:solidFill>
                <a:latin typeface="Times New Roman" panose="02020603050405020304" pitchFamily="18" charset="0"/>
                <a:cs typeface="Times New Roman" panose="02020603050405020304" pitchFamily="18" charset="0"/>
              </a:rPr>
              <a:t>- When clock A’s time is 0, clock B’s time is roughly −93.3</a:t>
            </a:r>
            <a:r>
              <a:rPr lang="el-GR" sz="1300" dirty="0">
                <a:solidFill>
                  <a:schemeClr val="tx1"/>
                </a:solidFill>
                <a:latin typeface="Times New Roman" panose="02020603050405020304" pitchFamily="18" charset="0"/>
                <a:cs typeface="Times New Roman" panose="02020603050405020304" pitchFamily="18" charset="0"/>
              </a:rPr>
              <a:t>μ</a:t>
            </a:r>
            <a:r>
              <a:rPr lang="en-IN" sz="1300" dirty="0">
                <a:solidFill>
                  <a:schemeClr val="tx1"/>
                </a:solidFill>
                <a:latin typeface="Times New Roman" panose="02020603050405020304" pitchFamily="18" charset="0"/>
                <a:cs typeface="Times New Roman" panose="02020603050405020304" pitchFamily="18" charset="0"/>
              </a:rPr>
              <a:t>s. </a:t>
            </a:r>
          </a:p>
          <a:p>
            <a:pPr marL="114300" indent="0">
              <a:buNone/>
            </a:pPr>
            <a:endParaRPr lang="en-IN" sz="130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sz="1300" dirty="0">
                <a:solidFill>
                  <a:schemeClr val="tx1"/>
                </a:solidFill>
                <a:latin typeface="Times New Roman" panose="02020603050405020304" pitchFamily="18" charset="0"/>
                <a:cs typeface="Times New Roman" panose="02020603050405020304" pitchFamily="18" charset="0"/>
              </a:rPr>
              <a:t>The slope captures discrepancy in the clock frequencies. </a:t>
            </a:r>
            <a:endParaRPr lang="en-IN" sz="1300" dirty="0">
              <a:solidFill>
                <a:schemeClr val="tx1"/>
              </a:solidFill>
              <a:effectLst/>
              <a:latin typeface="Times New Roman" panose="02020603050405020304" pitchFamily="18" charset="0"/>
              <a:cs typeface="Times New Roman" panose="02020603050405020304" pitchFamily="18" charset="0"/>
            </a:endParaRPr>
          </a:p>
          <a:p>
            <a:pPr marL="114300" indent="0">
              <a:buNone/>
            </a:pPr>
            <a:endParaRPr lang="en-IN" sz="13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dirty="0">
              <a:solidFill>
                <a:schemeClr val="tx1"/>
              </a:solidFill>
              <a:effectLst/>
              <a:latin typeface="Times New Roman" panose="02020603050405020304" pitchFamily="18" charset="0"/>
              <a:cs typeface="Times New Roman" panose="02020603050405020304" pitchFamily="18" charset="0"/>
            </a:endParaRP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endParaRPr lang="en-IN"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endParaRPr lang="en-US"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79F4522-733C-FD76-F781-C68F8096F23E}"/>
              </a:ext>
            </a:extLst>
          </p:cNvPr>
          <p:cNvPicPr>
            <a:picLocks noChangeAspect="1"/>
          </p:cNvPicPr>
          <p:nvPr/>
        </p:nvPicPr>
        <p:blipFill>
          <a:blip r:embed="rId2"/>
          <a:stretch>
            <a:fillRect/>
          </a:stretch>
        </p:blipFill>
        <p:spPr>
          <a:xfrm>
            <a:off x="5995108" y="806524"/>
            <a:ext cx="2746510" cy="2076450"/>
          </a:xfrm>
          <a:prstGeom prst="rect">
            <a:avLst/>
          </a:prstGeom>
        </p:spPr>
      </p:pic>
      <p:sp>
        <p:nvSpPr>
          <p:cNvPr id="8" name="Rectangle 7">
            <a:extLst>
              <a:ext uri="{FF2B5EF4-FFF2-40B4-BE49-F238E27FC236}">
                <a16:creationId xmlns:a16="http://schemas.microsoft.com/office/drawing/2014/main" id="{0A830507-270B-0EE8-A4C2-9DC234F6F4AF}"/>
              </a:ext>
            </a:extLst>
          </p:cNvPr>
          <p:cNvSpPr/>
          <p:nvPr/>
        </p:nvSpPr>
        <p:spPr>
          <a:xfrm>
            <a:off x="6613451" y="1765005"/>
            <a:ext cx="170121" cy="1594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3A913CC-5276-C36F-6E0B-D3B924F99539}"/>
              </a:ext>
            </a:extLst>
          </p:cNvPr>
          <p:cNvSpPr/>
          <p:nvPr/>
        </p:nvSpPr>
        <p:spPr>
          <a:xfrm>
            <a:off x="7134447" y="1562986"/>
            <a:ext cx="233916" cy="2126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277C4A32-4E32-E046-E696-7185701B5146}"/>
              </a:ext>
            </a:extLst>
          </p:cNvPr>
          <p:cNvCxnSpPr/>
          <p:nvPr/>
        </p:nvCxnSpPr>
        <p:spPr>
          <a:xfrm>
            <a:off x="8155172" y="1798453"/>
            <a:ext cx="0" cy="12440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B2C89A7-5D97-BD2C-D0C2-5A08B53917CB}"/>
              </a:ext>
            </a:extLst>
          </p:cNvPr>
          <p:cNvCxnSpPr/>
          <p:nvPr/>
        </p:nvCxnSpPr>
        <p:spPr>
          <a:xfrm>
            <a:off x="7251405" y="1775637"/>
            <a:ext cx="0" cy="12440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40B7934-F9DE-EC51-F600-5D21BDD0A129}"/>
              </a:ext>
            </a:extLst>
          </p:cNvPr>
          <p:cNvCxnSpPr>
            <a:cxnSpLocks/>
          </p:cNvCxnSpPr>
          <p:nvPr/>
        </p:nvCxnSpPr>
        <p:spPr>
          <a:xfrm>
            <a:off x="6702055" y="1949745"/>
            <a:ext cx="0" cy="10699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B61EFDA-65A5-69AA-2481-CBB60FBB7044}"/>
              </a:ext>
            </a:extLst>
          </p:cNvPr>
          <p:cNvSpPr txBox="1"/>
          <p:nvPr/>
        </p:nvSpPr>
        <p:spPr>
          <a:xfrm>
            <a:off x="7748000" y="3040493"/>
            <a:ext cx="1047157" cy="415498"/>
          </a:xfrm>
          <a:prstGeom prst="rect">
            <a:avLst/>
          </a:prstGeom>
          <a:noFill/>
        </p:spPr>
        <p:txBody>
          <a:bodyPr wrap="square" rtlCol="0">
            <a:spAutoFit/>
          </a:bodyPr>
          <a:lstStyle/>
          <a:p>
            <a:r>
              <a:rPr lang="en-US" sz="1050" dirty="0">
                <a:latin typeface="Times New Roman" panose="02020603050405020304" pitchFamily="18" charset="0"/>
                <a:cs typeface="Times New Roman" panose="02020603050405020304" pitchFamily="18" charset="0"/>
              </a:rPr>
              <a:t>Zero queuing delay</a:t>
            </a:r>
          </a:p>
        </p:txBody>
      </p:sp>
      <p:sp>
        <p:nvSpPr>
          <p:cNvPr id="21" name="TextBox 20">
            <a:extLst>
              <a:ext uri="{FF2B5EF4-FFF2-40B4-BE49-F238E27FC236}">
                <a16:creationId xmlns:a16="http://schemas.microsoft.com/office/drawing/2014/main" id="{3484E1C3-7D33-9C0A-F4DD-8F82F2F2997D}"/>
              </a:ext>
            </a:extLst>
          </p:cNvPr>
          <p:cNvSpPr txBox="1"/>
          <p:nvPr/>
        </p:nvSpPr>
        <p:spPr>
          <a:xfrm>
            <a:off x="6995372" y="3019647"/>
            <a:ext cx="882504" cy="430887"/>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Negative delay</a:t>
            </a:r>
          </a:p>
        </p:txBody>
      </p:sp>
      <p:sp>
        <p:nvSpPr>
          <p:cNvPr id="22" name="TextBox 21">
            <a:extLst>
              <a:ext uri="{FF2B5EF4-FFF2-40B4-BE49-F238E27FC236}">
                <a16:creationId xmlns:a16="http://schemas.microsoft.com/office/drawing/2014/main" id="{EBBE7977-0B39-A40A-401F-F7F912F4D9AD}"/>
              </a:ext>
            </a:extLst>
          </p:cNvPr>
          <p:cNvSpPr txBox="1"/>
          <p:nvPr/>
        </p:nvSpPr>
        <p:spPr>
          <a:xfrm>
            <a:off x="6327504" y="3014190"/>
            <a:ext cx="882504" cy="430887"/>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Queuing delay</a:t>
            </a:r>
          </a:p>
        </p:txBody>
      </p:sp>
      <p:sp>
        <p:nvSpPr>
          <p:cNvPr id="23" name="TextBox 22">
            <a:extLst>
              <a:ext uri="{FF2B5EF4-FFF2-40B4-BE49-F238E27FC236}">
                <a16:creationId xmlns:a16="http://schemas.microsoft.com/office/drawing/2014/main" id="{B3BBA69A-8E1C-123F-ACB6-2B776588968D}"/>
              </a:ext>
            </a:extLst>
          </p:cNvPr>
          <p:cNvSpPr txBox="1"/>
          <p:nvPr/>
        </p:nvSpPr>
        <p:spPr>
          <a:xfrm>
            <a:off x="3198745" y="4044588"/>
            <a:ext cx="4475043" cy="307777"/>
          </a:xfrm>
          <a:prstGeom prst="rect">
            <a:avLst/>
          </a:prstGeom>
          <a:noFill/>
        </p:spPr>
        <p:txBody>
          <a:bodyPr wrap="square" rtlCol="0">
            <a:spAutoFit/>
          </a:bodyPr>
          <a:lstStyle/>
          <a:p>
            <a:pPr marL="114300" indent="0">
              <a:buNone/>
            </a:pPr>
            <a:r>
              <a:rPr lang="en-IN" dirty="0">
                <a:solidFill>
                  <a:schemeClr val="tx1"/>
                </a:solidFill>
                <a:latin typeface="Times New Roman" panose="02020603050405020304" pitchFamily="18" charset="0"/>
                <a:cs typeface="Times New Roman" panose="02020603050405020304" pitchFamily="18" charset="0"/>
              </a:rPr>
              <a:t>Pairwise clock rates can </a:t>
            </a:r>
            <a:r>
              <a:rPr lang="en-IN" b="1" dirty="0">
                <a:solidFill>
                  <a:schemeClr val="tx1"/>
                </a:solidFill>
                <a:latin typeface="Times New Roman" panose="02020603050405020304" pitchFamily="18" charset="0"/>
                <a:cs typeface="Times New Roman" panose="02020603050405020304" pitchFamily="18" charset="0"/>
              </a:rPr>
              <a:t>differ</a:t>
            </a:r>
            <a:r>
              <a:rPr lang="en-IN" dirty="0">
                <a:solidFill>
                  <a:schemeClr val="tx1"/>
                </a:solidFill>
                <a:latin typeface="Times New Roman" panose="02020603050405020304" pitchFamily="18" charset="0"/>
                <a:cs typeface="Times New Roman" panose="02020603050405020304" pitchFamily="18" charset="0"/>
              </a:rPr>
              <a:t> by as much as 30</a:t>
            </a:r>
            <a:r>
              <a:rPr lang="el-GR" dirty="0">
                <a:solidFill>
                  <a:schemeClr val="tx1"/>
                </a:solidFill>
                <a:latin typeface="Times New Roman" panose="02020603050405020304" pitchFamily="18" charset="0"/>
                <a:cs typeface="Times New Roman" panose="02020603050405020304" pitchFamily="18" charset="0"/>
              </a:rPr>
              <a:t>μ</a:t>
            </a:r>
            <a:r>
              <a:rPr lang="en-IN" dirty="0">
                <a:solidFill>
                  <a:schemeClr val="tx1"/>
                </a:solidFill>
                <a:latin typeface="Times New Roman" panose="02020603050405020304" pitchFamily="18" charset="0"/>
                <a:cs typeface="Times New Roman" panose="02020603050405020304" pitchFamily="18" charset="0"/>
              </a:rPr>
              <a:t>s/sec</a:t>
            </a:r>
          </a:p>
        </p:txBody>
      </p:sp>
      <p:pic>
        <p:nvPicPr>
          <p:cNvPr id="24" name="Picture 23">
            <a:extLst>
              <a:ext uri="{FF2B5EF4-FFF2-40B4-BE49-F238E27FC236}">
                <a16:creationId xmlns:a16="http://schemas.microsoft.com/office/drawing/2014/main" id="{3F2602F4-2A50-C7AE-DFDA-B58C9849E6FB}"/>
              </a:ext>
            </a:extLst>
          </p:cNvPr>
          <p:cNvPicPr>
            <a:picLocks noChangeAspect="1"/>
          </p:cNvPicPr>
          <p:nvPr/>
        </p:nvPicPr>
        <p:blipFill rotWithShape="1">
          <a:blip r:embed="rId3"/>
          <a:srcRect t="6968"/>
          <a:stretch/>
        </p:blipFill>
        <p:spPr>
          <a:xfrm>
            <a:off x="476952" y="3040492"/>
            <a:ext cx="2914079" cy="2103007"/>
          </a:xfrm>
          <a:prstGeom prst="rect">
            <a:avLst/>
          </a:prstGeom>
        </p:spPr>
      </p:pic>
      <p:sp>
        <p:nvSpPr>
          <p:cNvPr id="25" name="Title 1">
            <a:extLst>
              <a:ext uri="{FF2B5EF4-FFF2-40B4-BE49-F238E27FC236}">
                <a16:creationId xmlns:a16="http://schemas.microsoft.com/office/drawing/2014/main" id="{C0DF86CC-0E57-B39B-B644-13072779C154}"/>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4"/>
              </a:rPr>
              <a:t>Huygen</a:t>
            </a:r>
            <a:endParaRPr lang="en-US" dirty="0"/>
          </a:p>
        </p:txBody>
      </p:sp>
    </p:spTree>
    <p:extLst>
      <p:ext uri="{BB962C8B-B14F-4D97-AF65-F5344CB8AC3E}">
        <p14:creationId xmlns:p14="http://schemas.microsoft.com/office/powerpoint/2010/main" val="776798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A9BE-FBEC-FCBC-2436-CB40A7048C28}"/>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Study of clocks</a:t>
            </a:r>
          </a:p>
        </p:txBody>
      </p:sp>
      <p:sp>
        <p:nvSpPr>
          <p:cNvPr id="3" name="Text Placeholder 2">
            <a:extLst>
              <a:ext uri="{FF2B5EF4-FFF2-40B4-BE49-F238E27FC236}">
                <a16:creationId xmlns:a16="http://schemas.microsoft.com/office/drawing/2014/main" id="{A12E3FEF-5213-CA5C-6AA5-297F876CA72D}"/>
              </a:ext>
            </a:extLst>
          </p:cNvPr>
          <p:cNvSpPr>
            <a:spLocks noGrp="1"/>
          </p:cNvSpPr>
          <p:nvPr>
            <p:ph type="body" idx="1"/>
          </p:nvPr>
        </p:nvSpPr>
        <p:spPr>
          <a:xfrm>
            <a:off x="311700" y="1152475"/>
            <a:ext cx="4798919" cy="3416400"/>
          </a:xfrm>
        </p:spPr>
        <p:txBody>
          <a:bodyPr>
            <a:normAutofit/>
          </a:bodyPr>
          <a:lstStyle/>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Nonlinearities are observed in longer timescales due to temperature changes</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But it is essentially linear over 2–4 second intervals</a:t>
            </a:r>
            <a:endParaRPr lang="en-IN" sz="1400"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B5817FC-33D7-CFE8-A69E-CBBDF405D77B}"/>
              </a:ext>
            </a:extLst>
          </p:cNvPr>
          <p:cNvPicPr>
            <a:picLocks noChangeAspect="1"/>
          </p:cNvPicPr>
          <p:nvPr/>
        </p:nvPicPr>
        <p:blipFill>
          <a:blip r:embed="rId2"/>
          <a:stretch>
            <a:fillRect/>
          </a:stretch>
        </p:blipFill>
        <p:spPr>
          <a:xfrm>
            <a:off x="4987686" y="1152475"/>
            <a:ext cx="3567591" cy="2738503"/>
          </a:xfrm>
          <a:prstGeom prst="rect">
            <a:avLst/>
          </a:prstGeom>
        </p:spPr>
      </p:pic>
      <p:sp>
        <p:nvSpPr>
          <p:cNvPr id="5" name="Title 1">
            <a:extLst>
              <a:ext uri="{FF2B5EF4-FFF2-40B4-BE49-F238E27FC236}">
                <a16:creationId xmlns:a16="http://schemas.microsoft.com/office/drawing/2014/main" id="{B7F0D718-725A-FC34-948F-FA79AB0262CE}"/>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3"/>
              </a:rPr>
              <a:t>Huygen</a:t>
            </a:r>
            <a:endParaRPr lang="en-US" dirty="0"/>
          </a:p>
        </p:txBody>
      </p:sp>
    </p:spTree>
    <p:extLst>
      <p:ext uri="{BB962C8B-B14F-4D97-AF65-F5344CB8AC3E}">
        <p14:creationId xmlns:p14="http://schemas.microsoft.com/office/powerpoint/2010/main" val="598606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A9BE-FBEC-FCBC-2436-CB40A7048C28}"/>
              </a:ext>
            </a:extLst>
          </p:cNvPr>
          <p:cNvSpPr>
            <a:spLocks noGrp="1"/>
          </p:cNvSpPr>
          <p:nvPr>
            <p:ph type="title"/>
          </p:nvPr>
        </p:nvSpPr>
        <p:spPr/>
        <p:txBody>
          <a:bodyPr>
            <a:normAutofit fontScale="90000"/>
          </a:bodyPr>
          <a:lstStyle/>
          <a:p>
            <a:r>
              <a:rPr lang="en-US" dirty="0">
                <a:solidFill>
                  <a:schemeClr val="tx1"/>
                </a:solidFill>
                <a:latin typeface="Times New Roman" panose="02020603050405020304" pitchFamily="18" charset="0"/>
                <a:cs typeface="Times New Roman" panose="02020603050405020304" pitchFamily="18" charset="0"/>
              </a:rPr>
              <a:t>Study of clocks</a:t>
            </a:r>
          </a:p>
        </p:txBody>
      </p:sp>
      <p:sp>
        <p:nvSpPr>
          <p:cNvPr id="3" name="Text Placeholder 2">
            <a:extLst>
              <a:ext uri="{FF2B5EF4-FFF2-40B4-BE49-F238E27FC236}">
                <a16:creationId xmlns:a16="http://schemas.microsoft.com/office/drawing/2014/main" id="{A12E3FEF-5213-CA5C-6AA5-297F876CA72D}"/>
              </a:ext>
            </a:extLst>
          </p:cNvPr>
          <p:cNvSpPr>
            <a:spLocks noGrp="1"/>
          </p:cNvSpPr>
          <p:nvPr>
            <p:ph type="body" idx="1"/>
          </p:nvPr>
        </p:nvSpPr>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Zero queueing delay points are captured even in cases when longer queueing delays are observed.</a:t>
            </a:r>
          </a:p>
          <a:p>
            <a:pPr marL="114300" indent="0">
              <a:buNone/>
            </a:pPr>
            <a:endParaRPr lang="en-IN" sz="140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Timestamp noise can cause negative-delay which goes to forbidden zone.</a:t>
            </a:r>
          </a:p>
          <a:p>
            <a:pPr marL="114300" indent="0">
              <a:buNone/>
            </a:pPr>
            <a:endParaRPr lang="en-IN" sz="140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Path symmetry is observed in multiple hopes between server pairs. </a:t>
            </a:r>
          </a:p>
          <a:p>
            <a:pPr marL="114300" indent="0">
              <a:buNone/>
            </a:pPr>
            <a:endParaRPr lang="en-IN" sz="140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If Path asymmetry occurred, it can be resolved by replacing with symmetric paths.</a:t>
            </a:r>
            <a:br>
              <a:rPr lang="en-IN" sz="1400" dirty="0">
                <a:solidFill>
                  <a:schemeClr val="tx1"/>
                </a:solidFill>
                <a:effectLst/>
                <a:latin typeface="Times New Roman" panose="02020603050405020304" pitchFamily="18" charset="0"/>
                <a:cs typeface="Times New Roman" panose="02020603050405020304" pitchFamily="18" charset="0"/>
              </a:rPr>
            </a:br>
            <a:endParaRPr lang="en-IN" sz="1400"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endParaRPr lang="en-IN" sz="1400"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66526B0C-706A-5D16-D8CD-B0D699836022}"/>
              </a:ext>
            </a:extLst>
          </p:cNvPr>
          <p:cNvSpPr txBox="1">
            <a:spLocks/>
          </p:cNvSpPr>
          <p:nvPr/>
        </p:nvSpPr>
        <p:spPr>
          <a:xfrm>
            <a:off x="0" y="8965"/>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2"/>
              </a:rPr>
              <a:t>Huygen</a:t>
            </a:r>
            <a:endParaRPr lang="en-US" dirty="0"/>
          </a:p>
        </p:txBody>
      </p:sp>
    </p:spTree>
    <p:extLst>
      <p:ext uri="{BB962C8B-B14F-4D97-AF65-F5344CB8AC3E}">
        <p14:creationId xmlns:p14="http://schemas.microsoft.com/office/powerpoint/2010/main" val="3098504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2A8AC-09F3-CCBE-89B5-D8F923B81EE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Algorithm</a:t>
            </a:r>
          </a:p>
        </p:txBody>
      </p:sp>
      <p:sp>
        <p:nvSpPr>
          <p:cNvPr id="3" name="Text Placeholder 2">
            <a:extLst>
              <a:ext uri="{FF2B5EF4-FFF2-40B4-BE49-F238E27FC236}">
                <a16:creationId xmlns:a16="http://schemas.microsoft.com/office/drawing/2014/main" id="{989ADCFD-AD81-2556-C121-F2B73D173327}"/>
              </a:ext>
            </a:extLst>
          </p:cNvPr>
          <p:cNvSpPr>
            <a:spLocks noGrp="1"/>
          </p:cNvSpPr>
          <p:nvPr>
            <p:ph type="body" idx="1"/>
          </p:nvPr>
        </p:nvSpPr>
        <p:spPr>
          <a:xfrm>
            <a:off x="311700" y="1152475"/>
            <a:ext cx="8218525" cy="3416400"/>
          </a:xfrm>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Clocks are connected through data </a:t>
            </a:r>
            <a:r>
              <a:rPr lang="en-IN" sz="1400" dirty="0" err="1">
                <a:solidFill>
                  <a:schemeClr val="tx1"/>
                </a:solidFill>
                <a:latin typeface="Times New Roman" panose="02020603050405020304" pitchFamily="18" charset="0"/>
                <a:cs typeface="Times New Roman" panose="02020603050405020304" pitchFamily="18" charset="0"/>
              </a:rPr>
              <a:t>center</a:t>
            </a:r>
            <a:r>
              <a:rPr lang="en-IN" sz="1400" dirty="0">
                <a:solidFill>
                  <a:schemeClr val="tx1"/>
                </a:solidFill>
                <a:latin typeface="Times New Roman" panose="02020603050405020304" pitchFamily="18" charset="0"/>
                <a:cs typeface="Times New Roman" panose="02020603050405020304" pitchFamily="18" charset="0"/>
              </a:rPr>
              <a:t> fabric.</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A</a:t>
            </a:r>
            <a:r>
              <a:rPr lang="en-IN" sz="1400" dirty="0">
                <a:solidFill>
                  <a:schemeClr val="tx1"/>
                </a:solidFill>
                <a:effectLst/>
                <a:latin typeface="Times New Roman" panose="02020603050405020304" pitchFamily="18" charset="0"/>
                <a:cs typeface="Times New Roman" panose="02020603050405020304" pitchFamily="18" charset="0"/>
              </a:rPr>
              <a:t>lgorithm synchronizes clocks in a network every 2 seconds in a “progressive-batch-delayed” fashion. </a:t>
            </a:r>
          </a:p>
          <a:p>
            <a:pPr marL="114300" indent="0">
              <a:buNone/>
            </a:pPr>
            <a:endParaRPr lang="en-IN" sz="140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At time 0 : Probe mesh is set up between the </a:t>
            </a:r>
            <a:r>
              <a:rPr lang="en-IN" sz="1400" i="1" dirty="0">
                <a:solidFill>
                  <a:schemeClr val="tx1"/>
                </a:solidFill>
                <a:effectLst/>
                <a:latin typeface="Times New Roman" panose="02020603050405020304" pitchFamily="18" charset="0"/>
                <a:cs typeface="Times New Roman" panose="02020603050405020304" pitchFamily="18" charset="0"/>
              </a:rPr>
              <a:t>n </a:t>
            </a:r>
            <a:r>
              <a:rPr lang="en-IN" sz="1400" dirty="0">
                <a:solidFill>
                  <a:schemeClr val="tx1"/>
                </a:solidFill>
                <a:effectLst/>
                <a:latin typeface="Times New Roman" panose="02020603050405020304" pitchFamily="18" charset="0"/>
                <a:cs typeface="Times New Roman" panose="02020603050405020304" pitchFamily="18" charset="0"/>
              </a:rPr>
              <a:t>clocks, each one probing </a:t>
            </a:r>
            <a:r>
              <a:rPr lang="en-IN" sz="1400" i="1" dirty="0">
                <a:solidFill>
                  <a:schemeClr val="tx1"/>
                </a:solidFill>
                <a:effectLst/>
                <a:latin typeface="Times New Roman" panose="02020603050405020304" pitchFamily="18" charset="0"/>
                <a:cs typeface="Times New Roman" panose="02020603050405020304" pitchFamily="18" charset="0"/>
              </a:rPr>
              <a:t>K </a:t>
            </a:r>
            <a:r>
              <a:rPr lang="en-IN" sz="1400" dirty="0">
                <a:solidFill>
                  <a:schemeClr val="tx1"/>
                </a:solidFill>
                <a:effectLst/>
                <a:latin typeface="Times New Roman" panose="02020603050405020304" pitchFamily="18" charset="0"/>
                <a:cs typeface="Times New Roman" panose="02020603050405020304" pitchFamily="18" charset="0"/>
              </a:rPr>
              <a:t>others. </a:t>
            </a: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At interval [0, 2): Collect probe data </a:t>
            </a:r>
            <a:r>
              <a:rPr lang="en-US" sz="1400" dirty="0">
                <a:solidFill>
                  <a:schemeClr val="tx1"/>
                </a:solidFill>
                <a:latin typeface="Times New Roman" panose="02020603050405020304" pitchFamily="18" charset="0"/>
                <a:cs typeface="Times New Roman" panose="02020603050405020304" pitchFamily="18" charset="0"/>
                <a:sym typeface="Wingdings" pitchFamily="2" charset="2"/>
              </a:rPr>
              <a:t> (1)</a:t>
            </a: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At interval [2, 4): Process previous probe data, apply timestamp corrections at 1 second. </a:t>
            </a:r>
            <a:r>
              <a:rPr lang="en-US" sz="1400" dirty="0">
                <a:solidFill>
                  <a:schemeClr val="tx1"/>
                </a:solidFill>
                <a:latin typeface="Times New Roman" panose="02020603050405020304" pitchFamily="18" charset="0"/>
                <a:cs typeface="Times New Roman" panose="02020603050405020304" pitchFamily="18" charset="0"/>
                <a:sym typeface="Wingdings" pitchFamily="2" charset="2"/>
              </a:rPr>
              <a:t> (2)</a:t>
            </a: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At [4, 6) repeat 1, 2 and so on.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14AFF772-3347-2CB9-6172-72E67A0CC53E}"/>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2"/>
              </a:rPr>
              <a:t>Huygen</a:t>
            </a:r>
            <a:endParaRPr lang="en-US" dirty="0"/>
          </a:p>
        </p:txBody>
      </p:sp>
    </p:spTree>
    <p:extLst>
      <p:ext uri="{BB962C8B-B14F-4D97-AF65-F5344CB8AC3E}">
        <p14:creationId xmlns:p14="http://schemas.microsoft.com/office/powerpoint/2010/main" val="3099090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2A8AC-09F3-CCBE-89B5-D8F923B81EE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Algorithm: 3 major steps involved</a:t>
            </a:r>
          </a:p>
        </p:txBody>
      </p:sp>
      <p:sp>
        <p:nvSpPr>
          <p:cNvPr id="3" name="Text Placeholder 2">
            <a:extLst>
              <a:ext uri="{FF2B5EF4-FFF2-40B4-BE49-F238E27FC236}">
                <a16:creationId xmlns:a16="http://schemas.microsoft.com/office/drawing/2014/main" id="{989ADCFD-AD81-2556-C121-F2B73D173327}"/>
              </a:ext>
            </a:extLst>
          </p:cNvPr>
          <p:cNvSpPr>
            <a:spLocks noGrp="1"/>
          </p:cNvSpPr>
          <p:nvPr>
            <p:ph type="body" idx="1"/>
          </p:nvPr>
        </p:nvSpPr>
        <p:spPr>
          <a:xfrm>
            <a:off x="311700" y="1152475"/>
            <a:ext cx="8218525" cy="3416400"/>
          </a:xfrm>
        </p:spPr>
        <p:txBody>
          <a:bodyPr>
            <a:noAutofit/>
          </a:bodyPr>
          <a:lstStyle/>
          <a:p>
            <a:pPr marL="114300" indent="0">
              <a:buNone/>
            </a:pPr>
            <a:r>
              <a:rPr lang="en-US" sz="1400" b="1" dirty="0">
                <a:solidFill>
                  <a:schemeClr val="tx1"/>
                </a:solidFill>
                <a:latin typeface="Times New Roman" panose="02020603050405020304" pitchFamily="18" charset="0"/>
                <a:cs typeface="Times New Roman" panose="02020603050405020304" pitchFamily="18" charset="0"/>
              </a:rPr>
              <a:t>Step 1: Coded probes</a:t>
            </a:r>
          </a:p>
          <a:p>
            <a:pPr marL="114300" indent="0">
              <a:buNone/>
            </a:pPr>
            <a:endParaRPr lang="en-US" sz="14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A coded probe consists of a pair of packets, P1 and P2 with transmit, receive timestamps t</a:t>
            </a:r>
            <a:r>
              <a:rPr lang="en-IN" sz="1400" baseline="-25000" dirty="0">
                <a:solidFill>
                  <a:schemeClr val="tx1"/>
                </a:solidFill>
                <a:latin typeface="Times New Roman" panose="02020603050405020304" pitchFamily="18" charset="0"/>
                <a:cs typeface="Times New Roman" panose="02020603050405020304" pitchFamily="18" charset="0"/>
              </a:rPr>
              <a:t>1, </a:t>
            </a:r>
            <a:r>
              <a:rPr lang="en-IN" sz="1400" dirty="0">
                <a:solidFill>
                  <a:schemeClr val="tx1"/>
                </a:solidFill>
                <a:latin typeface="Times New Roman" panose="02020603050405020304" pitchFamily="18" charset="0"/>
                <a:cs typeface="Times New Roman" panose="02020603050405020304" pitchFamily="18" charset="0"/>
              </a:rPr>
              <a:t>t</a:t>
            </a:r>
            <a:r>
              <a:rPr lang="en-IN" sz="1400" baseline="-25000" dirty="0">
                <a:solidFill>
                  <a:schemeClr val="tx1"/>
                </a:solidFill>
                <a:latin typeface="Times New Roman" panose="02020603050405020304" pitchFamily="18" charset="0"/>
                <a:cs typeface="Times New Roman" panose="02020603050405020304" pitchFamily="18" charset="0"/>
              </a:rPr>
              <a:t>2</a:t>
            </a:r>
            <a:r>
              <a:rPr lang="en-IN" sz="1400" dirty="0">
                <a:solidFill>
                  <a:schemeClr val="tx1"/>
                </a:solidFill>
                <a:latin typeface="Times New Roman" panose="02020603050405020304" pitchFamily="18" charset="0"/>
                <a:cs typeface="Times New Roman" panose="02020603050405020304" pitchFamily="18" charset="0"/>
              </a:rPr>
              <a:t> and r</a:t>
            </a:r>
            <a:r>
              <a:rPr lang="en-IN" sz="1400" baseline="-25000" dirty="0">
                <a:solidFill>
                  <a:schemeClr val="tx1"/>
                </a:solidFill>
                <a:latin typeface="Times New Roman" panose="02020603050405020304" pitchFamily="18" charset="0"/>
                <a:cs typeface="Times New Roman" panose="02020603050405020304" pitchFamily="18" charset="0"/>
              </a:rPr>
              <a:t>1, </a:t>
            </a:r>
            <a:r>
              <a:rPr lang="en-IN" sz="1400" dirty="0">
                <a:solidFill>
                  <a:schemeClr val="tx1"/>
                </a:solidFill>
                <a:latin typeface="Times New Roman" panose="02020603050405020304" pitchFamily="18" charset="0"/>
                <a:cs typeface="Times New Roman" panose="02020603050405020304" pitchFamily="18" charset="0"/>
              </a:rPr>
              <a:t>r</a:t>
            </a:r>
            <a:r>
              <a:rPr lang="en-IN" sz="1400" baseline="-25000" dirty="0">
                <a:solidFill>
                  <a:schemeClr val="tx1"/>
                </a:solidFill>
                <a:latin typeface="Times New Roman" panose="02020603050405020304" pitchFamily="18" charset="0"/>
                <a:cs typeface="Times New Roman" panose="02020603050405020304" pitchFamily="18" charset="0"/>
              </a:rPr>
              <a:t>2</a:t>
            </a:r>
            <a:r>
              <a:rPr lang="en-IN" sz="1400" dirty="0">
                <a:solidFill>
                  <a:schemeClr val="tx1"/>
                </a:solidFill>
                <a:latin typeface="Times New Roman" panose="02020603050405020304" pitchFamily="18" charset="0"/>
                <a:cs typeface="Times New Roman" panose="02020603050405020304" pitchFamily="18" charset="0"/>
              </a:rPr>
              <a:t> </a:t>
            </a: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Pure Probes criteria:  </a:t>
            </a:r>
            <a:r>
              <a:rPr lang="en-IN" sz="1400" dirty="0">
                <a:solidFill>
                  <a:schemeClr val="tx1"/>
                </a:solidFill>
                <a:latin typeface="Times New Roman" panose="02020603050405020304" pitchFamily="18" charset="0"/>
                <a:cs typeface="Times New Roman" panose="02020603050405020304" pitchFamily="18" charset="0"/>
              </a:rPr>
              <a:t>r</a:t>
            </a:r>
            <a:r>
              <a:rPr lang="en-IN" sz="1400" baseline="-25000" dirty="0">
                <a:solidFill>
                  <a:schemeClr val="tx1"/>
                </a:solidFill>
                <a:latin typeface="Times New Roman" panose="02020603050405020304" pitchFamily="18" charset="0"/>
                <a:cs typeface="Times New Roman" panose="02020603050405020304" pitchFamily="18" charset="0"/>
              </a:rPr>
              <a:t>2</a:t>
            </a:r>
            <a:r>
              <a:rPr lang="en-IN" sz="1400" dirty="0">
                <a:solidFill>
                  <a:schemeClr val="tx1"/>
                </a:solidFill>
                <a:latin typeface="Times New Roman" panose="02020603050405020304" pitchFamily="18" charset="0"/>
                <a:cs typeface="Times New Roman" panose="02020603050405020304" pitchFamily="18" charset="0"/>
              </a:rPr>
              <a:t> &gt; r</a:t>
            </a:r>
            <a:r>
              <a:rPr lang="en-IN" sz="1400" baseline="-25000" dirty="0">
                <a:solidFill>
                  <a:schemeClr val="tx1"/>
                </a:solidFill>
                <a:latin typeface="Times New Roman" panose="02020603050405020304" pitchFamily="18" charset="0"/>
                <a:cs typeface="Times New Roman" panose="02020603050405020304" pitchFamily="18" charset="0"/>
              </a:rPr>
              <a:t>1</a:t>
            </a:r>
            <a:r>
              <a:rPr lang="en-IN" sz="1400" dirty="0">
                <a:solidFill>
                  <a:schemeClr val="tx1"/>
                </a:solidFill>
                <a:latin typeface="Times New Roman" panose="02020603050405020304" pitchFamily="18" charset="0"/>
                <a:cs typeface="Times New Roman" panose="02020603050405020304" pitchFamily="18" charset="0"/>
              </a:rPr>
              <a:t> and |(r</a:t>
            </a:r>
            <a:r>
              <a:rPr lang="en-IN" sz="1400" baseline="-25000" dirty="0">
                <a:solidFill>
                  <a:schemeClr val="tx1"/>
                </a:solidFill>
                <a:latin typeface="Times New Roman" panose="02020603050405020304" pitchFamily="18" charset="0"/>
                <a:cs typeface="Times New Roman" panose="02020603050405020304" pitchFamily="18" charset="0"/>
              </a:rPr>
              <a:t>2</a:t>
            </a:r>
            <a:r>
              <a:rPr lang="en-IN" sz="1400" dirty="0">
                <a:solidFill>
                  <a:schemeClr val="tx1"/>
                </a:solidFill>
                <a:latin typeface="Times New Roman" panose="02020603050405020304" pitchFamily="18" charset="0"/>
                <a:cs typeface="Times New Roman" panose="02020603050405020304" pitchFamily="18" charset="0"/>
              </a:rPr>
              <a:t>-r</a:t>
            </a:r>
            <a:r>
              <a:rPr lang="en-IN" sz="1400" baseline="-25000" dirty="0">
                <a:solidFill>
                  <a:schemeClr val="tx1"/>
                </a:solidFill>
                <a:latin typeface="Times New Roman" panose="02020603050405020304" pitchFamily="18" charset="0"/>
                <a:cs typeface="Times New Roman" panose="02020603050405020304" pitchFamily="18" charset="0"/>
              </a:rPr>
              <a:t>1</a:t>
            </a:r>
            <a:r>
              <a:rPr lang="en-IN" sz="1400" dirty="0">
                <a:solidFill>
                  <a:schemeClr val="tx1"/>
                </a:solidFill>
                <a:latin typeface="Times New Roman" panose="02020603050405020304" pitchFamily="18" charset="0"/>
                <a:cs typeface="Times New Roman" panose="02020603050405020304" pitchFamily="18" charset="0"/>
              </a:rPr>
              <a:t>)-(t</a:t>
            </a:r>
            <a:r>
              <a:rPr lang="en-IN" sz="1400" baseline="-25000" dirty="0">
                <a:solidFill>
                  <a:schemeClr val="tx1"/>
                </a:solidFill>
                <a:latin typeface="Times New Roman" panose="02020603050405020304" pitchFamily="18" charset="0"/>
                <a:cs typeface="Times New Roman" panose="02020603050405020304" pitchFamily="18" charset="0"/>
              </a:rPr>
              <a:t>2</a:t>
            </a:r>
            <a:r>
              <a:rPr lang="en-IN" sz="1400" dirty="0">
                <a:solidFill>
                  <a:schemeClr val="tx1"/>
                </a:solidFill>
                <a:latin typeface="Times New Roman" panose="02020603050405020304" pitchFamily="18" charset="0"/>
                <a:cs typeface="Times New Roman" panose="02020603050405020304" pitchFamily="18" charset="0"/>
              </a:rPr>
              <a:t>-t</a:t>
            </a:r>
            <a:r>
              <a:rPr lang="en-IN" sz="1400" baseline="-25000" dirty="0">
                <a:solidFill>
                  <a:schemeClr val="tx1"/>
                </a:solidFill>
                <a:latin typeface="Times New Roman" panose="02020603050405020304" pitchFamily="18" charset="0"/>
                <a:cs typeface="Times New Roman" panose="02020603050405020304" pitchFamily="18" charset="0"/>
              </a:rPr>
              <a:t>1</a:t>
            </a:r>
            <a:r>
              <a:rPr lang="en-IN" sz="1400" dirty="0">
                <a:solidFill>
                  <a:schemeClr val="tx1"/>
                </a:solidFill>
                <a:latin typeface="Times New Roman" panose="02020603050405020304" pitchFamily="18" charset="0"/>
                <a:cs typeface="Times New Roman" panose="02020603050405020304" pitchFamily="18" charset="0"/>
              </a:rPr>
              <a:t>)|&lt; </a:t>
            </a:r>
            <a:r>
              <a:rPr lang="el-GR" sz="1400" dirty="0">
                <a:solidFill>
                  <a:schemeClr val="tx1"/>
                </a:solidFill>
                <a:latin typeface="Times New Roman" panose="02020603050405020304" pitchFamily="18" charset="0"/>
                <a:cs typeface="Times New Roman" panose="02020603050405020304" pitchFamily="18" charset="0"/>
              </a:rPr>
              <a:t>ε, </a:t>
            </a:r>
            <a:r>
              <a:rPr lang="en-IN" sz="1400" dirty="0">
                <a:solidFill>
                  <a:schemeClr val="tx1"/>
                </a:solidFill>
                <a:latin typeface="Times New Roman" panose="02020603050405020304" pitchFamily="18" charset="0"/>
                <a:cs typeface="Times New Roman" panose="02020603050405020304" pitchFamily="18" charset="0"/>
              </a:rPr>
              <a:t>where </a:t>
            </a:r>
            <a:r>
              <a:rPr lang="el-GR" sz="1400" dirty="0">
                <a:solidFill>
                  <a:schemeClr val="tx1"/>
                </a:solidFill>
                <a:latin typeface="Times New Roman" panose="02020603050405020304" pitchFamily="18" charset="0"/>
                <a:cs typeface="Times New Roman" panose="02020603050405020304" pitchFamily="18" charset="0"/>
              </a:rPr>
              <a:t>ε &gt; 0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Pure: </a:t>
            </a:r>
            <a:r>
              <a:rPr lang="en-IN" sz="1400" dirty="0">
                <a:solidFill>
                  <a:schemeClr val="tx1"/>
                </a:solidFill>
                <a:latin typeface="Times New Roman" panose="02020603050405020304" pitchFamily="18" charset="0"/>
                <a:cs typeface="Times New Roman" panose="02020603050405020304" pitchFamily="18" charset="0"/>
              </a:rPr>
              <a:t>Both timestamps are retained if the probe pair meets the criteria.</a:t>
            </a: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Impure: </a:t>
            </a:r>
            <a:r>
              <a:rPr lang="en-IN" sz="1400" dirty="0">
                <a:solidFill>
                  <a:schemeClr val="tx1"/>
                </a:solidFill>
                <a:latin typeface="Times New Roman" panose="02020603050405020304" pitchFamily="18" charset="0"/>
                <a:cs typeface="Times New Roman" panose="02020603050405020304" pitchFamily="18" charset="0"/>
              </a:rPr>
              <a:t>Both timestamps are discarded if the probe pair fails the criteria.</a:t>
            </a: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Handling Dropped Packets: </a:t>
            </a:r>
            <a:r>
              <a:rPr lang="en-IN" sz="1400" dirty="0">
                <a:solidFill>
                  <a:schemeClr val="tx1"/>
                </a:solidFill>
                <a:latin typeface="Times New Roman" panose="02020603050405020304" pitchFamily="18" charset="0"/>
                <a:cs typeface="Times New Roman" panose="02020603050405020304" pitchFamily="18" charset="0"/>
              </a:rPr>
              <a:t>If either P1 or P2 is dropped, discard the coded pair.</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Establishes probing graph with C1(initiator of probing) as the root</a:t>
            </a:r>
          </a:p>
        </p:txBody>
      </p:sp>
      <p:sp>
        <p:nvSpPr>
          <p:cNvPr id="4" name="Title 1">
            <a:extLst>
              <a:ext uri="{FF2B5EF4-FFF2-40B4-BE49-F238E27FC236}">
                <a16:creationId xmlns:a16="http://schemas.microsoft.com/office/drawing/2014/main" id="{37C5F40E-5E06-711D-9667-968448A45A30}"/>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2"/>
              </a:rPr>
              <a:t>Huygen</a:t>
            </a:r>
            <a:endParaRPr lang="en-US" dirty="0"/>
          </a:p>
        </p:txBody>
      </p:sp>
    </p:spTree>
    <p:extLst>
      <p:ext uri="{BB962C8B-B14F-4D97-AF65-F5344CB8AC3E}">
        <p14:creationId xmlns:p14="http://schemas.microsoft.com/office/powerpoint/2010/main" val="12130375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2A8AC-09F3-CCBE-89B5-D8F923B81EE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Algorithm</a:t>
            </a:r>
          </a:p>
        </p:txBody>
      </p:sp>
      <p:sp>
        <p:nvSpPr>
          <p:cNvPr id="3" name="Text Placeholder 2">
            <a:extLst>
              <a:ext uri="{FF2B5EF4-FFF2-40B4-BE49-F238E27FC236}">
                <a16:creationId xmlns:a16="http://schemas.microsoft.com/office/drawing/2014/main" id="{989ADCFD-AD81-2556-C121-F2B73D173327}"/>
              </a:ext>
            </a:extLst>
          </p:cNvPr>
          <p:cNvSpPr>
            <a:spLocks noGrp="1"/>
          </p:cNvSpPr>
          <p:nvPr>
            <p:ph type="body" idx="1"/>
          </p:nvPr>
        </p:nvSpPr>
        <p:spPr>
          <a:xfrm>
            <a:off x="311701" y="1152475"/>
            <a:ext cx="4109262" cy="3416400"/>
          </a:xfrm>
        </p:spPr>
        <p:txBody>
          <a:bodyPr>
            <a:normAutofit/>
          </a:bodyPr>
          <a:lstStyle/>
          <a:p>
            <a:pPr marL="114300" indent="0">
              <a:buNone/>
            </a:pPr>
            <a:r>
              <a:rPr lang="en-US" sz="1400" b="1" dirty="0">
                <a:solidFill>
                  <a:schemeClr val="tx1"/>
                </a:solidFill>
                <a:latin typeface="Times New Roman" panose="02020603050405020304" pitchFamily="18" charset="0"/>
                <a:cs typeface="Times New Roman" panose="02020603050405020304" pitchFamily="18" charset="0"/>
              </a:rPr>
              <a:t>Step 2: </a:t>
            </a:r>
            <a:r>
              <a:rPr lang="en-IN" sz="1400" b="1" dirty="0">
                <a:solidFill>
                  <a:schemeClr val="tx1"/>
                </a:solidFill>
                <a:effectLst/>
                <a:latin typeface="Times New Roman" panose="02020603050405020304" pitchFamily="18" charset="0"/>
                <a:cs typeface="Times New Roman" panose="02020603050405020304" pitchFamily="18" charset="0"/>
              </a:rPr>
              <a:t>Support Vector Machines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SVM classifies the upper bound and lower bound points</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Provided sufficient data points, SVM will return a straight line with a slope and intercept.</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SVM performs well with pure probe data and  inaccurately with noisy data. </a:t>
            </a:r>
          </a:p>
          <a:p>
            <a:pPr marL="114300" indent="0">
              <a:buNone/>
            </a:pPr>
            <a:endParaRPr lang="en-US" sz="1400"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55B9935-C593-1367-0B3D-83C3916B703F}"/>
              </a:ext>
            </a:extLst>
          </p:cNvPr>
          <p:cNvPicPr>
            <a:picLocks noChangeAspect="1"/>
          </p:cNvPicPr>
          <p:nvPr/>
        </p:nvPicPr>
        <p:blipFill>
          <a:blip r:embed="rId2"/>
          <a:stretch>
            <a:fillRect/>
          </a:stretch>
        </p:blipFill>
        <p:spPr>
          <a:xfrm>
            <a:off x="4420962" y="1537178"/>
            <a:ext cx="4521461" cy="2069143"/>
          </a:xfrm>
          <a:prstGeom prst="rect">
            <a:avLst/>
          </a:prstGeom>
        </p:spPr>
      </p:pic>
      <p:sp>
        <p:nvSpPr>
          <p:cNvPr id="5" name="Title 1">
            <a:extLst>
              <a:ext uri="{FF2B5EF4-FFF2-40B4-BE49-F238E27FC236}">
                <a16:creationId xmlns:a16="http://schemas.microsoft.com/office/drawing/2014/main" id="{C67FA36F-C9EB-22E9-DAD9-D92F75E2AE5A}"/>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3"/>
              </a:rPr>
              <a:t>Huygen</a:t>
            </a:r>
            <a:endParaRPr lang="en-US" dirty="0"/>
          </a:p>
        </p:txBody>
      </p:sp>
    </p:spTree>
    <p:extLst>
      <p:ext uri="{BB962C8B-B14F-4D97-AF65-F5344CB8AC3E}">
        <p14:creationId xmlns:p14="http://schemas.microsoft.com/office/powerpoint/2010/main" val="2561281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2A8AC-09F3-CCBE-89B5-D8F923B81EE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Algorithm</a:t>
            </a:r>
          </a:p>
        </p:txBody>
      </p:sp>
      <p:sp>
        <p:nvSpPr>
          <p:cNvPr id="3" name="Text Placeholder 2">
            <a:extLst>
              <a:ext uri="{FF2B5EF4-FFF2-40B4-BE49-F238E27FC236}">
                <a16:creationId xmlns:a16="http://schemas.microsoft.com/office/drawing/2014/main" id="{989ADCFD-AD81-2556-C121-F2B73D173327}"/>
              </a:ext>
            </a:extLst>
          </p:cNvPr>
          <p:cNvSpPr>
            <a:spLocks noGrp="1"/>
          </p:cNvSpPr>
          <p:nvPr>
            <p:ph type="body" idx="1"/>
          </p:nvPr>
        </p:nvSpPr>
        <p:spPr>
          <a:xfrm>
            <a:off x="311700" y="1152475"/>
            <a:ext cx="5563007" cy="3416400"/>
          </a:xfrm>
        </p:spPr>
        <p:txBody>
          <a:bodyPr>
            <a:normAutofit/>
          </a:bodyPr>
          <a:lstStyle/>
          <a:p>
            <a:pPr marL="114300" indent="0">
              <a:buNone/>
            </a:pPr>
            <a:r>
              <a:rPr lang="en-US" sz="1400" b="1" dirty="0">
                <a:solidFill>
                  <a:schemeClr val="tx1"/>
                </a:solidFill>
                <a:latin typeface="Times New Roman" panose="02020603050405020304" pitchFamily="18" charset="0"/>
                <a:cs typeface="Times New Roman" panose="02020603050405020304" pitchFamily="18" charset="0"/>
              </a:rPr>
              <a:t>Step 3: Network effect</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Synchronize all clocks with C1 using Reference Spanning Tree </a:t>
            </a:r>
            <a:r>
              <a:rPr lang="en-US" sz="1400" dirty="0">
                <a:solidFill>
                  <a:schemeClr val="tx1"/>
                </a:solidFill>
                <a:latin typeface="Times New Roman" panose="02020603050405020304" pitchFamily="18" charset="0"/>
                <a:cs typeface="Times New Roman" panose="02020603050405020304" pitchFamily="18" charset="0"/>
              </a:rPr>
              <a:t>in breadth first fashion</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Network effect reduces the standard deviation of edge errors in: </a:t>
            </a:r>
          </a:p>
          <a:p>
            <a:pPr>
              <a:buFont typeface="Wingdings" pitchFamily="2" charset="2"/>
              <a:buChar char="ü"/>
            </a:pPr>
            <a:r>
              <a:rPr lang="en-IN" sz="1400" dirty="0">
                <a:solidFill>
                  <a:schemeClr val="tx1"/>
                </a:solidFill>
                <a:effectLst/>
                <a:latin typeface="Times New Roman" panose="02020603050405020304" pitchFamily="18" charset="0"/>
                <a:cs typeface="Times New Roman" panose="02020603050405020304" pitchFamily="18" charset="0"/>
              </a:rPr>
              <a:t>The edge errors are typically small but sometimes can be as large as 100 ns</a:t>
            </a:r>
          </a:p>
          <a:p>
            <a:pPr>
              <a:buFont typeface="Wingdings" pitchFamily="2" charset="2"/>
              <a:buChar char="ü"/>
            </a:pPr>
            <a:r>
              <a:rPr lang="en-IN" sz="1400" dirty="0">
                <a:solidFill>
                  <a:schemeClr val="tx1"/>
                </a:solidFill>
                <a:effectLst/>
                <a:latin typeface="Times New Roman" panose="02020603050405020304" pitchFamily="18" charset="0"/>
                <a:cs typeface="Times New Roman" panose="02020603050405020304" pitchFamily="18" charset="0"/>
              </a:rPr>
              <a:t>Distributed uniformly between -100 ns and 100 ns. </a:t>
            </a:r>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955254D-8FF2-D0FB-4827-55871E4E717A}"/>
              </a:ext>
            </a:extLst>
          </p:cNvPr>
          <p:cNvPicPr>
            <a:picLocks noChangeAspect="1"/>
          </p:cNvPicPr>
          <p:nvPr/>
        </p:nvPicPr>
        <p:blipFill>
          <a:blip r:embed="rId2"/>
          <a:stretch>
            <a:fillRect/>
          </a:stretch>
        </p:blipFill>
        <p:spPr>
          <a:xfrm>
            <a:off x="5694739" y="1152475"/>
            <a:ext cx="3449261" cy="3157774"/>
          </a:xfrm>
          <a:prstGeom prst="rect">
            <a:avLst/>
          </a:prstGeom>
        </p:spPr>
      </p:pic>
      <p:sp>
        <p:nvSpPr>
          <p:cNvPr id="6" name="Title 1">
            <a:extLst>
              <a:ext uri="{FF2B5EF4-FFF2-40B4-BE49-F238E27FC236}">
                <a16:creationId xmlns:a16="http://schemas.microsoft.com/office/drawing/2014/main" id="{8CFD115B-6618-2A0C-5D32-940DBD49C95D}"/>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3"/>
              </a:rPr>
              <a:t>Huygen</a:t>
            </a:r>
            <a:endParaRPr lang="en-US" dirty="0"/>
          </a:p>
        </p:txBody>
      </p:sp>
    </p:spTree>
    <p:extLst>
      <p:ext uri="{BB962C8B-B14F-4D97-AF65-F5344CB8AC3E}">
        <p14:creationId xmlns:p14="http://schemas.microsoft.com/office/powerpoint/2010/main" val="3648955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BD1F-8904-94A9-BACC-5CFA2B510431}"/>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p>
        </p:txBody>
      </p:sp>
      <p:sp>
        <p:nvSpPr>
          <p:cNvPr id="3" name="Text Placeholder 2">
            <a:extLst>
              <a:ext uri="{FF2B5EF4-FFF2-40B4-BE49-F238E27FC236}">
                <a16:creationId xmlns:a16="http://schemas.microsoft.com/office/drawing/2014/main" id="{C94B4CE8-FEF2-2ACC-25BF-895CAC9EFC99}"/>
              </a:ext>
            </a:extLst>
          </p:cNvPr>
          <p:cNvSpPr>
            <a:spLocks noGrp="1"/>
          </p:cNvSpPr>
          <p:nvPr>
            <p:ph type="body" idx="1"/>
          </p:nvPr>
        </p:nvSpPr>
        <p:spPr/>
        <p:txBody>
          <a:bodyPr>
            <a:normAutofit/>
          </a:bodyPr>
          <a:lstStyle/>
          <a:p>
            <a:pPr marL="114300" indent="0">
              <a:buNone/>
            </a:pPr>
            <a:r>
              <a:rPr lang="en-US" sz="1400" b="1" dirty="0">
                <a:solidFill>
                  <a:schemeClr val="tx1"/>
                </a:solidFill>
                <a:latin typeface="Times New Roman" panose="02020603050405020304" pitchFamily="18" charset="0"/>
                <a:cs typeface="Times New Roman" panose="02020603050405020304" pitchFamily="18" charset="0"/>
              </a:rPr>
              <a:t>Synchronization accuracy</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In a 10-minute experiment, the network effect yields 3-4x improvement in accuracy of clock synchronization</a:t>
            </a:r>
          </a:p>
        </p:txBody>
      </p:sp>
      <p:pic>
        <p:nvPicPr>
          <p:cNvPr id="4" name="Picture 3">
            <a:extLst>
              <a:ext uri="{FF2B5EF4-FFF2-40B4-BE49-F238E27FC236}">
                <a16:creationId xmlns:a16="http://schemas.microsoft.com/office/drawing/2014/main" id="{A983D268-F1AE-1C06-E851-09BC48090819}"/>
              </a:ext>
            </a:extLst>
          </p:cNvPr>
          <p:cNvPicPr>
            <a:picLocks noChangeAspect="1"/>
          </p:cNvPicPr>
          <p:nvPr/>
        </p:nvPicPr>
        <p:blipFill>
          <a:blip r:embed="rId2"/>
          <a:stretch>
            <a:fillRect/>
          </a:stretch>
        </p:blipFill>
        <p:spPr>
          <a:xfrm>
            <a:off x="2041401" y="2270314"/>
            <a:ext cx="5061197" cy="1656759"/>
          </a:xfrm>
          <a:prstGeom prst="rect">
            <a:avLst/>
          </a:prstGeom>
        </p:spPr>
      </p:pic>
      <p:sp>
        <p:nvSpPr>
          <p:cNvPr id="5" name="Title 1">
            <a:extLst>
              <a:ext uri="{FF2B5EF4-FFF2-40B4-BE49-F238E27FC236}">
                <a16:creationId xmlns:a16="http://schemas.microsoft.com/office/drawing/2014/main" id="{12330572-BB62-FB84-03D0-8FDDB894319C}"/>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3"/>
              </a:rPr>
              <a:t>Huygen</a:t>
            </a:r>
            <a:endParaRPr lang="en-US" dirty="0"/>
          </a:p>
        </p:txBody>
      </p:sp>
    </p:spTree>
    <p:extLst>
      <p:ext uri="{BB962C8B-B14F-4D97-AF65-F5344CB8AC3E}">
        <p14:creationId xmlns:p14="http://schemas.microsoft.com/office/powerpoint/2010/main" val="2773631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BD1F-8904-94A9-BACC-5CFA2B510431}"/>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p>
        </p:txBody>
      </p:sp>
      <p:sp>
        <p:nvSpPr>
          <p:cNvPr id="3" name="Text Placeholder 2">
            <a:extLst>
              <a:ext uri="{FF2B5EF4-FFF2-40B4-BE49-F238E27FC236}">
                <a16:creationId xmlns:a16="http://schemas.microsoft.com/office/drawing/2014/main" id="{C94B4CE8-FEF2-2ACC-25BF-895CAC9EFC99}"/>
              </a:ext>
            </a:extLst>
          </p:cNvPr>
          <p:cNvSpPr>
            <a:spLocks noGrp="1"/>
          </p:cNvSpPr>
          <p:nvPr>
            <p:ph type="body" idx="1"/>
          </p:nvPr>
        </p:nvSpPr>
        <p:spPr>
          <a:xfrm>
            <a:off x="311700" y="1152475"/>
            <a:ext cx="7800942" cy="3416400"/>
          </a:xfrm>
        </p:spPr>
        <p:txBody>
          <a:bodyPr/>
          <a:lstStyle/>
          <a:p>
            <a:pPr marL="114300" indent="0">
              <a:buNone/>
            </a:pPr>
            <a:r>
              <a:rPr lang="en-US" sz="1400" b="1" dirty="0">
                <a:solidFill>
                  <a:schemeClr val="tx1"/>
                </a:solidFill>
                <a:latin typeface="Times New Roman" panose="02020603050405020304" pitchFamily="18" charset="0"/>
                <a:cs typeface="Times New Roman" panose="02020603050405020304" pitchFamily="18" charset="0"/>
              </a:rPr>
              <a:t>Network load vs HUYGENS</a:t>
            </a:r>
          </a:p>
          <a:p>
            <a:pPr marL="114300" indent="0">
              <a:buNone/>
            </a:pPr>
            <a:endParaRPr lang="en-US" sz="14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At 90% load, HUYGENS synchronized clocks with 99</a:t>
            </a:r>
            <a:r>
              <a:rPr lang="en-US" sz="1400" baseline="30000" dirty="0">
                <a:solidFill>
                  <a:schemeClr val="tx1"/>
                </a:solidFill>
                <a:latin typeface="Times New Roman" panose="02020603050405020304" pitchFamily="18" charset="0"/>
                <a:cs typeface="Times New Roman" panose="02020603050405020304" pitchFamily="18" charset="0"/>
              </a:rPr>
              <a:t>th</a:t>
            </a:r>
            <a:r>
              <a:rPr lang="en-US" sz="1400" dirty="0">
                <a:solidFill>
                  <a:schemeClr val="tx1"/>
                </a:solidFill>
                <a:latin typeface="Times New Roman" panose="02020603050405020304" pitchFamily="18" charset="0"/>
                <a:cs typeface="Times New Roman" panose="02020603050405020304" pitchFamily="18" charset="0"/>
              </a:rPr>
              <a:t> % error smaller than 60ns</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9D8D7C1-100F-9AB1-6B82-886090D32DE1}"/>
              </a:ext>
            </a:extLst>
          </p:cNvPr>
          <p:cNvPicPr>
            <a:picLocks noChangeAspect="1"/>
          </p:cNvPicPr>
          <p:nvPr/>
        </p:nvPicPr>
        <p:blipFill rotWithShape="1">
          <a:blip r:embed="rId2"/>
          <a:srcRect b="13500"/>
          <a:stretch/>
        </p:blipFill>
        <p:spPr>
          <a:xfrm>
            <a:off x="2504661" y="2041572"/>
            <a:ext cx="3171686" cy="2527303"/>
          </a:xfrm>
          <a:prstGeom prst="rect">
            <a:avLst/>
          </a:prstGeom>
        </p:spPr>
      </p:pic>
      <p:sp>
        <p:nvSpPr>
          <p:cNvPr id="6" name="Title 1">
            <a:extLst>
              <a:ext uri="{FF2B5EF4-FFF2-40B4-BE49-F238E27FC236}">
                <a16:creationId xmlns:a16="http://schemas.microsoft.com/office/drawing/2014/main" id="{E9C6B05E-FC73-18F7-BE8B-BB284E39AFA6}"/>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3"/>
              </a:rPr>
              <a:t>Huygen</a:t>
            </a:r>
            <a:endParaRPr lang="en-US" dirty="0"/>
          </a:p>
        </p:txBody>
      </p:sp>
    </p:spTree>
    <p:extLst>
      <p:ext uri="{BB962C8B-B14F-4D97-AF65-F5344CB8AC3E}">
        <p14:creationId xmlns:p14="http://schemas.microsoft.com/office/powerpoint/2010/main" val="1626554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BD1F-8904-94A9-BACC-5CFA2B510431}"/>
              </a:ext>
            </a:extLst>
          </p:cNvPr>
          <p:cNvSpPr>
            <a:spLocks noGrp="1"/>
          </p:cNvSpPr>
          <p:nvPr>
            <p:ph type="title"/>
          </p:nvPr>
        </p:nvSpPr>
        <p:spPr/>
        <p:txBody>
          <a:bodyPr>
            <a:normAutofit fontScale="90000"/>
          </a:bodyPr>
          <a:lstStyle/>
          <a:p>
            <a:r>
              <a:rPr lang="en-US" dirty="0"/>
              <a:t>Evaluation</a:t>
            </a:r>
          </a:p>
        </p:txBody>
      </p:sp>
      <p:pic>
        <p:nvPicPr>
          <p:cNvPr id="4" name="Picture 3">
            <a:extLst>
              <a:ext uri="{FF2B5EF4-FFF2-40B4-BE49-F238E27FC236}">
                <a16:creationId xmlns:a16="http://schemas.microsoft.com/office/drawing/2014/main" id="{A05FF16C-B06F-FC3F-9A35-DBB8948234EE}"/>
              </a:ext>
            </a:extLst>
          </p:cNvPr>
          <p:cNvPicPr>
            <a:picLocks noChangeAspect="1"/>
          </p:cNvPicPr>
          <p:nvPr/>
        </p:nvPicPr>
        <p:blipFill>
          <a:blip r:embed="rId2"/>
          <a:stretch>
            <a:fillRect/>
          </a:stretch>
        </p:blipFill>
        <p:spPr>
          <a:xfrm>
            <a:off x="1414130" y="2445488"/>
            <a:ext cx="5523614" cy="1955486"/>
          </a:xfrm>
          <a:prstGeom prst="rect">
            <a:avLst/>
          </a:prstGeom>
        </p:spPr>
      </p:pic>
      <p:sp>
        <p:nvSpPr>
          <p:cNvPr id="3" name="Text Placeholder 2">
            <a:extLst>
              <a:ext uri="{FF2B5EF4-FFF2-40B4-BE49-F238E27FC236}">
                <a16:creationId xmlns:a16="http://schemas.microsoft.com/office/drawing/2014/main" id="{C94B4CE8-FEF2-2ACC-25BF-895CAC9EFC99}"/>
              </a:ext>
            </a:extLst>
          </p:cNvPr>
          <p:cNvSpPr>
            <a:spLocks noGrp="1"/>
          </p:cNvSpPr>
          <p:nvPr>
            <p:ph type="body" idx="1"/>
          </p:nvPr>
        </p:nvSpPr>
        <p:spPr>
          <a:xfrm>
            <a:off x="311700" y="1152475"/>
            <a:ext cx="8520600" cy="1293013"/>
          </a:xfrm>
        </p:spPr>
        <p:txBody>
          <a:bodyPr>
            <a:normAutofit/>
          </a:bodyPr>
          <a:lstStyle/>
          <a:p>
            <a:pPr marL="114300" indent="0">
              <a:buNone/>
            </a:pPr>
            <a:r>
              <a:rPr lang="en-US" sz="1400" b="1" dirty="0">
                <a:solidFill>
                  <a:schemeClr val="tx1"/>
                </a:solidFill>
                <a:latin typeface="Times New Roman" panose="02020603050405020304" pitchFamily="18" charset="0"/>
                <a:cs typeface="Times New Roman" panose="02020603050405020304" pitchFamily="18" charset="0"/>
              </a:rPr>
              <a:t>Comparison with NTP</a:t>
            </a:r>
          </a:p>
          <a:p>
            <a:pPr marL="114300" indent="0">
              <a:buNone/>
            </a:pPr>
            <a:endParaRPr lang="en-US" sz="14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NTP’s error is 4 orders of magnitude larger than HUYGENS’s under medium to high network loads. </a:t>
            </a: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E492D741-0251-E9AD-1F1F-E65C3481ECA5}"/>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3"/>
              </a:rPr>
              <a:t>Huygen</a:t>
            </a:r>
            <a:endParaRPr lang="en-US" dirty="0"/>
          </a:p>
        </p:txBody>
      </p:sp>
    </p:spTree>
    <p:extLst>
      <p:ext uri="{BB962C8B-B14F-4D97-AF65-F5344CB8AC3E}">
        <p14:creationId xmlns:p14="http://schemas.microsoft.com/office/powerpoint/2010/main" val="1191096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BD1F-8904-94A9-BACC-5CFA2B510431}"/>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C94B4CE8-FEF2-2ACC-25BF-895CAC9EFC99}"/>
              </a:ext>
            </a:extLst>
          </p:cNvPr>
          <p:cNvSpPr>
            <a:spLocks noGrp="1"/>
          </p:cNvSpPr>
          <p:nvPr>
            <p:ph type="body" idx="1"/>
          </p:nvPr>
        </p:nvSpPr>
        <p:spPr>
          <a:xfrm>
            <a:off x="311700" y="1152475"/>
            <a:ext cx="8520600" cy="3546000"/>
          </a:xfrm>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HUYGENS is a software-based clock synchronization algorithm</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Needs NICs for hardware timestamping</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Achieves accuracy of 10s of nanoseconds even at high network loads</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HUYGENS can scale the whole datacenter</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In 40 Gbps data center, HUYGENS consumes around 0.05% of servers bandwidth and less than 0.44% of its CPU time</a:t>
            </a:r>
          </a:p>
        </p:txBody>
      </p:sp>
      <p:sp>
        <p:nvSpPr>
          <p:cNvPr id="5" name="Title 1">
            <a:extLst>
              <a:ext uri="{FF2B5EF4-FFF2-40B4-BE49-F238E27FC236}">
                <a16:creationId xmlns:a16="http://schemas.microsoft.com/office/drawing/2014/main" id="{7A05A5F6-78D3-A8D7-D8EF-DA668F703B52}"/>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800" dirty="0">
                <a:latin typeface="Times New Roman" panose="02020603050405020304" pitchFamily="18" charset="0"/>
                <a:cs typeface="Times New Roman" panose="02020603050405020304" pitchFamily="18" charset="0"/>
                <a:hlinkClick r:id="rId2"/>
              </a:rPr>
              <a:t>Huygen</a:t>
            </a:r>
            <a:endParaRPr lang="en-US" dirty="0"/>
          </a:p>
        </p:txBody>
      </p:sp>
    </p:spTree>
    <p:extLst>
      <p:ext uri="{BB962C8B-B14F-4D97-AF65-F5344CB8AC3E}">
        <p14:creationId xmlns:p14="http://schemas.microsoft.com/office/powerpoint/2010/main" val="3587572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F1542-1FB1-0D62-6522-78E880ED6FE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Note</a:t>
            </a:r>
          </a:p>
        </p:txBody>
      </p:sp>
      <p:sp>
        <p:nvSpPr>
          <p:cNvPr id="3" name="Text Placeholder 2">
            <a:extLst>
              <a:ext uri="{FF2B5EF4-FFF2-40B4-BE49-F238E27FC236}">
                <a16:creationId xmlns:a16="http://schemas.microsoft.com/office/drawing/2014/main" id="{4CC9224E-37FC-5451-51B2-68CEF8926C9B}"/>
              </a:ext>
            </a:extLst>
          </p:cNvPr>
          <p:cNvSpPr>
            <a:spLocks noGrp="1"/>
          </p:cNvSpPr>
          <p:nvPr>
            <p:ph type="body" idx="1"/>
          </p:nvPr>
        </p:nvSpPr>
        <p:spPr/>
        <p:txBody>
          <a:bodyPr/>
          <a:lstStyle/>
          <a:p>
            <a:pPr marL="114300" indent="0">
              <a:buNone/>
            </a:pPr>
            <a:r>
              <a:rPr lang="en-US"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 Novel Clock Synchronization System for Large-Scale Clusters</a:t>
            </a:r>
            <a:r>
              <a:rPr lang="en-US" dirty="0">
                <a:solidFill>
                  <a:schemeClr val="tx1"/>
                </a:solidFill>
                <a:latin typeface="Times New Roman" panose="02020603050405020304" pitchFamily="18" charset="0"/>
                <a:cs typeface="Times New Roman" panose="02020603050405020304" pitchFamily="18" charset="0"/>
              </a:rPr>
              <a:t> seems to be in work in progress and it claims synchronization process is improved by 44.8% compared to Huygens. Suitable for large scale clusters.  </a:t>
            </a: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r>
              <a:rPr lang="en-US" dirty="0">
                <a:solidFill>
                  <a:schemeClr val="tx1"/>
                </a:solidFill>
                <a:latin typeface="Times New Roman" panose="02020603050405020304" pitchFamily="18" charset="0"/>
                <a:cs typeface="Times New Roman" panose="02020603050405020304" pitchFamily="18" charset="0"/>
              </a:rPr>
              <a:t>Read more from notes</a:t>
            </a:r>
          </a:p>
        </p:txBody>
      </p:sp>
    </p:spTree>
    <p:extLst>
      <p:ext uri="{BB962C8B-B14F-4D97-AF65-F5344CB8AC3E}">
        <p14:creationId xmlns:p14="http://schemas.microsoft.com/office/powerpoint/2010/main" val="4193722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72255-174C-CD25-6FDD-C744C5F18878}"/>
              </a:ext>
            </a:extLst>
          </p:cNvPr>
          <p:cNvSpPr>
            <a:spLocks noGrp="1"/>
          </p:cNvSpPr>
          <p:nvPr>
            <p:ph type="title"/>
          </p:nvPr>
        </p:nvSpPr>
        <p:spPr/>
        <p:txBody>
          <a:bodyPr>
            <a:normAutofit fontScale="90000"/>
          </a:bodyPr>
          <a:lstStyle/>
          <a:p>
            <a:r>
              <a:rPr lang="en" dirty="0">
                <a:latin typeface="Times New Roman" panose="02020603050405020304" pitchFamily="18" charset="0"/>
                <a:cs typeface="Times New Roman" panose="02020603050405020304" pitchFamily="18" charset="0"/>
                <a:hlinkClick r:id="rId2"/>
              </a:rPr>
              <a:t>Communication-efficient Clock Synchronization</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CDD48D1-82B9-2947-20F3-21330F6092C9}"/>
              </a:ext>
            </a:extLst>
          </p:cNvPr>
          <p:cNvSpPr>
            <a:spLocks noGrp="1"/>
          </p:cNvSpPr>
          <p:nvPr>
            <p:ph type="body" idx="1"/>
          </p:nvPr>
        </p:nvSpPr>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With the increased focus on clock synchronization, there us a need to improve the speed and reliability of implementation of synchronization techniques.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In HUYGENS algorithm, each server node exchange time information with its neighboring nodes and send to master node to run synchronization algorithm.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Servers and master should ensure timely communication to guarantee the sync accuracy.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Any communication overhead significantly affects accuracy of synchronization.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This paper identifies ways to reduce this communication cost.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7233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72255-174C-CD25-6FDD-C744C5F18878}"/>
              </a:ext>
            </a:extLst>
          </p:cNvPr>
          <p:cNvSpPr>
            <a:spLocks noGrp="1"/>
          </p:cNvSpPr>
          <p:nvPr>
            <p:ph type="title"/>
          </p:nvPr>
        </p:nvSpPr>
        <p:spPr/>
        <p:txBody>
          <a:bodyPr>
            <a:normAutofit fontScale="90000"/>
          </a:bodyPr>
          <a:lstStyle/>
          <a:p>
            <a:r>
              <a:rPr lang="en" dirty="0">
                <a:latin typeface="Times New Roman" panose="02020603050405020304" pitchFamily="18" charset="0"/>
                <a:cs typeface="Times New Roman" panose="02020603050405020304" pitchFamily="18" charset="0"/>
              </a:rPr>
              <a:t>Overview</a:t>
            </a:r>
            <a:endParaRPr lang="en-US" dirty="0"/>
          </a:p>
        </p:txBody>
      </p:sp>
      <p:sp>
        <p:nvSpPr>
          <p:cNvPr id="3" name="Text Placeholder 2">
            <a:extLst>
              <a:ext uri="{FF2B5EF4-FFF2-40B4-BE49-F238E27FC236}">
                <a16:creationId xmlns:a16="http://schemas.microsoft.com/office/drawing/2014/main" id="{ACDD48D1-82B9-2947-20F3-21330F6092C9}"/>
              </a:ext>
            </a:extLst>
          </p:cNvPr>
          <p:cNvSpPr>
            <a:spLocks noGrp="1"/>
          </p:cNvSpPr>
          <p:nvPr>
            <p:ph type="body" idx="1"/>
          </p:nvPr>
        </p:nvSpPr>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In HUYGENS, the network is described by graph G = (V, E) where V is represent server nodes and E represent edge information.</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The edge information is a weight representing approximate time discrepancy.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Each server node linearly codes the edge information and master node downloads the coded information from the servers to compute linear function.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The goal is to minimize the total amount of information downloaded by master node. </a:t>
            </a: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In other words, to minimize communication cost defined as the number of symbols communicated from all the server nodes to master node. </a:t>
            </a:r>
          </a:p>
        </p:txBody>
      </p:sp>
      <p:sp>
        <p:nvSpPr>
          <p:cNvPr id="4" name="Title 1">
            <a:extLst>
              <a:ext uri="{FF2B5EF4-FFF2-40B4-BE49-F238E27FC236}">
                <a16:creationId xmlns:a16="http://schemas.microsoft.com/office/drawing/2014/main" id="{F4CCB80B-3787-98A5-0FA5-86E80A54E4E1}"/>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dirty="0">
                <a:latin typeface="Times New Roman" panose="02020603050405020304" pitchFamily="18" charset="0"/>
                <a:cs typeface="Times New Roman" panose="02020603050405020304" pitchFamily="18" charset="0"/>
                <a:hlinkClick r:id="rId2"/>
              </a:rPr>
              <a:t>Communication-efficient Clock Synchronization</a:t>
            </a:r>
            <a:endParaRPr lang="en-US" dirty="0"/>
          </a:p>
        </p:txBody>
      </p:sp>
    </p:spTree>
    <p:extLst>
      <p:ext uri="{BB962C8B-B14F-4D97-AF65-F5344CB8AC3E}">
        <p14:creationId xmlns:p14="http://schemas.microsoft.com/office/powerpoint/2010/main" val="767827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72255-174C-CD25-6FDD-C744C5F18878}"/>
              </a:ext>
            </a:extLst>
          </p:cNvPr>
          <p:cNvSpPr>
            <a:spLocks noGrp="1"/>
          </p:cNvSpPr>
          <p:nvPr>
            <p:ph type="title"/>
          </p:nvPr>
        </p:nvSpPr>
        <p:spPr/>
        <p:txBody>
          <a:bodyPr>
            <a:normAutofit fontScale="90000"/>
          </a:bodyPr>
          <a:lstStyle/>
          <a:p>
            <a:r>
              <a:rPr lang="en" dirty="0"/>
              <a:t>Implementation</a:t>
            </a:r>
            <a:endParaRPr lang="en-US" dirty="0"/>
          </a:p>
        </p:txBody>
      </p:sp>
      <p:sp>
        <p:nvSpPr>
          <p:cNvPr id="3" name="Text Placeholder 2">
            <a:extLst>
              <a:ext uri="{FF2B5EF4-FFF2-40B4-BE49-F238E27FC236}">
                <a16:creationId xmlns:a16="http://schemas.microsoft.com/office/drawing/2014/main" id="{ACDD48D1-82B9-2947-20F3-21330F6092C9}"/>
              </a:ext>
            </a:extLst>
          </p:cNvPr>
          <p:cNvSpPr>
            <a:spLocks noGrp="1"/>
          </p:cNvSpPr>
          <p:nvPr>
            <p:ph type="body" idx="1"/>
          </p:nvPr>
        </p:nvSpPr>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This paper proposes coding scheme to minimize the communication cost in three different scenarios where edge information is known by </a:t>
            </a:r>
          </a:p>
          <a:p>
            <a:pP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Both incident servers</a:t>
            </a:r>
          </a:p>
          <a:p>
            <a:pP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One incident server</a:t>
            </a:r>
          </a:p>
          <a:p>
            <a:pP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Few known by both incident servers and few by only one (case of </a:t>
            </a:r>
            <a:r>
              <a:rPr lang="en-US" sz="1400" dirty="0" err="1">
                <a:solidFill>
                  <a:schemeClr val="tx1"/>
                </a:solidFill>
                <a:latin typeface="Times New Roman" panose="02020603050405020304" pitchFamily="18" charset="0"/>
                <a:cs typeface="Times New Roman" panose="02020603050405020304" pitchFamily="18" charset="0"/>
              </a:rPr>
              <a:t>huygens</a:t>
            </a:r>
            <a:r>
              <a:rPr lang="en-US" sz="1400" dirty="0">
                <a:solidFill>
                  <a:schemeClr val="tx1"/>
                </a:solidFill>
                <a:latin typeface="Times New Roman" panose="02020603050405020304" pitchFamily="18" charset="0"/>
                <a:cs typeface="Times New Roman" panose="02020603050405020304" pitchFamily="18" charset="0"/>
              </a:rPr>
              <a:t>)</a:t>
            </a:r>
          </a:p>
          <a:p>
            <a:pPr>
              <a:buAutoNum type="arabicPeriod"/>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Implementation details are in the paper. </a:t>
            </a:r>
          </a:p>
        </p:txBody>
      </p:sp>
      <p:sp>
        <p:nvSpPr>
          <p:cNvPr id="4" name="Title 1">
            <a:extLst>
              <a:ext uri="{FF2B5EF4-FFF2-40B4-BE49-F238E27FC236}">
                <a16:creationId xmlns:a16="http://schemas.microsoft.com/office/drawing/2014/main" id="{EE0BC655-5212-C3C2-A90E-DDA87C90FD57}"/>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dirty="0">
                <a:latin typeface="Times New Roman" panose="02020603050405020304" pitchFamily="18" charset="0"/>
                <a:cs typeface="Times New Roman" panose="02020603050405020304" pitchFamily="18" charset="0"/>
                <a:hlinkClick r:id="rId2"/>
              </a:rPr>
              <a:t>Communication-efficient Clock Synchronization</a:t>
            </a:r>
            <a:endParaRPr lang="en-US" dirty="0"/>
          </a:p>
        </p:txBody>
      </p:sp>
    </p:spTree>
    <p:extLst>
      <p:ext uri="{BB962C8B-B14F-4D97-AF65-F5344CB8AC3E}">
        <p14:creationId xmlns:p14="http://schemas.microsoft.com/office/powerpoint/2010/main" val="1148425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9FFE-72B9-F085-7CEE-DD4C3C885BDB}"/>
              </a:ext>
            </a:extLst>
          </p:cNvPr>
          <p:cNvSpPr>
            <a:spLocks noGrp="1"/>
          </p:cNvSpPr>
          <p:nvPr>
            <p:ph type="title"/>
          </p:nvPr>
        </p:nvSpPr>
        <p:spPr/>
        <p:txBody>
          <a:bodyPr>
            <a:normAutofit/>
          </a:bodyPr>
          <a:lstStyle/>
          <a:p>
            <a:r>
              <a:rPr lang="en-IN" sz="1800" dirty="0">
                <a:effectLst/>
                <a:latin typeface="NimbusRomNo9L"/>
                <a:hlinkClick r:id="rId2"/>
              </a:rPr>
              <a:t>SSA</a:t>
            </a:r>
            <a:r>
              <a:rPr lang="en-IN" sz="1800" dirty="0">
                <a:effectLst/>
                <a:latin typeface="NimbusRomNo9L"/>
              </a:rPr>
              <a:t> - Motivation</a:t>
            </a:r>
            <a:endParaRPr lang="en-US" dirty="0"/>
          </a:p>
        </p:txBody>
      </p:sp>
      <p:sp>
        <p:nvSpPr>
          <p:cNvPr id="3" name="Text Placeholder 2">
            <a:extLst>
              <a:ext uri="{FF2B5EF4-FFF2-40B4-BE49-F238E27FC236}">
                <a16:creationId xmlns:a16="http://schemas.microsoft.com/office/drawing/2014/main" id="{4FF06256-ABDB-7D15-E957-6B5A12E645AC}"/>
              </a:ext>
            </a:extLst>
          </p:cNvPr>
          <p:cNvSpPr>
            <a:spLocks noGrp="1"/>
          </p:cNvSpPr>
          <p:nvPr>
            <p:ph type="body" idx="1"/>
          </p:nvPr>
        </p:nvSpPr>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Clock synchronization is essential for IoT devices, but achieving high accuracy is challenging.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In wireless channel, the probing signal can be disturbed by the channel noise.</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IoT devices are weak in computation and communication.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Challenging to generate frequent and stable probing in limited time.</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IoT devices lack the power to perform massive timestamp probing required for data-driven solutions.</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SSA (</a:t>
            </a:r>
            <a:r>
              <a:rPr lang="en-IN" sz="1400" b="1" dirty="0">
                <a:solidFill>
                  <a:schemeClr val="tx1"/>
                </a:solidFill>
                <a:latin typeface="Times New Roman" panose="02020603050405020304" pitchFamily="18" charset="0"/>
                <a:cs typeface="Times New Roman" panose="02020603050405020304" pitchFamily="18" charset="0"/>
              </a:rPr>
              <a:t>S</a:t>
            </a:r>
            <a:r>
              <a:rPr lang="en-IN" sz="1400" dirty="0">
                <a:solidFill>
                  <a:schemeClr val="tx1"/>
                </a:solidFill>
                <a:latin typeface="Times New Roman" panose="02020603050405020304" pitchFamily="18" charset="0"/>
                <a:cs typeface="Times New Roman" panose="02020603050405020304" pitchFamily="18" charset="0"/>
              </a:rPr>
              <a:t>liding window, </a:t>
            </a:r>
            <a:r>
              <a:rPr lang="en-IN" sz="1400" b="1" dirty="0">
                <a:solidFill>
                  <a:schemeClr val="tx1"/>
                </a:solidFill>
                <a:latin typeface="Times New Roman" panose="02020603050405020304" pitchFamily="18" charset="0"/>
                <a:cs typeface="Times New Roman" panose="02020603050405020304" pitchFamily="18" charset="0"/>
              </a:rPr>
              <a:t>S</a:t>
            </a:r>
            <a:r>
              <a:rPr lang="en-IN" sz="1400" dirty="0">
                <a:solidFill>
                  <a:schemeClr val="tx1"/>
                </a:solidFill>
                <a:latin typeface="Times New Roman" panose="02020603050405020304" pitchFamily="18" charset="0"/>
                <a:cs typeface="Times New Roman" panose="02020603050405020304" pitchFamily="18" charset="0"/>
              </a:rPr>
              <a:t>moothing, and </a:t>
            </a:r>
            <a:r>
              <a:rPr lang="en-IN" sz="1400" b="1" dirty="0">
                <a:solidFill>
                  <a:schemeClr val="tx1"/>
                </a:solidFill>
                <a:latin typeface="Times New Roman" panose="02020603050405020304" pitchFamily="18" charset="0"/>
                <a:cs typeface="Times New Roman" panose="02020603050405020304" pitchFamily="18" charset="0"/>
              </a:rPr>
              <a:t>A</a:t>
            </a:r>
            <a:r>
              <a:rPr lang="en-IN" sz="1400" dirty="0">
                <a:solidFill>
                  <a:schemeClr val="tx1"/>
                </a:solidFill>
                <a:latin typeface="Times New Roman" panose="02020603050405020304" pitchFamily="18" charset="0"/>
                <a:cs typeface="Times New Roman" panose="02020603050405020304" pitchFamily="18" charset="0"/>
              </a:rPr>
              <a:t>daptive correction) builds upon the Huygens algorithm, adapting it for IoT devices in WLAN environments.</a:t>
            </a:r>
            <a:endParaRPr lang="en-US"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28916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63A5D-7BB4-B3C1-D806-F1C4A76296CD}"/>
              </a:ext>
            </a:extLst>
          </p:cNvPr>
          <p:cNvSpPr>
            <a:spLocks noGrp="1"/>
          </p:cNvSpPr>
          <p:nvPr>
            <p:ph type="title"/>
          </p:nvPr>
        </p:nvSpPr>
        <p:spPr>
          <a:xfrm>
            <a:off x="311700" y="569364"/>
            <a:ext cx="8520600" cy="572700"/>
          </a:xfrm>
        </p:spPr>
        <p:txBody>
          <a:bodyPr>
            <a:normAutofit fontScale="90000"/>
          </a:bodyPr>
          <a:lstStyle/>
          <a:p>
            <a:r>
              <a:rPr lang="en-US" dirty="0">
                <a:latin typeface="Times New Roman" panose="02020603050405020304" pitchFamily="18" charset="0"/>
                <a:cs typeface="Times New Roman" panose="02020603050405020304" pitchFamily="18" charset="0"/>
              </a:rPr>
              <a:t>Synchronization Algorithm Workflow</a:t>
            </a:r>
          </a:p>
        </p:txBody>
      </p:sp>
      <p:sp>
        <p:nvSpPr>
          <p:cNvPr id="3" name="Text Placeholder 2">
            <a:extLst>
              <a:ext uri="{FF2B5EF4-FFF2-40B4-BE49-F238E27FC236}">
                <a16:creationId xmlns:a16="http://schemas.microsoft.com/office/drawing/2014/main" id="{BF5A2EFA-1A16-65AE-4186-AA72AD0980EA}"/>
              </a:ext>
            </a:extLst>
          </p:cNvPr>
          <p:cNvSpPr>
            <a:spLocks noGrp="1"/>
          </p:cNvSpPr>
          <p:nvPr>
            <p:ph type="body" idx="1"/>
          </p:nvPr>
        </p:nvSpPr>
        <p:spPr>
          <a:xfrm>
            <a:off x="311700" y="1152475"/>
            <a:ext cx="6010723" cy="3416400"/>
          </a:xfrm>
        </p:spPr>
        <p:txBody>
          <a:bodyPr>
            <a:normAutofit fontScale="92500" lnSpcReduction="20000"/>
          </a:bodyPr>
          <a:lstStyle/>
          <a:p>
            <a:pPr marL="114300" indent="0">
              <a:buNone/>
            </a:pPr>
            <a:endParaRPr lang="en-IN" b="1" dirty="0">
              <a:solidFill>
                <a:schemeClr val="tx1"/>
              </a:solidFill>
            </a:endParaRPr>
          </a:p>
          <a:p>
            <a:pPr marL="114300" indent="0">
              <a:buNone/>
            </a:pPr>
            <a:r>
              <a:rPr lang="en-IN" b="1" dirty="0">
                <a:solidFill>
                  <a:schemeClr val="accent1"/>
                </a:solidFill>
              </a:rPr>
              <a:t>Continuous data collection </a:t>
            </a:r>
          </a:p>
          <a:p>
            <a:pPr marL="114300" indent="0">
              <a:buNone/>
            </a:pPr>
            <a:endParaRPr lang="en-IN" b="1" dirty="0">
              <a:solidFill>
                <a:schemeClr val="accent1"/>
              </a:solidFill>
            </a:endParaRPr>
          </a:p>
          <a:p>
            <a:pPr marL="114300" indent="0">
              <a:buNone/>
            </a:pPr>
            <a:r>
              <a:rPr lang="en-IN" b="1" dirty="0">
                <a:solidFill>
                  <a:schemeClr val="accent1"/>
                </a:solidFill>
              </a:rPr>
              <a:t>Sliding window data accumulation </a:t>
            </a:r>
          </a:p>
          <a:p>
            <a:pPr marL="114300" indent="0">
              <a:buNone/>
            </a:pPr>
            <a:r>
              <a:rPr lang="en-IN" b="1" dirty="0">
                <a:solidFill>
                  <a:schemeClr val="accent1"/>
                </a:solidFill>
              </a:rPr>
              <a:t> </a:t>
            </a:r>
          </a:p>
          <a:p>
            <a:pPr marL="114300" indent="0">
              <a:buNone/>
            </a:pPr>
            <a:r>
              <a:rPr lang="en-IN" b="1" dirty="0">
                <a:solidFill>
                  <a:schemeClr val="accent1"/>
                </a:solidFill>
              </a:rPr>
              <a:t>SVM estimation</a:t>
            </a:r>
          </a:p>
          <a:p>
            <a:pPr marL="114300" indent="0">
              <a:buNone/>
            </a:pPr>
            <a:endParaRPr lang="en-IN" b="1" dirty="0">
              <a:solidFill>
                <a:schemeClr val="accent1"/>
              </a:solidFill>
            </a:endParaRPr>
          </a:p>
          <a:p>
            <a:pPr marL="114300" indent="0">
              <a:buNone/>
            </a:pPr>
            <a:r>
              <a:rPr lang="en-IN" b="1" dirty="0">
                <a:solidFill>
                  <a:schemeClr val="accent1"/>
                </a:solidFill>
              </a:rPr>
              <a:t>Smoothing of estimates</a:t>
            </a:r>
          </a:p>
          <a:p>
            <a:pPr marL="114300" indent="0">
              <a:buNone/>
            </a:pPr>
            <a:endParaRPr lang="en-IN" b="1" dirty="0">
              <a:solidFill>
                <a:schemeClr val="accent1"/>
              </a:solidFill>
            </a:endParaRPr>
          </a:p>
          <a:p>
            <a:pPr marL="114300" indent="0">
              <a:buNone/>
            </a:pPr>
            <a:r>
              <a:rPr lang="en-IN" b="1" dirty="0">
                <a:solidFill>
                  <a:schemeClr val="accent1"/>
                </a:solidFill>
              </a:rPr>
              <a:t>Stability check</a:t>
            </a:r>
          </a:p>
          <a:p>
            <a:pPr marL="114300" indent="0">
              <a:buNone/>
            </a:pPr>
            <a:endParaRPr lang="en-IN" b="1" dirty="0">
              <a:solidFill>
                <a:schemeClr val="accent1"/>
              </a:solidFill>
            </a:endParaRPr>
          </a:p>
          <a:p>
            <a:pPr marL="114300" indent="0">
              <a:buNone/>
            </a:pPr>
            <a:r>
              <a:rPr lang="en-IN" b="1" dirty="0">
                <a:solidFill>
                  <a:schemeClr val="accent1"/>
                </a:solidFill>
              </a:rPr>
              <a:t>Adaptive clock correction</a:t>
            </a:r>
          </a:p>
          <a:p>
            <a:pPr marL="114300" indent="0">
              <a:buNone/>
            </a:pPr>
            <a:endParaRPr lang="en-IN" b="1" dirty="0">
              <a:solidFill>
                <a:schemeClr val="accent1"/>
              </a:solidFill>
            </a:endParaRPr>
          </a:p>
          <a:p>
            <a:pPr marL="114300" indent="0">
              <a:buNone/>
            </a:pPr>
            <a:endParaRPr lang="en-US" b="1" dirty="0">
              <a:solidFill>
                <a:schemeClr val="accent1"/>
              </a:solidFill>
            </a:endParaRPr>
          </a:p>
        </p:txBody>
      </p:sp>
      <p:cxnSp>
        <p:nvCxnSpPr>
          <p:cNvPr id="8" name="Straight Arrow Connector 7">
            <a:extLst>
              <a:ext uri="{FF2B5EF4-FFF2-40B4-BE49-F238E27FC236}">
                <a16:creationId xmlns:a16="http://schemas.microsoft.com/office/drawing/2014/main" id="{CA708FDF-E9E5-3B02-CE53-3AC2B23F5FEA}"/>
              </a:ext>
            </a:extLst>
          </p:cNvPr>
          <p:cNvCxnSpPr/>
          <p:nvPr/>
        </p:nvCxnSpPr>
        <p:spPr>
          <a:xfrm>
            <a:off x="1842380" y="1701542"/>
            <a:ext cx="0" cy="279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A974679-B849-3899-186B-F4D865D3AAE0}"/>
              </a:ext>
            </a:extLst>
          </p:cNvPr>
          <p:cNvCxnSpPr/>
          <p:nvPr/>
        </p:nvCxnSpPr>
        <p:spPr>
          <a:xfrm>
            <a:off x="1842380" y="2204519"/>
            <a:ext cx="0" cy="279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1373B1E-CBE9-B930-C1A3-970A187916FF}"/>
              </a:ext>
            </a:extLst>
          </p:cNvPr>
          <p:cNvCxnSpPr/>
          <p:nvPr/>
        </p:nvCxnSpPr>
        <p:spPr>
          <a:xfrm>
            <a:off x="1857469" y="2682844"/>
            <a:ext cx="0" cy="279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3969E09-0052-E8BA-4384-5A848A2F41CB}"/>
              </a:ext>
            </a:extLst>
          </p:cNvPr>
          <p:cNvCxnSpPr/>
          <p:nvPr/>
        </p:nvCxnSpPr>
        <p:spPr>
          <a:xfrm>
            <a:off x="1852942" y="3211961"/>
            <a:ext cx="0" cy="279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67E5975-E28C-F3EA-ED4D-D082380D90B2}"/>
              </a:ext>
            </a:extLst>
          </p:cNvPr>
          <p:cNvCxnSpPr/>
          <p:nvPr/>
        </p:nvCxnSpPr>
        <p:spPr>
          <a:xfrm>
            <a:off x="1858977" y="3717956"/>
            <a:ext cx="0" cy="279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0F2402E4-D605-40C8-6AC4-EFB61722CFF4}"/>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2"/>
              </a:rPr>
              <a:t>SSA</a:t>
            </a:r>
            <a:r>
              <a:rPr lang="en" dirty="0">
                <a:latin typeface="Times New Roman" panose="02020603050405020304" pitchFamily="18" charset="0"/>
                <a:cs typeface="Times New Roman" panose="02020603050405020304" pitchFamily="18" charset="0"/>
                <a:hlinkClick r:id="rId3"/>
              </a:rPr>
              <a:t> Clock Synchronization</a:t>
            </a:r>
            <a:endParaRPr lang="en-US" dirty="0"/>
          </a:p>
        </p:txBody>
      </p:sp>
    </p:spTree>
    <p:extLst>
      <p:ext uri="{BB962C8B-B14F-4D97-AF65-F5344CB8AC3E}">
        <p14:creationId xmlns:p14="http://schemas.microsoft.com/office/powerpoint/2010/main" val="2056615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63A5D-7BB4-B3C1-D806-F1C4A76296C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Algorithm</a:t>
            </a:r>
          </a:p>
        </p:txBody>
      </p:sp>
      <p:sp>
        <p:nvSpPr>
          <p:cNvPr id="3" name="Text Placeholder 2">
            <a:extLst>
              <a:ext uri="{FF2B5EF4-FFF2-40B4-BE49-F238E27FC236}">
                <a16:creationId xmlns:a16="http://schemas.microsoft.com/office/drawing/2014/main" id="{BF5A2EFA-1A16-65AE-4186-AA72AD0980EA}"/>
              </a:ext>
            </a:extLst>
          </p:cNvPr>
          <p:cNvSpPr>
            <a:spLocks noGrp="1"/>
          </p:cNvSpPr>
          <p:nvPr>
            <p:ph type="body" idx="1"/>
          </p:nvPr>
        </p:nvSpPr>
        <p:spPr>
          <a:xfrm>
            <a:off x="311700" y="1152475"/>
            <a:ext cx="5401037" cy="3416400"/>
          </a:xfrm>
        </p:spPr>
        <p:txBody>
          <a:bodyPr>
            <a:normAutofit/>
          </a:bodyPr>
          <a:lstStyle/>
          <a:p>
            <a:pPr marL="114300" indent="0">
              <a:buNone/>
            </a:pPr>
            <a:r>
              <a:rPr lang="en-IN" sz="1200" b="1" dirty="0">
                <a:solidFill>
                  <a:schemeClr val="tx1"/>
                </a:solidFill>
                <a:latin typeface="Times New Roman" panose="02020603050405020304" pitchFamily="18" charset="0"/>
                <a:cs typeface="Times New Roman" panose="02020603050405020304" pitchFamily="18" charset="0"/>
              </a:rPr>
              <a:t>Sliding Window Technique</a:t>
            </a:r>
          </a:p>
          <a:p>
            <a:pPr marL="114300" indent="0">
              <a:buNone/>
            </a:pPr>
            <a:endParaRPr lang="en-IN" sz="12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IoT devices can make only k probes at an interval, insufficient for SVM to calculate drift, offset.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Sliding window accumulates previous interval timestamps with the current window.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Current time slice data is adjusted according to the cumulative clock correction.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Send sufficient timestamp data to SVM to calculate offset and drift</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2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2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2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190CA91-CFD9-71EC-665C-E130117C0CB3}"/>
              </a:ext>
            </a:extLst>
          </p:cNvPr>
          <p:cNvPicPr>
            <a:picLocks noChangeAspect="1"/>
          </p:cNvPicPr>
          <p:nvPr/>
        </p:nvPicPr>
        <p:blipFill>
          <a:blip r:embed="rId2"/>
          <a:stretch>
            <a:fillRect/>
          </a:stretch>
        </p:blipFill>
        <p:spPr>
          <a:xfrm>
            <a:off x="5712737" y="912008"/>
            <a:ext cx="3119563" cy="1897466"/>
          </a:xfrm>
          <a:prstGeom prst="rect">
            <a:avLst/>
          </a:prstGeom>
        </p:spPr>
      </p:pic>
      <p:pic>
        <p:nvPicPr>
          <p:cNvPr id="7" name="Picture 6">
            <a:extLst>
              <a:ext uri="{FF2B5EF4-FFF2-40B4-BE49-F238E27FC236}">
                <a16:creationId xmlns:a16="http://schemas.microsoft.com/office/drawing/2014/main" id="{C149AB75-D2E5-02C6-85A4-12FEE425847F}"/>
              </a:ext>
            </a:extLst>
          </p:cNvPr>
          <p:cNvPicPr>
            <a:picLocks noChangeAspect="1"/>
          </p:cNvPicPr>
          <p:nvPr/>
        </p:nvPicPr>
        <p:blipFill>
          <a:blip r:embed="rId3"/>
          <a:stretch>
            <a:fillRect/>
          </a:stretch>
        </p:blipFill>
        <p:spPr>
          <a:xfrm>
            <a:off x="5712737" y="3076665"/>
            <a:ext cx="3119563" cy="1791749"/>
          </a:xfrm>
          <a:prstGeom prst="rect">
            <a:avLst/>
          </a:prstGeom>
        </p:spPr>
      </p:pic>
      <p:sp>
        <p:nvSpPr>
          <p:cNvPr id="13" name="Title 1">
            <a:extLst>
              <a:ext uri="{FF2B5EF4-FFF2-40B4-BE49-F238E27FC236}">
                <a16:creationId xmlns:a16="http://schemas.microsoft.com/office/drawing/2014/main" id="{93820032-D4C1-9590-0DCD-30EC821ABD3C}"/>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4"/>
              </a:rPr>
              <a:t>SSA</a:t>
            </a:r>
            <a:r>
              <a:rPr lang="en" dirty="0">
                <a:latin typeface="Times New Roman" panose="02020603050405020304" pitchFamily="18" charset="0"/>
                <a:cs typeface="Times New Roman" panose="02020603050405020304" pitchFamily="18" charset="0"/>
                <a:hlinkClick r:id="rId5"/>
              </a:rPr>
              <a:t> Clock Synchronization</a:t>
            </a:r>
            <a:endParaRPr lang="en-US" dirty="0"/>
          </a:p>
        </p:txBody>
      </p:sp>
    </p:spTree>
    <p:extLst>
      <p:ext uri="{BB962C8B-B14F-4D97-AF65-F5344CB8AC3E}">
        <p14:creationId xmlns:p14="http://schemas.microsoft.com/office/powerpoint/2010/main" val="298112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63A5D-7BB4-B3C1-D806-F1C4A76296C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Algorithm</a:t>
            </a:r>
          </a:p>
        </p:txBody>
      </p:sp>
      <p:sp>
        <p:nvSpPr>
          <p:cNvPr id="3" name="Text Placeholder 2">
            <a:extLst>
              <a:ext uri="{FF2B5EF4-FFF2-40B4-BE49-F238E27FC236}">
                <a16:creationId xmlns:a16="http://schemas.microsoft.com/office/drawing/2014/main" id="{BF5A2EFA-1A16-65AE-4186-AA72AD0980EA}"/>
              </a:ext>
            </a:extLst>
          </p:cNvPr>
          <p:cNvSpPr>
            <a:spLocks noGrp="1"/>
          </p:cNvSpPr>
          <p:nvPr>
            <p:ph type="body" idx="1"/>
          </p:nvPr>
        </p:nvSpPr>
        <p:spPr>
          <a:xfrm>
            <a:off x="311701" y="1152475"/>
            <a:ext cx="4260300" cy="3416400"/>
          </a:xfrm>
        </p:spPr>
        <p:txBody>
          <a:bodyPr>
            <a:normAutofit/>
          </a:bodyPr>
          <a:lstStyle/>
          <a:p>
            <a:pPr marL="114300" indent="0">
              <a:buNone/>
            </a:pPr>
            <a:r>
              <a:rPr lang="en-IN" sz="1200" b="1" dirty="0">
                <a:solidFill>
                  <a:schemeClr val="tx1"/>
                </a:solidFill>
                <a:effectLst/>
                <a:latin typeface="Times New Roman" panose="02020603050405020304" pitchFamily="18" charset="0"/>
                <a:cs typeface="Times New Roman" panose="02020603050405020304" pitchFamily="18" charset="0"/>
              </a:rPr>
              <a:t>Smoothing Technique</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Noise and inaccurate data from longer sliding window, causing fluctuations and instability of clock offset and clock drift.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Soothing technique is used to smooth out these fluctuations.</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Linear regression data is offset(dependent variable), start time (independent variable)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New soothed clock offset and drift regression line are obtained.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This data is stored in database and clock correction is performed.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7CA7C04-2ACA-A3E2-D8DE-0DE4C55E28D9}"/>
              </a:ext>
            </a:extLst>
          </p:cNvPr>
          <p:cNvPicPr>
            <a:picLocks noChangeAspect="1"/>
          </p:cNvPicPr>
          <p:nvPr/>
        </p:nvPicPr>
        <p:blipFill>
          <a:blip r:embed="rId2"/>
          <a:stretch>
            <a:fillRect/>
          </a:stretch>
        </p:blipFill>
        <p:spPr>
          <a:xfrm>
            <a:off x="4572000" y="1560934"/>
            <a:ext cx="4496889" cy="2153972"/>
          </a:xfrm>
          <a:prstGeom prst="rect">
            <a:avLst/>
          </a:prstGeom>
        </p:spPr>
      </p:pic>
      <p:sp>
        <p:nvSpPr>
          <p:cNvPr id="7" name="Title 1">
            <a:extLst>
              <a:ext uri="{FF2B5EF4-FFF2-40B4-BE49-F238E27FC236}">
                <a16:creationId xmlns:a16="http://schemas.microsoft.com/office/drawing/2014/main" id="{B5A86B7D-31E4-B889-BAC4-A7BD9DE46E7E}"/>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3"/>
              </a:rPr>
              <a:t>SSA</a:t>
            </a:r>
            <a:r>
              <a:rPr lang="en" dirty="0">
                <a:latin typeface="Times New Roman" panose="02020603050405020304" pitchFamily="18" charset="0"/>
                <a:cs typeface="Times New Roman" panose="02020603050405020304" pitchFamily="18" charset="0"/>
                <a:hlinkClick r:id="rId4"/>
              </a:rPr>
              <a:t> Clock Synchronization</a:t>
            </a:r>
            <a:endParaRPr lang="en-US" dirty="0"/>
          </a:p>
        </p:txBody>
      </p:sp>
    </p:spTree>
    <p:extLst>
      <p:ext uri="{BB962C8B-B14F-4D97-AF65-F5344CB8AC3E}">
        <p14:creationId xmlns:p14="http://schemas.microsoft.com/office/powerpoint/2010/main" val="25656187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63A5D-7BB4-B3C1-D806-F1C4A76296C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Algorithm</a:t>
            </a:r>
          </a:p>
        </p:txBody>
      </p:sp>
      <p:sp>
        <p:nvSpPr>
          <p:cNvPr id="3" name="Text Placeholder 2">
            <a:extLst>
              <a:ext uri="{FF2B5EF4-FFF2-40B4-BE49-F238E27FC236}">
                <a16:creationId xmlns:a16="http://schemas.microsoft.com/office/drawing/2014/main" id="{BF5A2EFA-1A16-65AE-4186-AA72AD0980EA}"/>
              </a:ext>
            </a:extLst>
          </p:cNvPr>
          <p:cNvSpPr>
            <a:spLocks noGrp="1"/>
          </p:cNvSpPr>
          <p:nvPr>
            <p:ph type="body" idx="1"/>
          </p:nvPr>
        </p:nvSpPr>
        <p:spPr>
          <a:xfrm>
            <a:off x="311700" y="1152475"/>
            <a:ext cx="4839525" cy="3416400"/>
          </a:xfrm>
        </p:spPr>
        <p:txBody>
          <a:bodyPr>
            <a:normAutofit/>
          </a:bodyPr>
          <a:lstStyle/>
          <a:p>
            <a:pPr marL="114300" indent="0">
              <a:buNone/>
            </a:pPr>
            <a:r>
              <a:rPr lang="en-IN" sz="1200" b="1" dirty="0">
                <a:solidFill>
                  <a:schemeClr val="tx1"/>
                </a:solidFill>
                <a:latin typeface="Times New Roman" panose="02020603050405020304" pitchFamily="18" charset="0"/>
                <a:cs typeface="Times New Roman" panose="02020603050405020304" pitchFamily="18" charset="0"/>
              </a:rPr>
              <a:t>Adaptive Correction Technique</a:t>
            </a:r>
          </a:p>
          <a:p>
            <a:pPr marL="114300" indent="0">
              <a:buNone/>
            </a:pPr>
            <a:endParaRPr lang="en-IN" sz="12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Initial boot-up phase lacks sufficient data points leading to ineffective SVM and smoothing</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Algorithm checks the standard deviation of smoothed clock drift over short (N</a:t>
            </a:r>
            <a:r>
              <a:rPr lang="en-IN" sz="1200" baseline="-25000" dirty="0">
                <a:solidFill>
                  <a:schemeClr val="tx1"/>
                </a:solidFill>
                <a:latin typeface="Times New Roman" panose="02020603050405020304" pitchFamily="18" charset="0"/>
                <a:cs typeface="Times New Roman" panose="02020603050405020304" pitchFamily="18" charset="0"/>
              </a:rPr>
              <a:t>D</a:t>
            </a:r>
            <a:r>
              <a:rPr lang="en-IN" sz="1200" dirty="0">
                <a:solidFill>
                  <a:schemeClr val="tx1"/>
                </a:solidFill>
                <a:latin typeface="Times New Roman" panose="02020603050405020304" pitchFamily="18" charset="0"/>
                <a:cs typeface="Times New Roman" panose="02020603050405020304" pitchFamily="18" charset="0"/>
              </a:rPr>
              <a:t> intervals) and long durations (N</a:t>
            </a:r>
            <a:r>
              <a:rPr lang="en-IN" sz="1200" baseline="-25000" dirty="0">
                <a:solidFill>
                  <a:schemeClr val="tx1"/>
                </a:solidFill>
                <a:latin typeface="Times New Roman" panose="02020603050405020304" pitchFamily="18" charset="0"/>
                <a:cs typeface="Times New Roman" panose="02020603050405020304" pitchFamily="18" charset="0"/>
              </a:rPr>
              <a:t>O</a:t>
            </a:r>
            <a:r>
              <a:rPr lang="en-IN" sz="1200" dirty="0">
                <a:solidFill>
                  <a:schemeClr val="tx1"/>
                </a:solidFill>
                <a:latin typeface="Times New Roman" panose="02020603050405020304" pitchFamily="18" charset="0"/>
                <a:cs typeface="Times New Roman" panose="02020603050405020304" pitchFamily="18" charset="0"/>
              </a:rPr>
              <a:t> intervals).</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If </a:t>
            </a:r>
            <a:r>
              <a:rPr lang="en-IN" sz="1200" dirty="0" err="1">
                <a:solidFill>
                  <a:schemeClr val="tx1"/>
                </a:solidFill>
                <a:latin typeface="Times New Roman" panose="02020603050405020304" pitchFamily="18" charset="0"/>
                <a:cs typeface="Times New Roman" panose="02020603050405020304" pitchFamily="18" charset="0"/>
              </a:rPr>
              <a:t>Std</a:t>
            </a:r>
            <a:r>
              <a:rPr lang="en-IN" sz="1200" baseline="-25000" dirty="0" err="1">
                <a:solidFill>
                  <a:schemeClr val="tx1"/>
                </a:solidFill>
                <a:latin typeface="Times New Roman" panose="02020603050405020304" pitchFamily="18" charset="0"/>
                <a:cs typeface="Times New Roman" panose="02020603050405020304" pitchFamily="18" charset="0"/>
              </a:rPr>
              <a:t>D</a:t>
            </a:r>
            <a:r>
              <a:rPr lang="en-IN" sz="1200" dirty="0">
                <a:solidFill>
                  <a:schemeClr val="tx1"/>
                </a:solidFill>
                <a:latin typeface="Times New Roman" panose="02020603050405020304" pitchFamily="18" charset="0"/>
                <a:cs typeface="Times New Roman" panose="02020603050405020304" pitchFamily="18" charset="0"/>
              </a:rPr>
              <a:t> (short duration) &lt; threshold T</a:t>
            </a:r>
            <a:r>
              <a:rPr lang="en-IN" sz="1200" baseline="-25000" dirty="0">
                <a:solidFill>
                  <a:schemeClr val="tx1"/>
                </a:solidFill>
                <a:latin typeface="Times New Roman" panose="02020603050405020304" pitchFamily="18" charset="0"/>
                <a:cs typeface="Times New Roman" panose="02020603050405020304" pitchFamily="18" charset="0"/>
              </a:rPr>
              <a:t>D</a:t>
            </a:r>
            <a:r>
              <a:rPr lang="en-IN" sz="1200" dirty="0">
                <a:solidFill>
                  <a:schemeClr val="tx1"/>
                </a:solidFill>
                <a:latin typeface="Times New Roman" panose="02020603050405020304" pitchFamily="18" charset="0"/>
                <a:cs typeface="Times New Roman" panose="02020603050405020304" pitchFamily="18" charset="0"/>
              </a:rPr>
              <a:t>, correct both clock offset and drift.</a:t>
            </a: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If </a:t>
            </a:r>
            <a:r>
              <a:rPr lang="en-IN" sz="1200" dirty="0" err="1">
                <a:solidFill>
                  <a:schemeClr val="tx1"/>
                </a:solidFill>
                <a:latin typeface="Times New Roman" panose="02020603050405020304" pitchFamily="18" charset="0"/>
                <a:cs typeface="Times New Roman" panose="02020603050405020304" pitchFamily="18" charset="0"/>
              </a:rPr>
              <a:t>Std</a:t>
            </a:r>
            <a:r>
              <a:rPr lang="en-IN" sz="1200" baseline="-25000" dirty="0" err="1">
                <a:solidFill>
                  <a:schemeClr val="tx1"/>
                </a:solidFill>
                <a:latin typeface="Times New Roman" panose="02020603050405020304" pitchFamily="18" charset="0"/>
                <a:cs typeface="Times New Roman" panose="02020603050405020304" pitchFamily="18" charset="0"/>
              </a:rPr>
              <a:t>D</a:t>
            </a:r>
            <a:r>
              <a:rPr lang="en-IN" sz="1200" dirty="0">
                <a:solidFill>
                  <a:schemeClr val="tx1"/>
                </a:solidFill>
                <a:latin typeface="Times New Roman" panose="02020603050405020304" pitchFamily="18" charset="0"/>
                <a:cs typeface="Times New Roman" panose="02020603050405020304" pitchFamily="18" charset="0"/>
              </a:rPr>
              <a:t> &gt; T</a:t>
            </a:r>
            <a:r>
              <a:rPr lang="en-IN" sz="1200" baseline="-25000" dirty="0">
                <a:solidFill>
                  <a:schemeClr val="tx1"/>
                </a:solidFill>
                <a:latin typeface="Times New Roman" panose="02020603050405020304" pitchFamily="18" charset="0"/>
                <a:cs typeface="Times New Roman" panose="02020603050405020304" pitchFamily="18" charset="0"/>
              </a:rPr>
              <a:t>D</a:t>
            </a:r>
            <a:r>
              <a:rPr lang="en-IN" sz="1200" dirty="0">
                <a:solidFill>
                  <a:schemeClr val="tx1"/>
                </a:solidFill>
                <a:latin typeface="Times New Roman" panose="02020603050405020304" pitchFamily="18" charset="0"/>
                <a:cs typeface="Times New Roman" panose="02020603050405020304" pitchFamily="18" charset="0"/>
              </a:rPr>
              <a:t>, check </a:t>
            </a:r>
            <a:r>
              <a:rPr lang="en-IN" sz="1200" dirty="0" err="1">
                <a:solidFill>
                  <a:schemeClr val="tx1"/>
                </a:solidFill>
                <a:latin typeface="Times New Roman" panose="02020603050405020304" pitchFamily="18" charset="0"/>
                <a:cs typeface="Times New Roman" panose="02020603050405020304" pitchFamily="18" charset="0"/>
              </a:rPr>
              <a:t>Std</a:t>
            </a:r>
            <a:r>
              <a:rPr lang="en-IN" sz="1200" baseline="-25000" dirty="0" err="1">
                <a:solidFill>
                  <a:schemeClr val="tx1"/>
                </a:solidFill>
                <a:latin typeface="Times New Roman" panose="02020603050405020304" pitchFamily="18" charset="0"/>
                <a:cs typeface="Times New Roman" panose="02020603050405020304" pitchFamily="18" charset="0"/>
              </a:rPr>
              <a:t>O</a:t>
            </a:r>
            <a:r>
              <a:rPr lang="en-IN" sz="1200" dirty="0">
                <a:solidFill>
                  <a:schemeClr val="tx1"/>
                </a:solidFill>
                <a:latin typeface="Times New Roman" panose="02020603050405020304" pitchFamily="18" charset="0"/>
                <a:cs typeface="Times New Roman" panose="02020603050405020304" pitchFamily="18" charset="0"/>
              </a:rPr>
              <a:t> (long duration) against T</a:t>
            </a:r>
            <a:r>
              <a:rPr lang="en-IN" sz="1200" baseline="-25000" dirty="0">
                <a:solidFill>
                  <a:schemeClr val="tx1"/>
                </a:solidFill>
                <a:latin typeface="Times New Roman" panose="02020603050405020304" pitchFamily="18" charset="0"/>
                <a:cs typeface="Times New Roman" panose="02020603050405020304" pitchFamily="18" charset="0"/>
              </a:rPr>
              <a:t>O</a:t>
            </a:r>
            <a:r>
              <a:rPr lang="en-IN" sz="1200" dirty="0">
                <a:solidFill>
                  <a:schemeClr val="tx1"/>
                </a:solidFill>
                <a:latin typeface="Times New Roman" panose="02020603050405020304" pitchFamily="18" charset="0"/>
                <a:cs typeface="Times New Roman" panose="02020603050405020304" pitchFamily="18" charset="0"/>
              </a:rPr>
              <a:t>.</a:t>
            </a: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If </a:t>
            </a:r>
            <a:r>
              <a:rPr lang="en-IN" sz="1200" dirty="0" err="1">
                <a:solidFill>
                  <a:schemeClr val="tx1"/>
                </a:solidFill>
                <a:latin typeface="Times New Roman" panose="02020603050405020304" pitchFamily="18" charset="0"/>
                <a:cs typeface="Times New Roman" panose="02020603050405020304" pitchFamily="18" charset="0"/>
              </a:rPr>
              <a:t>Std</a:t>
            </a:r>
            <a:r>
              <a:rPr lang="en-IN" sz="1200" baseline="-25000" dirty="0" err="1">
                <a:solidFill>
                  <a:schemeClr val="tx1"/>
                </a:solidFill>
                <a:latin typeface="Times New Roman" panose="02020603050405020304" pitchFamily="18" charset="0"/>
                <a:cs typeface="Times New Roman" panose="02020603050405020304" pitchFamily="18" charset="0"/>
              </a:rPr>
              <a:t>O</a:t>
            </a:r>
            <a:r>
              <a:rPr lang="en-IN" sz="1200" dirty="0">
                <a:solidFill>
                  <a:schemeClr val="tx1"/>
                </a:solidFill>
                <a:latin typeface="Times New Roman" panose="02020603050405020304" pitchFamily="18" charset="0"/>
                <a:cs typeface="Times New Roman" panose="02020603050405020304" pitchFamily="18" charset="0"/>
              </a:rPr>
              <a:t> &lt; T</a:t>
            </a:r>
            <a:r>
              <a:rPr lang="en-IN" sz="1200" baseline="-25000" dirty="0">
                <a:solidFill>
                  <a:schemeClr val="tx1"/>
                </a:solidFill>
                <a:latin typeface="Times New Roman" panose="02020603050405020304" pitchFamily="18" charset="0"/>
                <a:cs typeface="Times New Roman" panose="02020603050405020304" pitchFamily="18" charset="0"/>
              </a:rPr>
              <a:t>O</a:t>
            </a:r>
            <a:r>
              <a:rPr lang="en-IN" sz="1200" dirty="0">
                <a:solidFill>
                  <a:schemeClr val="tx1"/>
                </a:solidFill>
                <a:latin typeface="Times New Roman" panose="02020603050405020304" pitchFamily="18" charset="0"/>
                <a:cs typeface="Times New Roman" panose="02020603050405020304" pitchFamily="18" charset="0"/>
              </a:rPr>
              <a:t>, correct only the clock offset.</a:t>
            </a: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If both </a:t>
            </a:r>
            <a:r>
              <a:rPr lang="en-IN" sz="1200" dirty="0" err="1">
                <a:solidFill>
                  <a:schemeClr val="tx1"/>
                </a:solidFill>
                <a:latin typeface="Times New Roman" panose="02020603050405020304" pitchFamily="18" charset="0"/>
                <a:cs typeface="Times New Roman" panose="02020603050405020304" pitchFamily="18" charset="0"/>
              </a:rPr>
              <a:t>Std</a:t>
            </a:r>
            <a:r>
              <a:rPr lang="en-IN" sz="1200" baseline="-25000" dirty="0" err="1">
                <a:solidFill>
                  <a:schemeClr val="tx1"/>
                </a:solidFill>
                <a:latin typeface="Times New Roman" panose="02020603050405020304" pitchFamily="18" charset="0"/>
                <a:cs typeface="Times New Roman" panose="02020603050405020304" pitchFamily="18" charset="0"/>
              </a:rPr>
              <a:t>D</a:t>
            </a:r>
            <a:r>
              <a:rPr lang="en-IN" sz="1200" dirty="0">
                <a:solidFill>
                  <a:schemeClr val="tx1"/>
                </a:solidFill>
                <a:latin typeface="Times New Roman" panose="02020603050405020304" pitchFamily="18" charset="0"/>
                <a:cs typeface="Times New Roman" panose="02020603050405020304" pitchFamily="18" charset="0"/>
              </a:rPr>
              <a:t> and </a:t>
            </a:r>
            <a:r>
              <a:rPr lang="en-IN" sz="1200" dirty="0" err="1">
                <a:solidFill>
                  <a:schemeClr val="tx1"/>
                </a:solidFill>
                <a:latin typeface="Times New Roman" panose="02020603050405020304" pitchFamily="18" charset="0"/>
                <a:cs typeface="Times New Roman" panose="02020603050405020304" pitchFamily="18" charset="0"/>
              </a:rPr>
              <a:t>Std</a:t>
            </a:r>
            <a:r>
              <a:rPr lang="en-IN" sz="1200" baseline="-25000" dirty="0" err="1">
                <a:solidFill>
                  <a:schemeClr val="tx1"/>
                </a:solidFill>
                <a:latin typeface="Times New Roman" panose="02020603050405020304" pitchFamily="18" charset="0"/>
                <a:cs typeface="Times New Roman" panose="02020603050405020304" pitchFamily="18" charset="0"/>
              </a:rPr>
              <a:t>O</a:t>
            </a:r>
            <a:r>
              <a:rPr lang="en-IN" sz="1200" dirty="0">
                <a:solidFill>
                  <a:schemeClr val="tx1"/>
                </a:solidFill>
                <a:latin typeface="Times New Roman" panose="02020603050405020304" pitchFamily="18" charset="0"/>
                <a:cs typeface="Times New Roman" panose="02020603050405020304" pitchFamily="18" charset="0"/>
              </a:rPr>
              <a:t> &gt; thresholds, no correction is made.</a:t>
            </a:r>
          </a:p>
        </p:txBody>
      </p:sp>
      <p:pic>
        <p:nvPicPr>
          <p:cNvPr id="6" name="Picture 5">
            <a:extLst>
              <a:ext uri="{FF2B5EF4-FFF2-40B4-BE49-F238E27FC236}">
                <a16:creationId xmlns:a16="http://schemas.microsoft.com/office/drawing/2014/main" id="{6F3F0B82-A5B3-359F-4EE2-4371147B27D5}"/>
              </a:ext>
            </a:extLst>
          </p:cNvPr>
          <p:cNvPicPr>
            <a:picLocks noChangeAspect="1"/>
          </p:cNvPicPr>
          <p:nvPr/>
        </p:nvPicPr>
        <p:blipFill>
          <a:blip r:embed="rId2"/>
          <a:stretch>
            <a:fillRect/>
          </a:stretch>
        </p:blipFill>
        <p:spPr>
          <a:xfrm>
            <a:off x="5151225" y="1419139"/>
            <a:ext cx="3992775" cy="2305221"/>
          </a:xfrm>
          <a:prstGeom prst="rect">
            <a:avLst/>
          </a:prstGeom>
        </p:spPr>
      </p:pic>
      <p:sp>
        <p:nvSpPr>
          <p:cNvPr id="7" name="Title 1">
            <a:extLst>
              <a:ext uri="{FF2B5EF4-FFF2-40B4-BE49-F238E27FC236}">
                <a16:creationId xmlns:a16="http://schemas.microsoft.com/office/drawing/2014/main" id="{D6B0C594-C39C-B35D-EB8F-E28B53D1A493}"/>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3"/>
              </a:rPr>
              <a:t>SSA</a:t>
            </a:r>
            <a:r>
              <a:rPr lang="en" dirty="0">
                <a:latin typeface="Times New Roman" panose="02020603050405020304" pitchFamily="18" charset="0"/>
                <a:cs typeface="Times New Roman" panose="02020603050405020304" pitchFamily="18" charset="0"/>
                <a:hlinkClick r:id="rId4"/>
              </a:rPr>
              <a:t> Clock Synchronization</a:t>
            </a:r>
            <a:endParaRPr lang="en-US" dirty="0"/>
          </a:p>
        </p:txBody>
      </p:sp>
    </p:spTree>
    <p:extLst>
      <p:ext uri="{BB962C8B-B14F-4D97-AF65-F5344CB8AC3E}">
        <p14:creationId xmlns:p14="http://schemas.microsoft.com/office/powerpoint/2010/main" val="879955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127E6-90B5-E197-A796-9144EA006E32}"/>
              </a:ext>
            </a:extLst>
          </p:cNvPr>
          <p:cNvSpPr>
            <a:spLocks noGrp="1"/>
          </p:cNvSpPr>
          <p:nvPr>
            <p:ph type="title"/>
          </p:nvPr>
        </p:nvSpPr>
        <p:spPr>
          <a:xfrm>
            <a:off x="216450" y="540275"/>
            <a:ext cx="8520600" cy="572700"/>
          </a:xfrm>
        </p:spPr>
        <p:txBody>
          <a:bodyPr wrap="square" anchor="ctr">
            <a:normAutofit/>
          </a:bodyPr>
          <a:lstStyle/>
          <a:p>
            <a:pPr>
              <a:lnSpc>
                <a:spcPct val="90000"/>
              </a:lnSpc>
            </a:pPr>
            <a:r>
              <a:rPr lang="en-US" sz="2500" dirty="0">
                <a:solidFill>
                  <a:schemeClr val="tx1"/>
                </a:solidFill>
                <a:latin typeface="Times New Roman" panose="02020603050405020304" pitchFamily="18" charset="0"/>
                <a:cs typeface="Times New Roman" panose="02020603050405020304" pitchFamily="18" charset="0"/>
              </a:rPr>
              <a:t>Evaluation - </a:t>
            </a:r>
            <a:r>
              <a:rPr lang="en-US" sz="2500" i="0" u="none" strike="noStrike" cap="none" dirty="0">
                <a:solidFill>
                  <a:schemeClr val="tx1"/>
                </a:solidFill>
                <a:latin typeface="Times New Roman" panose="02020603050405020304" pitchFamily="18" charset="0"/>
                <a:cs typeface="Times New Roman" panose="02020603050405020304" pitchFamily="18" charset="0"/>
              </a:rPr>
              <a:t>Parameter experiments</a:t>
            </a:r>
            <a:endParaRPr lang="en-US" sz="25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7535775-F9E1-AE39-3D0F-3F1CC90ADFFA}"/>
              </a:ext>
            </a:extLst>
          </p:cNvPr>
          <p:cNvSpPr>
            <a:spLocks noGrp="1"/>
          </p:cNvSpPr>
          <p:nvPr>
            <p:ph type="body" idx="4294967295"/>
          </p:nvPr>
        </p:nvSpPr>
        <p:spPr>
          <a:xfrm>
            <a:off x="311700" y="1208225"/>
            <a:ext cx="4165050" cy="3264408"/>
          </a:xfrm>
        </p:spPr>
        <p:txBody>
          <a:bodyPr anchor="t">
            <a:normAutofit/>
          </a:bodyPr>
          <a:lstStyle/>
          <a:p>
            <a:pPr marL="114300" indent="0">
              <a:spcAft>
                <a:spcPts val="600"/>
              </a:spcAft>
              <a:buClr>
                <a:srgbClr val="000000"/>
              </a:buClr>
              <a:buNone/>
            </a:pPr>
            <a:r>
              <a:rPr lang="en-US" sz="1200" dirty="0" err="1">
                <a:solidFill>
                  <a:schemeClr val="tx1"/>
                </a:solidFill>
                <a:latin typeface="Times New Roman" panose="02020603050405020304" pitchFamily="18" charset="0"/>
                <a:cs typeface="Times New Roman" panose="02020603050405020304" pitchFamily="18" charset="0"/>
              </a:rPr>
              <a:t>svmC</a:t>
            </a:r>
            <a:r>
              <a:rPr lang="en-US" sz="1200" dirty="0">
                <a:solidFill>
                  <a:schemeClr val="tx1"/>
                </a:solidFill>
                <a:latin typeface="Times New Roman" panose="02020603050405020304" pitchFamily="18" charset="0"/>
                <a:cs typeface="Times New Roman" panose="02020603050405020304" pitchFamily="18" charset="0"/>
              </a:rPr>
              <a:t> is a parameter of SVM. </a:t>
            </a:r>
          </a:p>
          <a:p>
            <a:pPr marL="114300" indent="0">
              <a:spcAft>
                <a:spcPts val="600"/>
              </a:spcAft>
              <a:buClr>
                <a:srgbClr val="000000"/>
              </a:buClr>
              <a:buNone/>
            </a:pPr>
            <a:r>
              <a:rPr lang="en-IN" sz="1200" dirty="0">
                <a:solidFill>
                  <a:schemeClr val="tx1"/>
                </a:solidFill>
                <a:effectLst/>
                <a:latin typeface="Times New Roman" panose="02020603050405020304" pitchFamily="18" charset="0"/>
                <a:cs typeface="Times New Roman" panose="02020603050405020304" pitchFamily="18" charset="0"/>
              </a:rPr>
              <a:t>The larger </a:t>
            </a:r>
            <a:r>
              <a:rPr lang="en-IN" sz="1200" dirty="0" err="1">
                <a:solidFill>
                  <a:schemeClr val="tx1"/>
                </a:solidFill>
                <a:effectLst/>
                <a:latin typeface="Times New Roman" panose="02020603050405020304" pitchFamily="18" charset="0"/>
                <a:cs typeface="Times New Roman" panose="02020603050405020304" pitchFamily="18" charset="0"/>
              </a:rPr>
              <a:t>svmC</a:t>
            </a:r>
            <a:r>
              <a:rPr lang="en-IN" sz="1200" dirty="0">
                <a:solidFill>
                  <a:schemeClr val="tx1"/>
                </a:solidFill>
                <a:effectLst/>
                <a:latin typeface="Times New Roman" panose="02020603050405020304" pitchFamily="18" charset="0"/>
                <a:cs typeface="Times New Roman" panose="02020603050405020304" pitchFamily="18" charset="0"/>
              </a:rPr>
              <a:t>, the less error-tolerant the model, but overfitting may occur.</a:t>
            </a:r>
          </a:p>
          <a:p>
            <a:pPr marL="114300" indent="0">
              <a:spcAft>
                <a:spcPts val="600"/>
              </a:spcAft>
              <a:buClr>
                <a:srgbClr val="000000"/>
              </a:buClr>
              <a:buNone/>
            </a:pPr>
            <a:r>
              <a:rPr lang="en-IN" sz="1200" dirty="0">
                <a:solidFill>
                  <a:schemeClr val="tx1"/>
                </a:solidFill>
                <a:effectLst/>
                <a:latin typeface="Times New Roman" panose="02020603050405020304" pitchFamily="18" charset="0"/>
                <a:cs typeface="Times New Roman" panose="02020603050405020304" pitchFamily="18" charset="0"/>
              </a:rPr>
              <a:t>The smaller </a:t>
            </a:r>
            <a:r>
              <a:rPr lang="en-IN" sz="1200" dirty="0" err="1">
                <a:solidFill>
                  <a:schemeClr val="tx1"/>
                </a:solidFill>
                <a:effectLst/>
                <a:latin typeface="Times New Roman" panose="02020603050405020304" pitchFamily="18" charset="0"/>
                <a:cs typeface="Times New Roman" panose="02020603050405020304" pitchFamily="18" charset="0"/>
              </a:rPr>
              <a:t>svmC</a:t>
            </a:r>
            <a:r>
              <a:rPr lang="en-IN" sz="1200" dirty="0">
                <a:solidFill>
                  <a:schemeClr val="tx1"/>
                </a:solidFill>
                <a:effectLst/>
                <a:latin typeface="Times New Roman" panose="02020603050405020304" pitchFamily="18" charset="0"/>
                <a:cs typeface="Times New Roman" panose="02020603050405020304" pitchFamily="18" charset="0"/>
              </a:rPr>
              <a:t>, the more error-tolerant the model, but underfitting may occur. </a:t>
            </a:r>
            <a:endParaRPr lang="en-US" sz="1200" dirty="0">
              <a:solidFill>
                <a:schemeClr val="tx1"/>
              </a:solidFill>
              <a:effectLst/>
              <a:latin typeface="Times New Roman" panose="02020603050405020304" pitchFamily="18" charset="0"/>
              <a:cs typeface="Times New Roman" panose="02020603050405020304" pitchFamily="18" charset="0"/>
            </a:endParaRPr>
          </a:p>
          <a:p>
            <a:pPr marL="114300" indent="0">
              <a:spcAft>
                <a:spcPts val="600"/>
              </a:spcAft>
              <a:buClr>
                <a:srgbClr val="000000"/>
              </a:buClr>
              <a:buNone/>
            </a:pPr>
            <a:endParaRPr lang="en-IN" sz="11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CA2FAA0-AB25-8944-85FE-DDCB40B758FD}"/>
              </a:ext>
            </a:extLst>
          </p:cNvPr>
          <p:cNvPicPr>
            <a:picLocks noChangeAspect="1"/>
          </p:cNvPicPr>
          <p:nvPr/>
        </p:nvPicPr>
        <p:blipFill>
          <a:blip r:embed="rId3"/>
          <a:stretch>
            <a:fillRect/>
          </a:stretch>
        </p:blipFill>
        <p:spPr>
          <a:xfrm>
            <a:off x="4667252" y="1112975"/>
            <a:ext cx="4165050" cy="3943505"/>
          </a:xfrm>
          <a:prstGeom prst="rect">
            <a:avLst/>
          </a:prstGeom>
        </p:spPr>
      </p:pic>
      <p:sp>
        <p:nvSpPr>
          <p:cNvPr id="7" name="Title 1">
            <a:extLst>
              <a:ext uri="{FF2B5EF4-FFF2-40B4-BE49-F238E27FC236}">
                <a16:creationId xmlns:a16="http://schemas.microsoft.com/office/drawing/2014/main" id="{C120E0C7-7352-59D7-AD6A-49BEC8E5CCA0}"/>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4"/>
              </a:rPr>
              <a:t>SSA</a:t>
            </a:r>
            <a:r>
              <a:rPr lang="en" dirty="0">
                <a:latin typeface="Times New Roman" panose="02020603050405020304" pitchFamily="18" charset="0"/>
                <a:cs typeface="Times New Roman" panose="02020603050405020304" pitchFamily="18" charset="0"/>
                <a:hlinkClick r:id="rId5"/>
              </a:rPr>
              <a:t> Clock Synchronization</a:t>
            </a:r>
            <a:endParaRPr lang="en-US" dirty="0"/>
          </a:p>
        </p:txBody>
      </p:sp>
    </p:spTree>
    <p:extLst>
      <p:ext uri="{BB962C8B-B14F-4D97-AF65-F5344CB8AC3E}">
        <p14:creationId xmlns:p14="http://schemas.microsoft.com/office/powerpoint/2010/main" val="29539944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ED08B-977C-0A46-8870-5B615FA0806C}"/>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p>
        </p:txBody>
      </p:sp>
      <p:pic>
        <p:nvPicPr>
          <p:cNvPr id="3" name="Picture 2">
            <a:extLst>
              <a:ext uri="{FF2B5EF4-FFF2-40B4-BE49-F238E27FC236}">
                <a16:creationId xmlns:a16="http://schemas.microsoft.com/office/drawing/2014/main" id="{04D3F0EE-7113-3440-E316-192315E41DA7}"/>
              </a:ext>
            </a:extLst>
          </p:cNvPr>
          <p:cNvPicPr>
            <a:picLocks noChangeAspect="1"/>
          </p:cNvPicPr>
          <p:nvPr/>
        </p:nvPicPr>
        <p:blipFill>
          <a:blip r:embed="rId2"/>
          <a:stretch>
            <a:fillRect/>
          </a:stretch>
        </p:blipFill>
        <p:spPr>
          <a:xfrm>
            <a:off x="311700" y="1017725"/>
            <a:ext cx="2489771" cy="3879893"/>
          </a:xfrm>
          <a:prstGeom prst="rect">
            <a:avLst/>
          </a:prstGeom>
        </p:spPr>
      </p:pic>
      <p:pic>
        <p:nvPicPr>
          <p:cNvPr id="4" name="Picture 3">
            <a:extLst>
              <a:ext uri="{FF2B5EF4-FFF2-40B4-BE49-F238E27FC236}">
                <a16:creationId xmlns:a16="http://schemas.microsoft.com/office/drawing/2014/main" id="{B54D3BE6-3FA5-7C60-1160-0F6B3B055AF8}"/>
              </a:ext>
            </a:extLst>
          </p:cNvPr>
          <p:cNvPicPr>
            <a:picLocks noChangeAspect="1"/>
          </p:cNvPicPr>
          <p:nvPr/>
        </p:nvPicPr>
        <p:blipFill>
          <a:blip r:embed="rId3"/>
          <a:stretch>
            <a:fillRect/>
          </a:stretch>
        </p:blipFill>
        <p:spPr>
          <a:xfrm>
            <a:off x="3135783" y="801833"/>
            <a:ext cx="2489771" cy="4341667"/>
          </a:xfrm>
          <a:prstGeom prst="rect">
            <a:avLst/>
          </a:prstGeom>
        </p:spPr>
      </p:pic>
      <p:pic>
        <p:nvPicPr>
          <p:cNvPr id="5" name="Picture 4">
            <a:extLst>
              <a:ext uri="{FF2B5EF4-FFF2-40B4-BE49-F238E27FC236}">
                <a16:creationId xmlns:a16="http://schemas.microsoft.com/office/drawing/2014/main" id="{6481502B-8D16-CBBD-3BB4-1413C6E0001F}"/>
              </a:ext>
            </a:extLst>
          </p:cNvPr>
          <p:cNvPicPr>
            <a:picLocks noChangeAspect="1"/>
          </p:cNvPicPr>
          <p:nvPr/>
        </p:nvPicPr>
        <p:blipFill>
          <a:blip r:embed="rId4"/>
          <a:stretch>
            <a:fillRect/>
          </a:stretch>
        </p:blipFill>
        <p:spPr>
          <a:xfrm>
            <a:off x="5741899" y="1415336"/>
            <a:ext cx="3187700" cy="2641600"/>
          </a:xfrm>
          <a:prstGeom prst="rect">
            <a:avLst/>
          </a:prstGeom>
        </p:spPr>
      </p:pic>
      <p:sp>
        <p:nvSpPr>
          <p:cNvPr id="6" name="Title 1">
            <a:extLst>
              <a:ext uri="{FF2B5EF4-FFF2-40B4-BE49-F238E27FC236}">
                <a16:creationId xmlns:a16="http://schemas.microsoft.com/office/drawing/2014/main" id="{78FA874F-52E5-B19F-DC97-10D116C7D6BB}"/>
              </a:ext>
            </a:extLst>
          </p:cNvPr>
          <p:cNvSpPr txBox="1">
            <a:spLocks/>
          </p:cNvSpPr>
          <p:nvPr/>
        </p:nvSpPr>
        <p:spPr>
          <a:xfrm>
            <a:off x="0" y="0"/>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5"/>
              </a:rPr>
              <a:t>SSA</a:t>
            </a:r>
            <a:r>
              <a:rPr lang="en" dirty="0">
                <a:latin typeface="Times New Roman" panose="02020603050405020304" pitchFamily="18" charset="0"/>
                <a:cs typeface="Times New Roman" panose="02020603050405020304" pitchFamily="18" charset="0"/>
                <a:hlinkClick r:id="rId6"/>
              </a:rPr>
              <a:t> Clock Synchronization</a:t>
            </a:r>
            <a:endParaRPr lang="en-US" dirty="0"/>
          </a:p>
        </p:txBody>
      </p:sp>
    </p:spTree>
    <p:extLst>
      <p:ext uri="{BB962C8B-B14F-4D97-AF65-F5344CB8AC3E}">
        <p14:creationId xmlns:p14="http://schemas.microsoft.com/office/powerpoint/2010/main" val="3243335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19C1-E564-CDA3-EF14-CB656AB67C71}"/>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 – Comparison with HUYGENS</a:t>
            </a:r>
          </a:p>
        </p:txBody>
      </p:sp>
      <p:pic>
        <p:nvPicPr>
          <p:cNvPr id="3" name="Picture 2">
            <a:extLst>
              <a:ext uri="{FF2B5EF4-FFF2-40B4-BE49-F238E27FC236}">
                <a16:creationId xmlns:a16="http://schemas.microsoft.com/office/drawing/2014/main" id="{B6BD93F2-4958-B100-4417-925D85067ACB}"/>
              </a:ext>
            </a:extLst>
          </p:cNvPr>
          <p:cNvPicPr>
            <a:picLocks noChangeAspect="1"/>
          </p:cNvPicPr>
          <p:nvPr/>
        </p:nvPicPr>
        <p:blipFill>
          <a:blip r:embed="rId3"/>
          <a:stretch>
            <a:fillRect/>
          </a:stretch>
        </p:blipFill>
        <p:spPr>
          <a:xfrm>
            <a:off x="311700" y="937273"/>
            <a:ext cx="2315681" cy="4012516"/>
          </a:xfrm>
          <a:prstGeom prst="rect">
            <a:avLst/>
          </a:prstGeom>
        </p:spPr>
      </p:pic>
      <p:pic>
        <p:nvPicPr>
          <p:cNvPr id="4" name="Picture 3">
            <a:extLst>
              <a:ext uri="{FF2B5EF4-FFF2-40B4-BE49-F238E27FC236}">
                <a16:creationId xmlns:a16="http://schemas.microsoft.com/office/drawing/2014/main" id="{4341F3F7-44DB-3E9A-43DE-169DE914356A}"/>
              </a:ext>
            </a:extLst>
          </p:cNvPr>
          <p:cNvPicPr>
            <a:picLocks noChangeAspect="1"/>
          </p:cNvPicPr>
          <p:nvPr/>
        </p:nvPicPr>
        <p:blipFill>
          <a:blip r:embed="rId4"/>
          <a:stretch>
            <a:fillRect/>
          </a:stretch>
        </p:blipFill>
        <p:spPr>
          <a:xfrm>
            <a:off x="2784796" y="1017725"/>
            <a:ext cx="3060700" cy="3886200"/>
          </a:xfrm>
          <a:prstGeom prst="rect">
            <a:avLst/>
          </a:prstGeom>
        </p:spPr>
      </p:pic>
      <p:pic>
        <p:nvPicPr>
          <p:cNvPr id="5" name="Picture 4">
            <a:extLst>
              <a:ext uri="{FF2B5EF4-FFF2-40B4-BE49-F238E27FC236}">
                <a16:creationId xmlns:a16="http://schemas.microsoft.com/office/drawing/2014/main" id="{4A85E1C4-F3D0-A1D0-E45C-6E982A8054E8}"/>
              </a:ext>
            </a:extLst>
          </p:cNvPr>
          <p:cNvPicPr>
            <a:picLocks noChangeAspect="1"/>
          </p:cNvPicPr>
          <p:nvPr/>
        </p:nvPicPr>
        <p:blipFill>
          <a:blip r:embed="rId5"/>
          <a:stretch>
            <a:fillRect/>
          </a:stretch>
        </p:blipFill>
        <p:spPr>
          <a:xfrm>
            <a:off x="6119058" y="1000430"/>
            <a:ext cx="2230259" cy="3886201"/>
          </a:xfrm>
          <a:prstGeom prst="rect">
            <a:avLst/>
          </a:prstGeom>
        </p:spPr>
      </p:pic>
      <p:sp>
        <p:nvSpPr>
          <p:cNvPr id="6" name="Title 1">
            <a:extLst>
              <a:ext uri="{FF2B5EF4-FFF2-40B4-BE49-F238E27FC236}">
                <a16:creationId xmlns:a16="http://schemas.microsoft.com/office/drawing/2014/main" id="{4FA0786A-4998-5C4F-C4EB-07BD0DD96A3B}"/>
              </a:ext>
            </a:extLst>
          </p:cNvPr>
          <p:cNvSpPr txBox="1">
            <a:spLocks/>
          </p:cNvSpPr>
          <p:nvPr/>
        </p:nvSpPr>
        <p:spPr>
          <a:xfrm>
            <a:off x="0" y="63838"/>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6"/>
              </a:rPr>
              <a:t>SSA</a:t>
            </a:r>
            <a:r>
              <a:rPr lang="en" dirty="0">
                <a:latin typeface="Times New Roman" panose="02020603050405020304" pitchFamily="18" charset="0"/>
                <a:cs typeface="Times New Roman" panose="02020603050405020304" pitchFamily="18" charset="0"/>
                <a:hlinkClick r:id="rId7"/>
              </a:rPr>
              <a:t> Clock Synchronization</a:t>
            </a:r>
            <a:endParaRPr lang="en-US" dirty="0"/>
          </a:p>
        </p:txBody>
      </p:sp>
    </p:spTree>
    <p:extLst>
      <p:ext uri="{BB962C8B-B14F-4D97-AF65-F5344CB8AC3E}">
        <p14:creationId xmlns:p14="http://schemas.microsoft.com/office/powerpoint/2010/main" val="9627108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2F26-77D8-AE5A-E17D-F64D41F63A39}"/>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hlinkClick r:id="rId2"/>
              </a:rPr>
              <a:t>Graham: Synchronizing by Leveraging Local Clock Properties</a:t>
            </a:r>
            <a:endParaRPr lang="en-US"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B46934A6-C3AD-FEB0-0946-A0187AB37169}"/>
              </a:ext>
            </a:extLst>
          </p:cNvPr>
          <p:cNvSpPr>
            <a:spLocks noGrp="1"/>
          </p:cNvSpPr>
          <p:nvPr>
            <p:ph type="body" idx="1"/>
          </p:nvPr>
        </p:nvSpPr>
        <p:spPr>
          <a:xfrm>
            <a:off x="311700" y="1152475"/>
            <a:ext cx="8520600" cy="572700"/>
          </a:xfrm>
        </p:spPr>
        <p:txBody>
          <a:bodyPr>
            <a:noAutofit/>
          </a:bodyPr>
          <a:lstStyle/>
          <a:p>
            <a:pPr marL="114300" indent="0">
              <a:buNone/>
            </a:pPr>
            <a:r>
              <a:rPr lang="en-US" sz="2500" b="1" dirty="0">
                <a:solidFill>
                  <a:schemeClr val="tx1"/>
                </a:solidFill>
                <a:latin typeface="Times New Roman" panose="02020603050405020304" pitchFamily="18" charset="0"/>
                <a:cs typeface="Times New Roman" panose="02020603050405020304" pitchFamily="18" charset="0"/>
              </a:rPr>
              <a:t>Motivation</a:t>
            </a:r>
          </a:p>
        </p:txBody>
      </p:sp>
      <p:sp>
        <p:nvSpPr>
          <p:cNvPr id="4" name="TextBox 3">
            <a:extLst>
              <a:ext uri="{FF2B5EF4-FFF2-40B4-BE49-F238E27FC236}">
                <a16:creationId xmlns:a16="http://schemas.microsoft.com/office/drawing/2014/main" id="{2D65DE8C-89ED-774A-E0E2-C13FED8C8E3E}"/>
              </a:ext>
            </a:extLst>
          </p:cNvPr>
          <p:cNvSpPr txBox="1"/>
          <p:nvPr/>
        </p:nvSpPr>
        <p:spPr>
          <a:xfrm>
            <a:off x="438449" y="1887389"/>
            <a:ext cx="7838982" cy="1600438"/>
          </a:xfrm>
          <a:prstGeom prst="rect">
            <a:avLst/>
          </a:prstGeom>
          <a:noFill/>
        </p:spPr>
        <p:txBody>
          <a:bodyPr wrap="square" rtlCol="0">
            <a:spAutoFit/>
          </a:bodyPr>
          <a:lstStyle/>
          <a:p>
            <a:r>
              <a:rPr lang="en-IN" b="1" dirty="0">
                <a:effectLst/>
                <a:latin typeface="Times New Roman" panose="02020603050405020304" pitchFamily="18" charset="0"/>
                <a:cs typeface="Times New Roman" panose="02020603050405020304" pitchFamily="18" charset="0"/>
              </a:rPr>
              <a:t>State-of-the-art systems</a:t>
            </a:r>
          </a:p>
          <a:p>
            <a:pPr lvl="5"/>
            <a:r>
              <a:rPr lang="en-IN" dirty="0">
                <a:effectLst/>
                <a:latin typeface="Times New Roman" panose="02020603050405020304" pitchFamily="18" charset="0"/>
                <a:cs typeface="Times New Roman" panose="02020603050405020304" pitchFamily="18" charset="0"/>
              </a:rPr>
              <a:t>	Assume high clock drift (200ppm) </a:t>
            </a:r>
          </a:p>
          <a:p>
            <a:pPr lvl="8"/>
            <a:r>
              <a:rPr lang="en-IN" dirty="0">
                <a:effectLst/>
                <a:latin typeface="Times New Roman" panose="02020603050405020304" pitchFamily="18" charset="0"/>
                <a:cs typeface="Times New Roman" panose="02020603050405020304" pitchFamily="18" charset="0"/>
              </a:rPr>
              <a:t>	Performs as many as 10K synchronizations per second to achieve sub-microsecond clock synchronization </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But d</a:t>
            </a:r>
            <a:r>
              <a:rPr lang="en-IN" dirty="0">
                <a:effectLst/>
                <a:latin typeface="Times New Roman" panose="02020603050405020304" pitchFamily="18" charset="0"/>
                <a:cs typeface="Times New Roman" panose="02020603050405020304" pitchFamily="18" charset="0"/>
              </a:rPr>
              <a:t>atasheets from several vendors specify a clock crystal with at least ±20ppm temperature stability </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89625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D65DE8C-89ED-774A-E0E2-C13FED8C8E3E}"/>
              </a:ext>
            </a:extLst>
          </p:cNvPr>
          <p:cNvSpPr txBox="1"/>
          <p:nvPr/>
        </p:nvSpPr>
        <p:spPr>
          <a:xfrm>
            <a:off x="340809" y="1398912"/>
            <a:ext cx="7838982" cy="1769715"/>
          </a:xfrm>
          <a:prstGeom prst="rect">
            <a:avLst/>
          </a:prstGeom>
          <a:noFill/>
        </p:spPr>
        <p:txBody>
          <a:bodyPr wrap="square" rtlCol="0">
            <a:spAutoFit/>
          </a:bodyPr>
          <a:lstStyle/>
          <a:p>
            <a:r>
              <a:rPr lang="en-IN" dirty="0">
                <a:solidFill>
                  <a:schemeClr val="tx1"/>
                </a:solidFill>
                <a:effectLst/>
                <a:latin typeface="Times New Roman" panose="02020603050405020304" pitchFamily="18" charset="0"/>
                <a:cs typeface="Times New Roman" panose="02020603050405020304" pitchFamily="18" charset="0"/>
              </a:rPr>
              <a:t>If we know that a system has lower drift</a:t>
            </a:r>
          </a:p>
          <a:p>
            <a:endParaRPr lang="en-IN" dirty="0">
              <a:solidFill>
                <a:schemeClr val="tx1"/>
              </a:solidFill>
              <a:effectLst/>
              <a:latin typeface="Times New Roman" panose="02020603050405020304" pitchFamily="18" charset="0"/>
              <a:cs typeface="Times New Roman" panose="02020603050405020304" pitchFamily="18" charset="0"/>
            </a:endParaRPr>
          </a:p>
          <a:p>
            <a:pPr marL="285750" lvl="2" indent="-285750">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W</a:t>
            </a:r>
            <a:r>
              <a:rPr lang="en-IN" dirty="0">
                <a:solidFill>
                  <a:schemeClr val="tx1"/>
                </a:solidFill>
                <a:effectLst/>
                <a:latin typeface="Times New Roman" panose="02020603050405020304" pitchFamily="18" charset="0"/>
                <a:cs typeface="Times New Roman" panose="02020603050405020304" pitchFamily="18" charset="0"/>
              </a:rPr>
              <a:t>e can reduce the rate of synchronization</a:t>
            </a:r>
          </a:p>
          <a:p>
            <a:pPr marL="285750" lvl="3" indent="-285750">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T</a:t>
            </a:r>
            <a:r>
              <a:rPr lang="en-IN" dirty="0">
                <a:solidFill>
                  <a:schemeClr val="tx1"/>
                </a:solidFill>
                <a:effectLst/>
                <a:latin typeface="Times New Roman" panose="02020603050405020304" pitchFamily="18" charset="0"/>
                <a:cs typeface="Times New Roman" panose="02020603050405020304" pitchFamily="18" charset="0"/>
              </a:rPr>
              <a:t>olerate synchronization failures</a:t>
            </a:r>
          </a:p>
          <a:p>
            <a:pPr marL="285750" lvl="3" indent="-285750">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R</a:t>
            </a:r>
            <a:r>
              <a:rPr lang="en-IN" dirty="0">
                <a:solidFill>
                  <a:schemeClr val="tx1"/>
                </a:solidFill>
                <a:effectLst/>
                <a:latin typeface="Times New Roman" panose="02020603050405020304" pitchFamily="18" charset="0"/>
                <a:cs typeface="Times New Roman" panose="02020603050405020304" pitchFamily="18" charset="0"/>
              </a:rPr>
              <a:t>educe network congestion</a:t>
            </a:r>
          </a:p>
          <a:p>
            <a:pPr marL="285750" lvl="3" indent="-285750">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Reduce o</a:t>
            </a:r>
            <a:r>
              <a:rPr lang="en-IN" dirty="0">
                <a:solidFill>
                  <a:schemeClr val="tx1"/>
                </a:solidFill>
                <a:effectLst/>
                <a:latin typeface="Times New Roman" panose="02020603050405020304" pitchFamily="18" charset="0"/>
                <a:cs typeface="Times New Roman" panose="02020603050405020304" pitchFamily="18" charset="0"/>
              </a:rPr>
              <a:t>verhead of processing synchronization messages </a:t>
            </a:r>
          </a:p>
          <a:p>
            <a:pPr marL="285750" lvl="3" indent="-285750">
              <a:buFont typeface="Wingdings" pitchFamily="2" charset="2"/>
              <a:buChar char="ü"/>
            </a:pPr>
            <a:r>
              <a:rPr lang="en-IN" dirty="0">
                <a:solidFill>
                  <a:schemeClr val="tx1"/>
                </a:solidFill>
                <a:effectLst/>
                <a:latin typeface="Times New Roman" panose="02020603050405020304" pitchFamily="18" charset="0"/>
                <a:cs typeface="Times New Roman" panose="02020603050405020304" pitchFamily="18" charset="0"/>
              </a:rPr>
              <a:t>Avoid the use of specialized hardware </a:t>
            </a:r>
            <a:endParaRPr lang="en-IN" dirty="0">
              <a:solidFill>
                <a:schemeClr val="tx1"/>
              </a:solidFill>
              <a:latin typeface="Times New Roman" panose="02020603050405020304" pitchFamily="18" charset="0"/>
              <a:cs typeface="Times New Roman" panose="02020603050405020304" pitchFamily="18" charset="0"/>
            </a:endParaRPr>
          </a:p>
          <a:p>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C4AE17D0-E2AA-08D3-08C1-DF7B33AE098A}"/>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2"/>
              </a:rPr>
              <a:t>Graham</a:t>
            </a:r>
            <a:endParaRPr lang="en-US" dirty="0"/>
          </a:p>
        </p:txBody>
      </p:sp>
      <p:sp>
        <p:nvSpPr>
          <p:cNvPr id="6" name="Title 5">
            <a:extLst>
              <a:ext uri="{FF2B5EF4-FFF2-40B4-BE49-F238E27FC236}">
                <a16:creationId xmlns:a16="http://schemas.microsoft.com/office/drawing/2014/main" id="{BFC86257-1EC8-1933-BE26-638FBA59CA42}"/>
              </a:ext>
            </a:extLst>
          </p:cNvPr>
          <p:cNvSpPr>
            <a:spLocks noGrp="1"/>
          </p:cNvSpPr>
          <p:nvPr>
            <p:ph type="title"/>
          </p:nvPr>
        </p:nvSpPr>
        <p:spPr>
          <a:xfrm>
            <a:off x="340809" y="667537"/>
            <a:ext cx="8520600" cy="572700"/>
          </a:xfrm>
        </p:spPr>
        <p:txBody>
          <a:bodyPr>
            <a:normAutofit fontScale="90000"/>
          </a:bodyPr>
          <a:lstStyle/>
          <a:p>
            <a:r>
              <a:rPr lang="en-US" dirty="0">
                <a:latin typeface="Times New Roman" panose="02020603050405020304" pitchFamily="18" charset="0"/>
                <a:cs typeface="Times New Roman" panose="02020603050405020304" pitchFamily="18" charset="0"/>
              </a:rPr>
              <a:t>Motivation</a:t>
            </a:r>
          </a:p>
        </p:txBody>
      </p:sp>
    </p:spTree>
    <p:extLst>
      <p:ext uri="{BB962C8B-B14F-4D97-AF65-F5344CB8AC3E}">
        <p14:creationId xmlns:p14="http://schemas.microsoft.com/office/powerpoint/2010/main" val="34454949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30505-5778-8B43-7BC2-4FCCD6936C3A}"/>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Contribution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4EB6348-1B92-10CB-7F33-D74F2680B26B}"/>
              </a:ext>
            </a:extLst>
          </p:cNvPr>
          <p:cNvSpPr>
            <a:spLocks noGrp="1"/>
          </p:cNvSpPr>
          <p:nvPr>
            <p:ph type="body" idx="1"/>
          </p:nvPr>
        </p:nvSpPr>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A comprehensive study to expose that computers can have stable clocks</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Characterize computer clocks with existing sensors</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A synchronization model to determine clock synchronization frequency</a:t>
            </a:r>
          </a:p>
        </p:txBody>
      </p:sp>
      <p:sp>
        <p:nvSpPr>
          <p:cNvPr id="4" name="Title 1">
            <a:extLst>
              <a:ext uri="{FF2B5EF4-FFF2-40B4-BE49-F238E27FC236}">
                <a16:creationId xmlns:a16="http://schemas.microsoft.com/office/drawing/2014/main" id="{4404A10B-D81F-D3B8-C4BC-CE76BA07E37C}"/>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2"/>
              </a:rPr>
              <a:t>Graham</a:t>
            </a:r>
            <a:endParaRPr lang="en-US" dirty="0"/>
          </a:p>
        </p:txBody>
      </p:sp>
    </p:spTree>
    <p:extLst>
      <p:ext uri="{BB962C8B-B14F-4D97-AF65-F5344CB8AC3E}">
        <p14:creationId xmlns:p14="http://schemas.microsoft.com/office/powerpoint/2010/main" val="25073509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BBA8-5646-04C9-5969-C60695C1C63F}"/>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Local clock study</a:t>
            </a:r>
          </a:p>
        </p:txBody>
      </p:sp>
      <p:sp>
        <p:nvSpPr>
          <p:cNvPr id="3" name="Text Placeholder 2">
            <a:extLst>
              <a:ext uri="{FF2B5EF4-FFF2-40B4-BE49-F238E27FC236}">
                <a16:creationId xmlns:a16="http://schemas.microsoft.com/office/drawing/2014/main" id="{21B80E34-BF6D-4D43-0984-9B2DC7006EC3}"/>
              </a:ext>
            </a:extLst>
          </p:cNvPr>
          <p:cNvSpPr>
            <a:spLocks noGrp="1"/>
          </p:cNvSpPr>
          <p:nvPr>
            <p:ph type="body" idx="1"/>
          </p:nvPr>
        </p:nvSpPr>
        <p:spPr>
          <a:xfrm>
            <a:off x="311700" y="1152475"/>
            <a:ext cx="4148620" cy="3416400"/>
          </a:xfrm>
        </p:spPr>
        <p:txBody>
          <a:bodyPr/>
          <a:lstStyle/>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Clocks in computers are driven </a:t>
            </a:r>
            <a:r>
              <a:rPr lang="en-IN" sz="1400" dirty="0">
                <a:solidFill>
                  <a:schemeClr val="tx1"/>
                </a:solidFill>
                <a:latin typeface="Times New Roman" panose="02020603050405020304" pitchFamily="18" charset="0"/>
                <a:cs typeface="Times New Roman" panose="02020603050405020304" pitchFamily="18" charset="0"/>
              </a:rPr>
              <a:t>by clock signals provided by o</a:t>
            </a:r>
            <a:r>
              <a:rPr lang="en-IN" sz="1400" dirty="0">
                <a:solidFill>
                  <a:schemeClr val="tx1"/>
                </a:solidFill>
                <a:effectLst/>
                <a:latin typeface="Times New Roman" panose="02020603050405020304" pitchFamily="18" charset="0"/>
                <a:cs typeface="Times New Roman" panose="02020603050405020304" pitchFamily="18" charset="0"/>
              </a:rPr>
              <a:t>scillators. </a:t>
            </a:r>
          </a:p>
          <a:p>
            <a:pPr marL="114300" indent="0">
              <a:buNone/>
            </a:pPr>
            <a:endParaRPr lang="en-IN" sz="140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Clocks drift due to several reasons.</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But static drift is relatively constant.</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It can be learnt and corrected.</a:t>
            </a:r>
          </a:p>
          <a:p>
            <a:endParaRPr lang="en-US" dirty="0"/>
          </a:p>
        </p:txBody>
      </p:sp>
      <p:pic>
        <p:nvPicPr>
          <p:cNvPr id="4" name="Picture 3">
            <a:extLst>
              <a:ext uri="{FF2B5EF4-FFF2-40B4-BE49-F238E27FC236}">
                <a16:creationId xmlns:a16="http://schemas.microsoft.com/office/drawing/2014/main" id="{434D83EC-2523-89A7-69CD-F154C3DFCED8}"/>
              </a:ext>
            </a:extLst>
          </p:cNvPr>
          <p:cNvPicPr>
            <a:picLocks noChangeAspect="1"/>
          </p:cNvPicPr>
          <p:nvPr/>
        </p:nvPicPr>
        <p:blipFill>
          <a:blip r:embed="rId2"/>
          <a:stretch>
            <a:fillRect/>
          </a:stretch>
        </p:blipFill>
        <p:spPr>
          <a:xfrm>
            <a:off x="4744521" y="1017725"/>
            <a:ext cx="4087779" cy="2319470"/>
          </a:xfrm>
          <a:prstGeom prst="rect">
            <a:avLst/>
          </a:prstGeom>
        </p:spPr>
      </p:pic>
      <p:sp>
        <p:nvSpPr>
          <p:cNvPr id="5" name="Rounded Rectangle 4">
            <a:extLst>
              <a:ext uri="{FF2B5EF4-FFF2-40B4-BE49-F238E27FC236}">
                <a16:creationId xmlns:a16="http://schemas.microsoft.com/office/drawing/2014/main" id="{24034DB2-6C3D-20FD-193B-19B4CA881F05}"/>
              </a:ext>
            </a:extLst>
          </p:cNvPr>
          <p:cNvSpPr/>
          <p:nvPr/>
        </p:nvSpPr>
        <p:spPr>
          <a:xfrm>
            <a:off x="4862005" y="1875354"/>
            <a:ext cx="3852809" cy="427055"/>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93FF8759-55B9-F0C1-FC9C-2D4BC8F30714}"/>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3"/>
              </a:rPr>
              <a:t>Graham</a:t>
            </a:r>
            <a:endParaRPr lang="en-US" dirty="0"/>
          </a:p>
        </p:txBody>
      </p:sp>
    </p:spTree>
    <p:extLst>
      <p:ext uri="{BB962C8B-B14F-4D97-AF65-F5344CB8AC3E}">
        <p14:creationId xmlns:p14="http://schemas.microsoft.com/office/powerpoint/2010/main" val="291774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BBA8-5646-04C9-5969-C60695C1C63F}"/>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Local clock study</a:t>
            </a:r>
          </a:p>
        </p:txBody>
      </p:sp>
      <p:sp>
        <p:nvSpPr>
          <p:cNvPr id="3" name="Text Placeholder 2">
            <a:extLst>
              <a:ext uri="{FF2B5EF4-FFF2-40B4-BE49-F238E27FC236}">
                <a16:creationId xmlns:a16="http://schemas.microsoft.com/office/drawing/2014/main" id="{21B80E34-BF6D-4D43-0984-9B2DC7006EC3}"/>
              </a:ext>
            </a:extLst>
          </p:cNvPr>
          <p:cNvSpPr>
            <a:spLocks noGrp="1"/>
          </p:cNvSpPr>
          <p:nvPr>
            <p:ph type="body" idx="1"/>
          </p:nvPr>
        </p:nvSpPr>
        <p:spPr>
          <a:xfrm>
            <a:off x="311699" y="1152475"/>
            <a:ext cx="4509525" cy="3416400"/>
          </a:xfrm>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Dynamic drifts are caused due to environmental changes</a:t>
            </a:r>
            <a:r>
              <a:rPr lang="en-US" sz="1400" dirty="0">
                <a:solidFill>
                  <a:schemeClr val="tx1"/>
                </a:solidFill>
                <a:latin typeface="Times New Roman" panose="02020603050405020304" pitchFamily="18" charset="0"/>
                <a:cs typeface="Times New Roman" panose="02020603050405020304" pitchFamily="18" charset="0"/>
              </a:rPr>
              <a:t>.</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Temperature is the major cause.</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Temperature-frequency response of crystals can be determined from crystal datasheet provided by manufacturers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But correcting it is complicate due to physical properties.</a:t>
            </a:r>
          </a:p>
          <a:p>
            <a:pPr marL="596900" lvl="1" indent="0">
              <a:buNone/>
            </a:pPr>
            <a:endParaRPr lang="en-IN"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34D83EC-2523-89A7-69CD-F154C3DFCED8}"/>
              </a:ext>
            </a:extLst>
          </p:cNvPr>
          <p:cNvPicPr>
            <a:picLocks noChangeAspect="1"/>
          </p:cNvPicPr>
          <p:nvPr/>
        </p:nvPicPr>
        <p:blipFill>
          <a:blip r:embed="rId2"/>
          <a:stretch>
            <a:fillRect/>
          </a:stretch>
        </p:blipFill>
        <p:spPr>
          <a:xfrm>
            <a:off x="4744521" y="1017725"/>
            <a:ext cx="4087779" cy="2319470"/>
          </a:xfrm>
          <a:prstGeom prst="rect">
            <a:avLst/>
          </a:prstGeom>
        </p:spPr>
      </p:pic>
      <p:sp>
        <p:nvSpPr>
          <p:cNvPr id="6" name="Rounded Rectangle 5">
            <a:extLst>
              <a:ext uri="{FF2B5EF4-FFF2-40B4-BE49-F238E27FC236}">
                <a16:creationId xmlns:a16="http://schemas.microsoft.com/office/drawing/2014/main" id="{0625B4EC-9755-B7EF-C542-8BF53FA3131C}"/>
              </a:ext>
            </a:extLst>
          </p:cNvPr>
          <p:cNvSpPr/>
          <p:nvPr/>
        </p:nvSpPr>
        <p:spPr>
          <a:xfrm>
            <a:off x="4821224" y="2254783"/>
            <a:ext cx="3854823" cy="941294"/>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2AA1A13C-BF6B-5897-2007-2B37F19FF0C3}"/>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3"/>
              </a:rPr>
              <a:t>Graham</a:t>
            </a:r>
            <a:endParaRPr lang="en-US" dirty="0"/>
          </a:p>
        </p:txBody>
      </p:sp>
    </p:spTree>
    <p:extLst>
      <p:ext uri="{BB962C8B-B14F-4D97-AF65-F5344CB8AC3E}">
        <p14:creationId xmlns:p14="http://schemas.microsoft.com/office/powerpoint/2010/main" val="1430363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BBA8-5646-04C9-5969-C60695C1C63F}"/>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Local clock study</a:t>
            </a:r>
          </a:p>
        </p:txBody>
      </p:sp>
      <p:sp>
        <p:nvSpPr>
          <p:cNvPr id="3" name="Text Placeholder 2">
            <a:extLst>
              <a:ext uri="{FF2B5EF4-FFF2-40B4-BE49-F238E27FC236}">
                <a16:creationId xmlns:a16="http://schemas.microsoft.com/office/drawing/2014/main" id="{21B80E34-BF6D-4D43-0984-9B2DC7006EC3}"/>
              </a:ext>
            </a:extLst>
          </p:cNvPr>
          <p:cNvSpPr>
            <a:spLocks noGrp="1"/>
          </p:cNvSpPr>
          <p:nvPr>
            <p:ph type="body" idx="1"/>
          </p:nvPr>
        </p:nvSpPr>
        <p:spPr>
          <a:xfrm>
            <a:off x="311699" y="1152475"/>
            <a:ext cx="4509525" cy="3416400"/>
          </a:xfrm>
        </p:spPr>
        <p:txBody>
          <a:bodyPr>
            <a:normAutofit/>
          </a:bodyPr>
          <a:lstStyle/>
          <a:p>
            <a:pPr marL="114300" indent="0">
              <a:buNone/>
            </a:pPr>
            <a:r>
              <a:rPr lang="en-IN" sz="1600" dirty="0">
                <a:solidFill>
                  <a:schemeClr val="tx1"/>
                </a:solidFill>
                <a:latin typeface="Times New Roman" panose="02020603050405020304" pitchFamily="18" charset="0"/>
                <a:cs typeface="Times New Roman" panose="02020603050405020304" pitchFamily="18" charset="0"/>
              </a:rPr>
              <a:t>State-of-art systems combine static and dynamic error. </a:t>
            </a:r>
          </a:p>
          <a:p>
            <a:pPr marL="114300" indent="0">
              <a:buNone/>
            </a:pPr>
            <a:endParaRPr lang="en-IN" sz="16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600" dirty="0">
                <a:solidFill>
                  <a:schemeClr val="tx1"/>
                </a:solidFill>
                <a:latin typeface="Times New Roman" panose="02020603050405020304" pitchFamily="18" charset="0"/>
                <a:cs typeface="Times New Roman" panose="02020603050405020304" pitchFamily="18" charset="0"/>
              </a:rPr>
              <a:t>If static error is eliminated, temperature-induced drift is left with ±20ppm.</a:t>
            </a:r>
          </a:p>
          <a:p>
            <a:pPr marL="114300" indent="0">
              <a:buNone/>
            </a:pPr>
            <a:endParaRPr lang="en-IN" sz="16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600" dirty="0">
                <a:solidFill>
                  <a:schemeClr val="tx1"/>
                </a:solidFill>
                <a:latin typeface="Times New Roman" panose="02020603050405020304" pitchFamily="18" charset="0"/>
                <a:cs typeface="Times New Roman" panose="02020603050405020304" pitchFamily="18" charset="0"/>
              </a:rPr>
              <a:t>Spanner assumes 200ppm.</a:t>
            </a:r>
          </a:p>
          <a:p>
            <a:pPr marL="114300" indent="0">
              <a:buNone/>
            </a:pPr>
            <a:endParaRPr lang="en-IN" sz="16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600" dirty="0">
                <a:solidFill>
                  <a:schemeClr val="tx1"/>
                </a:solidFill>
                <a:latin typeface="Times New Roman" panose="02020603050405020304" pitchFamily="18" charset="0"/>
                <a:cs typeface="Times New Roman" panose="02020603050405020304" pitchFamily="18" charset="0"/>
              </a:rPr>
              <a:t>This leads to a 1 µs holdover time of 50ms, a 10x improvement over the 200ppm assumption used by many systems.</a:t>
            </a:r>
          </a:p>
          <a:p>
            <a:pPr lvl="1"/>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34D83EC-2523-89A7-69CD-F154C3DFCED8}"/>
              </a:ext>
            </a:extLst>
          </p:cNvPr>
          <p:cNvPicPr>
            <a:picLocks noChangeAspect="1"/>
          </p:cNvPicPr>
          <p:nvPr/>
        </p:nvPicPr>
        <p:blipFill>
          <a:blip r:embed="rId2"/>
          <a:stretch>
            <a:fillRect/>
          </a:stretch>
        </p:blipFill>
        <p:spPr>
          <a:xfrm>
            <a:off x="4744521" y="1017725"/>
            <a:ext cx="4087779" cy="2319470"/>
          </a:xfrm>
          <a:prstGeom prst="rect">
            <a:avLst/>
          </a:prstGeom>
        </p:spPr>
      </p:pic>
      <p:sp>
        <p:nvSpPr>
          <p:cNvPr id="6" name="Rounded Rectangle 5">
            <a:extLst>
              <a:ext uri="{FF2B5EF4-FFF2-40B4-BE49-F238E27FC236}">
                <a16:creationId xmlns:a16="http://schemas.microsoft.com/office/drawing/2014/main" id="{0625B4EC-9755-B7EF-C542-8BF53FA3131C}"/>
              </a:ext>
            </a:extLst>
          </p:cNvPr>
          <p:cNvSpPr/>
          <p:nvPr/>
        </p:nvSpPr>
        <p:spPr>
          <a:xfrm>
            <a:off x="4821224" y="2263748"/>
            <a:ext cx="3854823" cy="941294"/>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8FDFF49-BC62-6554-56A4-9C388E4AE663}"/>
              </a:ext>
            </a:extLst>
          </p:cNvPr>
          <p:cNvSpPr txBox="1"/>
          <p:nvPr/>
        </p:nvSpPr>
        <p:spPr>
          <a:xfrm>
            <a:off x="311699" y="4698475"/>
            <a:ext cx="8428889" cy="30777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Holdover Time </a:t>
            </a:r>
            <a:r>
              <a:rPr lang="en-US" dirty="0">
                <a:latin typeface="Times New Roman" panose="02020603050405020304" pitchFamily="18" charset="0"/>
                <a:cs typeface="Times New Roman" panose="02020603050405020304" pitchFamily="18" charset="0"/>
              </a:rPr>
              <a:t>refers to </a:t>
            </a:r>
            <a:r>
              <a:rPr lang="en-IN" dirty="0">
                <a:latin typeface="Times New Roman" panose="02020603050405020304" pitchFamily="18" charset="0"/>
                <a:cs typeface="Times New Roman" panose="02020603050405020304" pitchFamily="18" charset="0"/>
              </a:rPr>
              <a:t>how long a clock can maintain accurate time without synchronization.</a:t>
            </a:r>
          </a:p>
        </p:txBody>
      </p:sp>
      <p:sp>
        <p:nvSpPr>
          <p:cNvPr id="8" name="Title 1">
            <a:extLst>
              <a:ext uri="{FF2B5EF4-FFF2-40B4-BE49-F238E27FC236}">
                <a16:creationId xmlns:a16="http://schemas.microsoft.com/office/drawing/2014/main" id="{D798A1D9-447C-8D4A-D4DC-3A3D317F40E7}"/>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3"/>
              </a:rPr>
              <a:t>Graham</a:t>
            </a:r>
            <a:endParaRPr lang="en-US" dirty="0"/>
          </a:p>
        </p:txBody>
      </p:sp>
    </p:spTree>
    <p:extLst>
      <p:ext uri="{BB962C8B-B14F-4D97-AF65-F5344CB8AC3E}">
        <p14:creationId xmlns:p14="http://schemas.microsoft.com/office/powerpoint/2010/main" val="12164857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87313-D39F-1FF6-A969-E02F6D7FF239}"/>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Clock Observations</a:t>
            </a:r>
          </a:p>
        </p:txBody>
      </p:sp>
      <p:sp>
        <p:nvSpPr>
          <p:cNvPr id="3" name="Text Placeholder 2">
            <a:extLst>
              <a:ext uri="{FF2B5EF4-FFF2-40B4-BE49-F238E27FC236}">
                <a16:creationId xmlns:a16="http://schemas.microsoft.com/office/drawing/2014/main" id="{2D0A59E9-9196-3CCD-F2DF-A585627A0D2E}"/>
              </a:ext>
            </a:extLst>
          </p:cNvPr>
          <p:cNvSpPr>
            <a:spLocks noGrp="1"/>
          </p:cNvSpPr>
          <p:nvPr>
            <p:ph type="body" idx="1"/>
          </p:nvPr>
        </p:nvSpPr>
        <p:spPr>
          <a:xfrm>
            <a:off x="311700" y="1152475"/>
            <a:ext cx="4430629" cy="3416400"/>
          </a:xfrm>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T</a:t>
            </a:r>
            <a:r>
              <a:rPr lang="en-IN" sz="1400" dirty="0">
                <a:solidFill>
                  <a:schemeClr val="tx1"/>
                </a:solidFill>
                <a:effectLst/>
                <a:latin typeface="Times New Roman" panose="02020603050405020304" pitchFamily="18" charset="0"/>
                <a:cs typeface="Times New Roman" panose="02020603050405020304" pitchFamily="18" charset="0"/>
              </a:rPr>
              <a:t>emperature sensors are likely located some distance away from the crystal. </a:t>
            </a:r>
          </a:p>
          <a:p>
            <a:pPr marL="114300" indent="0">
              <a:buNone/>
            </a:pPr>
            <a:endParaRPr lang="en-IN" sz="140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By altering the commodity server to capture low jitter PPS time pulse, Graham identified that the clock was stable over long periods of time, deviating about .5ppm/hour. </a:t>
            </a:r>
          </a:p>
          <a:p>
            <a:pPr marL="114300" indent="0">
              <a:buNone/>
            </a:pPr>
            <a:endParaRPr lang="en-US" sz="1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D9892A1-EB94-D812-AD17-2DCC22AEF362}"/>
              </a:ext>
            </a:extLst>
          </p:cNvPr>
          <p:cNvPicPr>
            <a:picLocks noChangeAspect="1"/>
          </p:cNvPicPr>
          <p:nvPr/>
        </p:nvPicPr>
        <p:blipFill>
          <a:blip r:embed="rId2"/>
          <a:stretch>
            <a:fillRect/>
          </a:stretch>
        </p:blipFill>
        <p:spPr>
          <a:xfrm>
            <a:off x="4742329" y="1152475"/>
            <a:ext cx="4255158" cy="3127425"/>
          </a:xfrm>
          <a:prstGeom prst="rect">
            <a:avLst/>
          </a:prstGeom>
        </p:spPr>
      </p:pic>
      <p:sp>
        <p:nvSpPr>
          <p:cNvPr id="5" name="Title 1">
            <a:extLst>
              <a:ext uri="{FF2B5EF4-FFF2-40B4-BE49-F238E27FC236}">
                <a16:creationId xmlns:a16="http://schemas.microsoft.com/office/drawing/2014/main" id="{97FB8192-6078-66DE-CA5D-7658ED703A86}"/>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3"/>
              </a:rPr>
              <a:t>Graham</a:t>
            </a:r>
            <a:endParaRPr lang="en-US" dirty="0"/>
          </a:p>
        </p:txBody>
      </p:sp>
    </p:spTree>
    <p:extLst>
      <p:ext uri="{BB962C8B-B14F-4D97-AF65-F5344CB8AC3E}">
        <p14:creationId xmlns:p14="http://schemas.microsoft.com/office/powerpoint/2010/main" val="7599539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293A2-71E0-8CA9-FAF9-433548DAD22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Temperature vs Error relationship</a:t>
            </a:r>
          </a:p>
        </p:txBody>
      </p:sp>
      <p:sp>
        <p:nvSpPr>
          <p:cNvPr id="3" name="Text Placeholder 2">
            <a:extLst>
              <a:ext uri="{FF2B5EF4-FFF2-40B4-BE49-F238E27FC236}">
                <a16:creationId xmlns:a16="http://schemas.microsoft.com/office/drawing/2014/main" id="{D16341FC-6B99-122C-B03E-FC1D3278A9FB}"/>
              </a:ext>
            </a:extLst>
          </p:cNvPr>
          <p:cNvSpPr>
            <a:spLocks noGrp="1"/>
          </p:cNvSpPr>
          <p:nvPr>
            <p:ph type="body" idx="1"/>
          </p:nvPr>
        </p:nvSpPr>
        <p:spPr>
          <a:xfrm>
            <a:off x="311699" y="1152475"/>
            <a:ext cx="5527699" cy="1095425"/>
          </a:xfrm>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Raspberry Pi system tested against various temperature ranges gave the polynomial fit curve.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19F0A80-7B15-84A2-123D-E43C2F8521B1}"/>
              </a:ext>
            </a:extLst>
          </p:cNvPr>
          <p:cNvPicPr>
            <a:picLocks noChangeAspect="1"/>
          </p:cNvPicPr>
          <p:nvPr/>
        </p:nvPicPr>
        <p:blipFill>
          <a:blip r:embed="rId2"/>
          <a:stretch>
            <a:fillRect/>
          </a:stretch>
        </p:blipFill>
        <p:spPr>
          <a:xfrm>
            <a:off x="5839399" y="473075"/>
            <a:ext cx="2895600" cy="2387600"/>
          </a:xfrm>
          <a:prstGeom prst="rect">
            <a:avLst/>
          </a:prstGeom>
        </p:spPr>
      </p:pic>
      <p:pic>
        <p:nvPicPr>
          <p:cNvPr id="6" name="Picture 5">
            <a:extLst>
              <a:ext uri="{FF2B5EF4-FFF2-40B4-BE49-F238E27FC236}">
                <a16:creationId xmlns:a16="http://schemas.microsoft.com/office/drawing/2014/main" id="{ED023BE6-4694-FE61-5AFE-9632D84B615D}"/>
              </a:ext>
            </a:extLst>
          </p:cNvPr>
          <p:cNvPicPr>
            <a:picLocks noChangeAspect="1"/>
          </p:cNvPicPr>
          <p:nvPr/>
        </p:nvPicPr>
        <p:blipFill>
          <a:blip r:embed="rId3"/>
          <a:stretch>
            <a:fillRect/>
          </a:stretch>
        </p:blipFill>
        <p:spPr>
          <a:xfrm>
            <a:off x="214399" y="2247900"/>
            <a:ext cx="2971800" cy="2895600"/>
          </a:xfrm>
          <a:prstGeom prst="rect">
            <a:avLst/>
          </a:prstGeom>
        </p:spPr>
      </p:pic>
      <p:sp>
        <p:nvSpPr>
          <p:cNvPr id="7" name="Text Placeholder 2">
            <a:extLst>
              <a:ext uri="{FF2B5EF4-FFF2-40B4-BE49-F238E27FC236}">
                <a16:creationId xmlns:a16="http://schemas.microsoft.com/office/drawing/2014/main" id="{45D12897-536C-A20A-D2AF-A98878AFB55C}"/>
              </a:ext>
            </a:extLst>
          </p:cNvPr>
          <p:cNvSpPr txBox="1">
            <a:spLocks/>
          </p:cNvSpPr>
          <p:nvPr/>
        </p:nvSpPr>
        <p:spPr>
          <a:xfrm>
            <a:off x="3304601" y="3213049"/>
            <a:ext cx="5527699" cy="109542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On same device, similar curve is obtained across multiple tests.</a:t>
            </a:r>
          </a:p>
        </p:txBody>
      </p:sp>
      <p:sp>
        <p:nvSpPr>
          <p:cNvPr id="9" name="Title 1">
            <a:extLst>
              <a:ext uri="{FF2B5EF4-FFF2-40B4-BE49-F238E27FC236}">
                <a16:creationId xmlns:a16="http://schemas.microsoft.com/office/drawing/2014/main" id="{7826283A-C426-B8A6-5A9A-2163E4FB2A3B}"/>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4"/>
              </a:rPr>
              <a:t>Graham</a:t>
            </a:r>
            <a:endParaRPr lang="en-US" dirty="0"/>
          </a:p>
        </p:txBody>
      </p:sp>
    </p:spTree>
    <p:extLst>
      <p:ext uri="{BB962C8B-B14F-4D97-AF65-F5344CB8AC3E}">
        <p14:creationId xmlns:p14="http://schemas.microsoft.com/office/powerpoint/2010/main" val="24467608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293A2-71E0-8CA9-FAF9-433548DAD22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Temperature vs Error relationship</a:t>
            </a:r>
          </a:p>
        </p:txBody>
      </p:sp>
      <p:sp>
        <p:nvSpPr>
          <p:cNvPr id="3" name="Text Placeholder 2">
            <a:extLst>
              <a:ext uri="{FF2B5EF4-FFF2-40B4-BE49-F238E27FC236}">
                <a16:creationId xmlns:a16="http://schemas.microsoft.com/office/drawing/2014/main" id="{D16341FC-6B99-122C-B03E-FC1D3278A9FB}"/>
              </a:ext>
            </a:extLst>
          </p:cNvPr>
          <p:cNvSpPr>
            <a:spLocks noGrp="1"/>
          </p:cNvSpPr>
          <p:nvPr>
            <p:ph type="body" idx="1"/>
          </p:nvPr>
        </p:nvSpPr>
        <p:spPr>
          <a:xfrm>
            <a:off x="311700" y="1152475"/>
            <a:ext cx="5031481" cy="3416400"/>
          </a:xfrm>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On different devices of same model, the curve generated is significantly different. Could be due to manufacturing differences. </a:t>
            </a:r>
          </a:p>
          <a:p>
            <a:pPr marL="114300" indent="0">
              <a:buNone/>
            </a:pPr>
            <a:endParaRPr lang="en-US" sz="2000" dirty="0">
              <a:solidFill>
                <a:schemeClr val="tx1"/>
              </a:solidFill>
            </a:endParaRPr>
          </a:p>
        </p:txBody>
      </p:sp>
      <p:pic>
        <p:nvPicPr>
          <p:cNvPr id="4" name="Picture 3">
            <a:extLst>
              <a:ext uri="{FF2B5EF4-FFF2-40B4-BE49-F238E27FC236}">
                <a16:creationId xmlns:a16="http://schemas.microsoft.com/office/drawing/2014/main" id="{EFA010F8-9F2B-3133-68EF-2E38A8593791}"/>
              </a:ext>
            </a:extLst>
          </p:cNvPr>
          <p:cNvPicPr>
            <a:picLocks noChangeAspect="1"/>
          </p:cNvPicPr>
          <p:nvPr/>
        </p:nvPicPr>
        <p:blipFill>
          <a:blip r:embed="rId2"/>
          <a:stretch>
            <a:fillRect/>
          </a:stretch>
        </p:blipFill>
        <p:spPr>
          <a:xfrm>
            <a:off x="5682700" y="445025"/>
            <a:ext cx="3149600" cy="2603500"/>
          </a:xfrm>
          <a:prstGeom prst="rect">
            <a:avLst/>
          </a:prstGeom>
        </p:spPr>
      </p:pic>
      <p:pic>
        <p:nvPicPr>
          <p:cNvPr id="5" name="Picture 4">
            <a:extLst>
              <a:ext uri="{FF2B5EF4-FFF2-40B4-BE49-F238E27FC236}">
                <a16:creationId xmlns:a16="http://schemas.microsoft.com/office/drawing/2014/main" id="{206F9397-328F-682A-1BD8-4642FD35B52F}"/>
              </a:ext>
            </a:extLst>
          </p:cNvPr>
          <p:cNvPicPr>
            <a:picLocks noChangeAspect="1"/>
          </p:cNvPicPr>
          <p:nvPr/>
        </p:nvPicPr>
        <p:blipFill>
          <a:blip r:embed="rId3"/>
          <a:stretch>
            <a:fillRect/>
          </a:stretch>
        </p:blipFill>
        <p:spPr>
          <a:xfrm>
            <a:off x="185680" y="2571750"/>
            <a:ext cx="2933700" cy="2286000"/>
          </a:xfrm>
          <a:prstGeom prst="rect">
            <a:avLst/>
          </a:prstGeom>
        </p:spPr>
      </p:pic>
      <p:sp>
        <p:nvSpPr>
          <p:cNvPr id="6" name="TextBox 5">
            <a:extLst>
              <a:ext uri="{FF2B5EF4-FFF2-40B4-BE49-F238E27FC236}">
                <a16:creationId xmlns:a16="http://schemas.microsoft.com/office/drawing/2014/main" id="{E8F347D7-56A1-7C30-93F0-12025B5395D6}"/>
              </a:ext>
            </a:extLst>
          </p:cNvPr>
          <p:cNvSpPr txBox="1"/>
          <p:nvPr/>
        </p:nvSpPr>
        <p:spPr>
          <a:xfrm>
            <a:off x="2827440" y="3467805"/>
            <a:ext cx="3191899" cy="523220"/>
          </a:xfrm>
          <a:prstGeom prst="rect">
            <a:avLst/>
          </a:prstGeom>
          <a:noFill/>
        </p:spPr>
        <p:txBody>
          <a:bodyPr wrap="none" rtlCol="0">
            <a:spAutoFit/>
          </a:bodyPr>
          <a:lstStyle/>
          <a:p>
            <a:r>
              <a:rPr lang="en-US" dirty="0">
                <a:solidFill>
                  <a:schemeClr val="tx1"/>
                </a:solidFill>
                <a:latin typeface="Times New Roman" panose="02020603050405020304" pitchFamily="18" charset="0"/>
                <a:cs typeface="Times New Roman" panose="02020603050405020304" pitchFamily="18" charset="0"/>
              </a:rPr>
              <a:t>Curve slightly changes as the device age. </a:t>
            </a:r>
          </a:p>
          <a:p>
            <a:endParaRPr lang="en-US" dirty="0"/>
          </a:p>
        </p:txBody>
      </p:sp>
      <p:sp>
        <p:nvSpPr>
          <p:cNvPr id="7" name="Title 1">
            <a:extLst>
              <a:ext uri="{FF2B5EF4-FFF2-40B4-BE49-F238E27FC236}">
                <a16:creationId xmlns:a16="http://schemas.microsoft.com/office/drawing/2014/main" id="{96F30E81-0AC9-E64A-1F5D-064EED02C47F}"/>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4"/>
              </a:rPr>
              <a:t>Graham</a:t>
            </a:r>
            <a:endParaRPr lang="en-US" dirty="0"/>
          </a:p>
        </p:txBody>
      </p:sp>
    </p:spTree>
    <p:extLst>
      <p:ext uri="{BB962C8B-B14F-4D97-AF65-F5344CB8AC3E}">
        <p14:creationId xmlns:p14="http://schemas.microsoft.com/office/powerpoint/2010/main" val="29143753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980E-3CC7-B3D1-9F52-FC5E423EAE1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Design</a:t>
            </a:r>
            <a:br>
              <a:rPr lang="en-US" dirty="0"/>
            </a:br>
            <a:br>
              <a:rPr lang="en-US" dirty="0"/>
            </a:br>
            <a:r>
              <a:rPr lang="en-US" sz="1600" dirty="0">
                <a:latin typeface="Times New Roman" panose="02020603050405020304" pitchFamily="18" charset="0"/>
                <a:cs typeface="Times New Roman" panose="02020603050405020304" pitchFamily="18" charset="0"/>
              </a:rPr>
              <a:t>As the clock error can be obtained for a given temperature from the curve, clock can be corrected even in the absence of accurate timing signal. </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Graham learns the temperature-clock error relationship by fitting curves as new data points are learned. </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F4A58086-8F4B-0E00-05C4-3C95F89F9C80}"/>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2"/>
              </a:rPr>
              <a:t>Graham</a:t>
            </a:r>
            <a:endParaRPr lang="en-US" dirty="0"/>
          </a:p>
        </p:txBody>
      </p:sp>
    </p:spTree>
    <p:extLst>
      <p:ext uri="{BB962C8B-B14F-4D97-AF65-F5344CB8AC3E}">
        <p14:creationId xmlns:p14="http://schemas.microsoft.com/office/powerpoint/2010/main" val="4704410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980E-3CC7-B3D1-9F52-FC5E423EAE1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Implementation</a:t>
            </a:r>
            <a:br>
              <a:rPr lang="en-US" dirty="0"/>
            </a:br>
            <a:br>
              <a:rPr lang="en-US" dirty="0"/>
            </a:br>
            <a:r>
              <a:rPr lang="en-US" sz="1600" dirty="0">
                <a:latin typeface="Times New Roman" panose="02020603050405020304" pitchFamily="18" charset="0"/>
                <a:cs typeface="Times New Roman" panose="02020603050405020304" pitchFamily="18" charset="0"/>
              </a:rPr>
              <a:t>The temperature and clock error is modelled by using cubic polynomial equations solved using linear least squares measures. </a:t>
            </a:r>
            <a:br>
              <a:rPr lang="en-US" sz="16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a:t>
            </a:r>
            <a:br>
              <a:rPr lang="en-US" sz="12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Graham uses temperature sensors to collect temperature data at regular intervals, assuming operating temperature range of 40-80</a:t>
            </a:r>
            <a:r>
              <a:rPr lang="en-IN" sz="1600" baseline="30000" dirty="0">
                <a:effectLst/>
                <a:latin typeface="Times New Roman" panose="02020603050405020304" pitchFamily="18" charset="0"/>
                <a:cs typeface="Times New Roman" panose="02020603050405020304" pitchFamily="18" charset="0"/>
              </a:rPr>
              <a:t>o</a:t>
            </a:r>
            <a:r>
              <a:rPr lang="en-IN" sz="1600" dirty="0">
                <a:effectLst/>
                <a:latin typeface="Times New Roman" panose="02020603050405020304" pitchFamily="18" charset="0"/>
                <a:cs typeface="Times New Roman" panose="02020603050405020304" pitchFamily="18" charset="0"/>
              </a:rPr>
              <a:t>C</a:t>
            </a: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In systems that has more multiple sensors, the sensor with minimal frequency error is selected</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 system continuously gathers data and learn the curve before applying corrections.</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Jitter and network asymmetry are considered as noise which is a random variable with zero mean that can be reduced by averaging over more equations and longer durations. </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318799BE-16CD-F5B0-F22A-CC6CA07D83BD}"/>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2"/>
              </a:rPr>
              <a:t>Graham</a:t>
            </a:r>
            <a:endParaRPr lang="en-US" dirty="0"/>
          </a:p>
        </p:txBody>
      </p:sp>
    </p:spTree>
    <p:extLst>
      <p:ext uri="{BB962C8B-B14F-4D97-AF65-F5344CB8AC3E}">
        <p14:creationId xmlns:p14="http://schemas.microsoft.com/office/powerpoint/2010/main" val="16783880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980E-3CC7-B3D1-9F52-FC5E423EAE1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br>
              <a:rPr lang="en-US" dirty="0"/>
            </a:br>
            <a:br>
              <a:rPr lang="en-US" dirty="0"/>
            </a:br>
            <a:endParaRPr lang="en-US" sz="1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EF9F5E9-B6CA-7405-A4C7-7841D4B3ED9E}"/>
              </a:ext>
            </a:extLst>
          </p:cNvPr>
          <p:cNvSpPr>
            <a:spLocks noGrp="1"/>
          </p:cNvSpPr>
          <p:nvPr>
            <p:ph type="body" idx="1"/>
          </p:nvPr>
        </p:nvSpPr>
        <p:spPr/>
        <p:txBody>
          <a:bodyPr>
            <a:normAutofit/>
          </a:bodyPr>
          <a:lstStyle/>
          <a:p>
            <a:pPr marL="114300" indent="0">
              <a:buNone/>
            </a:pPr>
            <a:r>
              <a:rPr lang="en-IN" dirty="0">
                <a:solidFill>
                  <a:schemeClr val="tx1"/>
                </a:solidFill>
                <a:latin typeface="Times New Roman" panose="02020603050405020304" pitchFamily="18" charset="0"/>
                <a:cs typeface="Times New Roman" panose="02020603050405020304" pitchFamily="18" charset="0"/>
              </a:rPr>
              <a:t>The </a:t>
            </a:r>
            <a:r>
              <a:rPr lang="en-IN" b="1" dirty="0">
                <a:solidFill>
                  <a:schemeClr val="tx1"/>
                </a:solidFill>
                <a:latin typeface="Times New Roman" panose="02020603050405020304" pitchFamily="18" charset="0"/>
                <a:cs typeface="Times New Roman" panose="02020603050405020304" pitchFamily="18" charset="0"/>
              </a:rPr>
              <a:t>evaluation of NTP </a:t>
            </a:r>
            <a:r>
              <a:rPr lang="en-IN" dirty="0">
                <a:solidFill>
                  <a:schemeClr val="tx1"/>
                </a:solidFill>
                <a:latin typeface="Times New Roman" panose="02020603050405020304" pitchFamily="18" charset="0"/>
                <a:cs typeface="Times New Roman" panose="02020603050405020304" pitchFamily="18" charset="0"/>
              </a:rPr>
              <a:t>was performed using </a:t>
            </a:r>
            <a:r>
              <a:rPr lang="en-IN" dirty="0" err="1">
                <a:solidFill>
                  <a:schemeClr val="tx1"/>
                </a:solidFill>
                <a:latin typeface="Times New Roman" panose="02020603050405020304" pitchFamily="18" charset="0"/>
                <a:cs typeface="Times New Roman" panose="02020603050405020304" pitchFamily="18" charset="0"/>
              </a:rPr>
              <a:t>chrony</a:t>
            </a:r>
            <a:r>
              <a:rPr lang="en-IN" dirty="0">
                <a:solidFill>
                  <a:schemeClr val="tx1"/>
                </a:solidFill>
                <a:latin typeface="Times New Roman" panose="02020603050405020304" pitchFamily="18" charset="0"/>
                <a:cs typeface="Times New Roman" panose="02020603050405020304" pitchFamily="18" charset="0"/>
              </a:rPr>
              <a:t> to collect synchronization data, with PPS used as the baseline.</a:t>
            </a:r>
            <a:br>
              <a:rPr lang="en-IN" dirty="0">
                <a:solidFill>
                  <a:schemeClr val="tx1"/>
                </a:solidFill>
                <a:latin typeface="Times New Roman" panose="02020603050405020304" pitchFamily="18" charset="0"/>
                <a:cs typeface="Times New Roman" panose="02020603050405020304" pitchFamily="18" charset="0"/>
              </a:rPr>
            </a:b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NTP synchronization accuracy resulted in a curve within ±0.5 ppm of the PPS baseline across most of the operating range.</a:t>
            </a:r>
            <a:br>
              <a:rPr lang="en-IN" dirty="0">
                <a:solidFill>
                  <a:schemeClr val="tx1"/>
                </a:solidFill>
                <a:latin typeface="Times New Roman" panose="02020603050405020304" pitchFamily="18" charset="0"/>
                <a:cs typeface="Times New Roman" panose="02020603050405020304" pitchFamily="18" charset="0"/>
              </a:rPr>
            </a:b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It took 160 equations were collected over a 48-hour run to generate this curve</a:t>
            </a:r>
            <a:endParaRPr lang="en-US" dirty="0">
              <a:solidFill>
                <a:schemeClr val="tx1"/>
              </a:solidFill>
            </a:endParaRPr>
          </a:p>
        </p:txBody>
      </p:sp>
      <p:pic>
        <p:nvPicPr>
          <p:cNvPr id="5" name="Picture 4">
            <a:extLst>
              <a:ext uri="{FF2B5EF4-FFF2-40B4-BE49-F238E27FC236}">
                <a16:creationId xmlns:a16="http://schemas.microsoft.com/office/drawing/2014/main" id="{32F51CD2-6BAC-B859-B900-D1B681DDFBD8}"/>
              </a:ext>
            </a:extLst>
          </p:cNvPr>
          <p:cNvPicPr>
            <a:picLocks noChangeAspect="1"/>
          </p:cNvPicPr>
          <p:nvPr/>
        </p:nvPicPr>
        <p:blipFill>
          <a:blip r:embed="rId2"/>
          <a:stretch>
            <a:fillRect/>
          </a:stretch>
        </p:blipFill>
        <p:spPr>
          <a:xfrm>
            <a:off x="5533570" y="3169085"/>
            <a:ext cx="2019623" cy="1752880"/>
          </a:xfrm>
          <a:prstGeom prst="rect">
            <a:avLst/>
          </a:prstGeom>
        </p:spPr>
      </p:pic>
      <p:pic>
        <p:nvPicPr>
          <p:cNvPr id="6" name="Picture 5">
            <a:extLst>
              <a:ext uri="{FF2B5EF4-FFF2-40B4-BE49-F238E27FC236}">
                <a16:creationId xmlns:a16="http://schemas.microsoft.com/office/drawing/2014/main" id="{C4F6C8A2-50AD-3742-5670-58C7EC5252ED}"/>
              </a:ext>
            </a:extLst>
          </p:cNvPr>
          <p:cNvPicPr>
            <a:picLocks noChangeAspect="1"/>
          </p:cNvPicPr>
          <p:nvPr/>
        </p:nvPicPr>
        <p:blipFill>
          <a:blip r:embed="rId3"/>
          <a:stretch>
            <a:fillRect/>
          </a:stretch>
        </p:blipFill>
        <p:spPr>
          <a:xfrm>
            <a:off x="4607772" y="334269"/>
            <a:ext cx="4224528" cy="2722081"/>
          </a:xfrm>
          <a:prstGeom prst="rect">
            <a:avLst/>
          </a:prstGeom>
        </p:spPr>
      </p:pic>
      <p:sp>
        <p:nvSpPr>
          <p:cNvPr id="7" name="Title 1">
            <a:extLst>
              <a:ext uri="{FF2B5EF4-FFF2-40B4-BE49-F238E27FC236}">
                <a16:creationId xmlns:a16="http://schemas.microsoft.com/office/drawing/2014/main" id="{B0A05CD3-E74C-0A93-85A4-A93F32A01017}"/>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4"/>
              </a:rPr>
              <a:t>Graham</a:t>
            </a:r>
            <a:endParaRPr lang="en-US" dirty="0"/>
          </a:p>
        </p:txBody>
      </p:sp>
    </p:spTree>
    <p:extLst>
      <p:ext uri="{BB962C8B-B14F-4D97-AF65-F5344CB8AC3E}">
        <p14:creationId xmlns:p14="http://schemas.microsoft.com/office/powerpoint/2010/main" val="20776751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980E-3CC7-B3D1-9F52-FC5E423EAE1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br>
              <a:rPr lang="en-US" dirty="0"/>
            </a:br>
            <a:br>
              <a:rPr lang="en-US" dirty="0"/>
            </a:br>
            <a:endParaRPr lang="en-US" sz="1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EF9F5E9-B6CA-7405-A4C7-7841D4B3ED9E}"/>
              </a:ext>
            </a:extLst>
          </p:cNvPr>
          <p:cNvSpPr>
            <a:spLocks noGrp="1"/>
          </p:cNvSpPr>
          <p:nvPr>
            <p:ph type="body" idx="1"/>
          </p:nvPr>
        </p:nvSpPr>
        <p:spPr>
          <a:xfrm>
            <a:off x="311700" y="1152475"/>
            <a:ext cx="4185872" cy="3416400"/>
          </a:xfrm>
        </p:spPr>
        <p:txBody>
          <a:bodyPr>
            <a:noAutofit/>
          </a:bodyPr>
          <a:lstStyle/>
          <a:p>
            <a:pPr marL="114300" indent="0">
              <a:buNone/>
            </a:pPr>
            <a:r>
              <a:rPr lang="en-IN" b="1" dirty="0">
                <a:solidFill>
                  <a:schemeClr val="tx1"/>
                </a:solidFill>
                <a:latin typeface="Times New Roman" panose="02020603050405020304" pitchFamily="18" charset="0"/>
                <a:cs typeface="Times New Roman" panose="02020603050405020304" pitchFamily="18" charset="0"/>
              </a:rPr>
              <a:t>Holdover in Raspberry Pi 3 environment</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Graham correcting time error exceeding 5000</a:t>
            </a:r>
            <a:r>
              <a:rPr lang="el-GR" sz="1200" dirty="0">
                <a:solidFill>
                  <a:schemeClr val="tx1"/>
                </a:solidFill>
                <a:latin typeface="Times New Roman" panose="02020603050405020304" pitchFamily="18" charset="0"/>
                <a:cs typeface="Times New Roman" panose="02020603050405020304" pitchFamily="18" charset="0"/>
              </a:rPr>
              <a:t>μ</a:t>
            </a:r>
            <a:r>
              <a:rPr lang="en-IN" sz="1200" dirty="0">
                <a:solidFill>
                  <a:schemeClr val="tx1"/>
                </a:solidFill>
                <a:latin typeface="Times New Roman" panose="02020603050405020304" pitchFamily="18" charset="0"/>
                <a:cs typeface="Times New Roman" panose="02020603050405020304" pitchFamily="18" charset="0"/>
              </a:rPr>
              <a:t>s (5 milliseconds) of drift after 620 seconds, which corresponds to 8ppm of temperature drift.</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With Graham's corrections, the error never exceeded 1500</a:t>
            </a:r>
            <a:r>
              <a:rPr lang="el-GR" sz="1200" dirty="0">
                <a:solidFill>
                  <a:schemeClr val="tx1"/>
                </a:solidFill>
                <a:latin typeface="Times New Roman" panose="02020603050405020304" pitchFamily="18" charset="0"/>
                <a:cs typeface="Times New Roman" panose="02020603050405020304" pitchFamily="18" charset="0"/>
              </a:rPr>
              <a:t>μ</a:t>
            </a:r>
            <a:r>
              <a:rPr lang="en-IN" sz="1200" dirty="0">
                <a:solidFill>
                  <a:schemeClr val="tx1"/>
                </a:solidFill>
                <a:latin typeface="Times New Roman" panose="02020603050405020304" pitchFamily="18" charset="0"/>
                <a:cs typeface="Times New Roman" panose="02020603050405020304" pitchFamily="18" charset="0"/>
              </a:rPr>
              <a:t>s (1.5 milliseconds) over the 8-hour run, even though the temperature was shifting significantly.</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Holdover time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Where e: max. time uncertainty, </a:t>
            </a:r>
            <a:r>
              <a:rPr lang="en-IN" sz="1200" dirty="0" err="1">
                <a:solidFill>
                  <a:schemeClr val="tx1"/>
                </a:solidFill>
                <a:latin typeface="Times New Roman" panose="02020603050405020304" pitchFamily="18" charset="0"/>
                <a:cs typeface="Times New Roman" panose="02020603050405020304" pitchFamily="18" charset="0"/>
              </a:rPr>
              <a:t>df</a:t>
            </a:r>
            <a:r>
              <a:rPr lang="en-IN" sz="1200" dirty="0">
                <a:solidFill>
                  <a:schemeClr val="tx1"/>
                </a:solidFill>
                <a:latin typeface="Times New Roman" panose="02020603050405020304" pitchFamily="18" charset="0"/>
                <a:cs typeface="Times New Roman" panose="02020603050405020304" pitchFamily="18" charset="0"/>
              </a:rPr>
              <a:t>: clock drift</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If e is 1</a:t>
            </a:r>
            <a:r>
              <a:rPr lang="el-GR" sz="1200" dirty="0">
                <a:solidFill>
                  <a:schemeClr val="tx1"/>
                </a:solidFill>
                <a:latin typeface="Times New Roman" panose="02020603050405020304" pitchFamily="18" charset="0"/>
                <a:cs typeface="Times New Roman" panose="02020603050405020304" pitchFamily="18" charset="0"/>
              </a:rPr>
              <a:t>μ</a:t>
            </a:r>
            <a:r>
              <a:rPr lang="en-IN" sz="1200" dirty="0">
                <a:solidFill>
                  <a:schemeClr val="tx1"/>
                </a:solidFill>
                <a:latin typeface="Times New Roman" panose="02020603050405020304" pitchFamily="18" charset="0"/>
                <a:cs typeface="Times New Roman" panose="02020603050405020304" pitchFamily="18" charset="0"/>
              </a:rPr>
              <a:t>s with drift 100ns/s, holdover time is 10 seconds. </a:t>
            </a: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 i.e., </a:t>
            </a:r>
            <a:r>
              <a:rPr lang="en-IN" sz="1200" dirty="0">
                <a:solidFill>
                  <a:schemeClr val="tx1"/>
                </a:solidFill>
                <a:effectLst/>
                <a:latin typeface="Times New Roman" panose="02020603050405020304" pitchFamily="18" charset="0"/>
                <a:cs typeface="Times New Roman" panose="02020603050405020304" pitchFamily="18" charset="0"/>
              </a:rPr>
              <a:t>the corrected clock will not exceed 1 </a:t>
            </a:r>
            <a:r>
              <a:rPr lang="el-GR" sz="1200" i="1" dirty="0">
                <a:solidFill>
                  <a:schemeClr val="tx1"/>
                </a:solidFill>
                <a:effectLst/>
                <a:latin typeface="Times New Roman" panose="02020603050405020304" pitchFamily="18" charset="0"/>
                <a:cs typeface="Times New Roman" panose="02020603050405020304" pitchFamily="18" charset="0"/>
              </a:rPr>
              <a:t>μ</a:t>
            </a:r>
            <a:r>
              <a:rPr lang="en-IN" sz="1200" dirty="0">
                <a:solidFill>
                  <a:schemeClr val="tx1"/>
                </a:solidFill>
                <a:effectLst/>
                <a:latin typeface="Times New Roman" panose="02020603050405020304" pitchFamily="18" charset="0"/>
                <a:cs typeface="Times New Roman" panose="02020603050405020304" pitchFamily="18" charset="0"/>
              </a:rPr>
              <a:t>s of error for at least 10 seconds without additional synchronization. </a:t>
            </a:r>
            <a:endParaRPr lang="en-IN" sz="12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C69F8DE-B82C-4628-E260-5F7A65E00D70}"/>
              </a:ext>
            </a:extLst>
          </p:cNvPr>
          <p:cNvPicPr>
            <a:picLocks noChangeAspect="1"/>
          </p:cNvPicPr>
          <p:nvPr/>
        </p:nvPicPr>
        <p:blipFill>
          <a:blip r:embed="rId2"/>
          <a:stretch>
            <a:fillRect/>
          </a:stretch>
        </p:blipFill>
        <p:spPr>
          <a:xfrm>
            <a:off x="4368308" y="1152475"/>
            <a:ext cx="4775692" cy="3075518"/>
          </a:xfrm>
          <a:prstGeom prst="rect">
            <a:avLst/>
          </a:prstGeom>
        </p:spPr>
      </p:pic>
      <p:pic>
        <p:nvPicPr>
          <p:cNvPr id="7" name="Picture 6">
            <a:extLst>
              <a:ext uri="{FF2B5EF4-FFF2-40B4-BE49-F238E27FC236}">
                <a16:creationId xmlns:a16="http://schemas.microsoft.com/office/drawing/2014/main" id="{8C08AD1B-F3EB-8FDD-75DF-D16C9C743082}"/>
              </a:ext>
            </a:extLst>
          </p:cNvPr>
          <p:cNvPicPr>
            <a:picLocks noChangeAspect="1"/>
          </p:cNvPicPr>
          <p:nvPr/>
        </p:nvPicPr>
        <p:blipFill>
          <a:blip r:embed="rId3"/>
          <a:stretch>
            <a:fillRect/>
          </a:stretch>
        </p:blipFill>
        <p:spPr>
          <a:xfrm>
            <a:off x="1492200" y="3209953"/>
            <a:ext cx="628999" cy="421716"/>
          </a:xfrm>
          <a:prstGeom prst="rect">
            <a:avLst/>
          </a:prstGeom>
        </p:spPr>
      </p:pic>
      <p:sp>
        <p:nvSpPr>
          <p:cNvPr id="8" name="Title 1">
            <a:extLst>
              <a:ext uri="{FF2B5EF4-FFF2-40B4-BE49-F238E27FC236}">
                <a16:creationId xmlns:a16="http://schemas.microsoft.com/office/drawing/2014/main" id="{9B18CC37-F9B3-A698-A34E-B0950CF74724}"/>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4"/>
              </a:rPr>
              <a:t>Graham</a:t>
            </a:r>
            <a:endParaRPr lang="en-US" dirty="0"/>
          </a:p>
        </p:txBody>
      </p:sp>
    </p:spTree>
    <p:extLst>
      <p:ext uri="{BB962C8B-B14F-4D97-AF65-F5344CB8AC3E}">
        <p14:creationId xmlns:p14="http://schemas.microsoft.com/office/powerpoint/2010/main" val="4358682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980E-3CC7-B3D1-9F52-FC5E423EAE1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br>
              <a:rPr lang="en-US" dirty="0"/>
            </a:br>
            <a:br>
              <a:rPr lang="en-US" dirty="0"/>
            </a:br>
            <a:endParaRPr lang="en-US" sz="1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EF9F5E9-B6CA-7405-A4C7-7841D4B3ED9E}"/>
              </a:ext>
            </a:extLst>
          </p:cNvPr>
          <p:cNvSpPr>
            <a:spLocks noGrp="1"/>
          </p:cNvSpPr>
          <p:nvPr>
            <p:ph type="body" idx="1"/>
          </p:nvPr>
        </p:nvSpPr>
        <p:spPr/>
        <p:txBody>
          <a:bodyPr>
            <a:normAutofit/>
          </a:bodyPr>
          <a:lstStyle/>
          <a:p>
            <a:pPr marL="114300" indent="0">
              <a:buNone/>
            </a:pPr>
            <a:r>
              <a:rPr lang="en-IN" b="1" dirty="0">
                <a:solidFill>
                  <a:schemeClr val="tx1"/>
                </a:solidFill>
                <a:latin typeface="Times New Roman" panose="02020603050405020304" pitchFamily="18" charset="0"/>
                <a:cs typeface="Times New Roman" panose="02020603050405020304" pitchFamily="18" charset="0"/>
              </a:rPr>
              <a:t>Holdover server experiment</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Experiments were conducted on more complex desktop and server x86 systems with multiple sensors and heat sources.</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The DIMM1 sensor maintained excellent holdover performance, producing less than 0.1ppm error, even under a memory load.</a:t>
            </a:r>
          </a:p>
          <a:p>
            <a:pPr marL="114300" indent="0">
              <a:buNone/>
            </a:pPr>
            <a:endParaRPr lang="en-US" sz="1200" dirty="0">
              <a:solidFill>
                <a:schemeClr val="tx1"/>
              </a:solidFill>
            </a:endParaRPr>
          </a:p>
        </p:txBody>
      </p:sp>
      <p:pic>
        <p:nvPicPr>
          <p:cNvPr id="4" name="Picture 3">
            <a:extLst>
              <a:ext uri="{FF2B5EF4-FFF2-40B4-BE49-F238E27FC236}">
                <a16:creationId xmlns:a16="http://schemas.microsoft.com/office/drawing/2014/main" id="{DB86E678-5DA3-193E-24A4-14EDDFECF985}"/>
              </a:ext>
            </a:extLst>
          </p:cNvPr>
          <p:cNvPicPr>
            <a:picLocks noChangeAspect="1"/>
          </p:cNvPicPr>
          <p:nvPr/>
        </p:nvPicPr>
        <p:blipFill>
          <a:blip r:embed="rId2"/>
          <a:stretch>
            <a:fillRect/>
          </a:stretch>
        </p:blipFill>
        <p:spPr>
          <a:xfrm>
            <a:off x="4867751" y="284412"/>
            <a:ext cx="3877528" cy="2287338"/>
          </a:xfrm>
          <a:prstGeom prst="rect">
            <a:avLst/>
          </a:prstGeom>
        </p:spPr>
      </p:pic>
      <p:pic>
        <p:nvPicPr>
          <p:cNvPr id="7" name="Picture 6">
            <a:extLst>
              <a:ext uri="{FF2B5EF4-FFF2-40B4-BE49-F238E27FC236}">
                <a16:creationId xmlns:a16="http://schemas.microsoft.com/office/drawing/2014/main" id="{8A681938-FAF5-2406-8957-0BD41D38D4DC}"/>
              </a:ext>
            </a:extLst>
          </p:cNvPr>
          <p:cNvPicPr>
            <a:picLocks noChangeAspect="1"/>
          </p:cNvPicPr>
          <p:nvPr/>
        </p:nvPicPr>
        <p:blipFill>
          <a:blip r:embed="rId3"/>
          <a:stretch>
            <a:fillRect/>
          </a:stretch>
        </p:blipFill>
        <p:spPr>
          <a:xfrm>
            <a:off x="4867751" y="2668526"/>
            <a:ext cx="4194887" cy="2411137"/>
          </a:xfrm>
          <a:prstGeom prst="rect">
            <a:avLst/>
          </a:prstGeom>
        </p:spPr>
      </p:pic>
      <p:sp>
        <p:nvSpPr>
          <p:cNvPr id="8" name="Title 1">
            <a:extLst>
              <a:ext uri="{FF2B5EF4-FFF2-40B4-BE49-F238E27FC236}">
                <a16:creationId xmlns:a16="http://schemas.microsoft.com/office/drawing/2014/main" id="{67FAC1DA-D472-61B1-27A0-7EE91BB42CAB}"/>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4"/>
              </a:rPr>
              <a:t>Graham</a:t>
            </a:r>
            <a:endParaRPr lang="en-US" dirty="0"/>
          </a:p>
        </p:txBody>
      </p:sp>
    </p:spTree>
    <p:extLst>
      <p:ext uri="{BB962C8B-B14F-4D97-AF65-F5344CB8AC3E}">
        <p14:creationId xmlns:p14="http://schemas.microsoft.com/office/powerpoint/2010/main" val="26151137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980E-3CC7-B3D1-9F52-FC5E423EAE1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br>
              <a:rPr lang="en-US" dirty="0"/>
            </a:br>
            <a:br>
              <a:rPr lang="en-US" dirty="0"/>
            </a:br>
            <a:endParaRPr lang="en-US" sz="1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EF9F5E9-B6CA-7405-A4C7-7841D4B3ED9E}"/>
              </a:ext>
            </a:extLst>
          </p:cNvPr>
          <p:cNvSpPr>
            <a:spLocks noGrp="1"/>
          </p:cNvSpPr>
          <p:nvPr>
            <p:ph type="body" idx="1"/>
          </p:nvPr>
        </p:nvSpPr>
        <p:spPr/>
        <p:txBody>
          <a:bodyPr>
            <a:normAutofit/>
          </a:bodyPr>
          <a:lstStyle/>
          <a:p>
            <a:pPr marL="114300" indent="0">
              <a:buNone/>
            </a:pPr>
            <a:r>
              <a:rPr lang="en-IN" b="1" dirty="0">
                <a:solidFill>
                  <a:schemeClr val="tx1"/>
                </a:solidFill>
                <a:latin typeface="Times New Roman" panose="02020603050405020304" pitchFamily="18" charset="0"/>
                <a:cs typeface="Times New Roman" panose="02020603050405020304" pitchFamily="18" charset="0"/>
              </a:rPr>
              <a:t>Holdover desktop experiment</a:t>
            </a:r>
          </a:p>
          <a:p>
            <a:pPr marL="114300" indent="0">
              <a:buNone/>
            </a:pPr>
            <a:endParaRPr lang="en-IN" sz="12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Experiments were conducted on a typical desktop machine, which had fewer sensors exposed compared to the fully instrumented server.</a:t>
            </a:r>
          </a:p>
          <a:p>
            <a:pPr marL="114300" indent="0">
              <a:buNone/>
            </a:pPr>
            <a:endParaRPr lang="en-US"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When the testing temperatures were not fully covered in the learning phase, Graham's compensation algorithm was still able to provide some correction, though the error increased from the typical 0.1ppm to 0.5ppm.</a:t>
            </a:r>
            <a:endParaRPr lang="en-US" sz="1200"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F65D2E4-5333-2EE2-1C14-37872539B828}"/>
              </a:ext>
            </a:extLst>
          </p:cNvPr>
          <p:cNvPicPr>
            <a:picLocks noChangeAspect="1"/>
          </p:cNvPicPr>
          <p:nvPr/>
        </p:nvPicPr>
        <p:blipFill>
          <a:blip r:embed="rId2"/>
          <a:stretch>
            <a:fillRect/>
          </a:stretch>
        </p:blipFill>
        <p:spPr>
          <a:xfrm>
            <a:off x="4976037" y="731374"/>
            <a:ext cx="3856263" cy="3709077"/>
          </a:xfrm>
          <a:prstGeom prst="rect">
            <a:avLst/>
          </a:prstGeom>
        </p:spPr>
      </p:pic>
      <p:sp>
        <p:nvSpPr>
          <p:cNvPr id="8" name="Title 1">
            <a:extLst>
              <a:ext uri="{FF2B5EF4-FFF2-40B4-BE49-F238E27FC236}">
                <a16:creationId xmlns:a16="http://schemas.microsoft.com/office/drawing/2014/main" id="{6EF4CCBC-726C-90B2-3EDA-B9BB653A7FE0}"/>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3"/>
              </a:rPr>
              <a:t>Graham</a:t>
            </a:r>
            <a:endParaRPr lang="en-US" dirty="0"/>
          </a:p>
        </p:txBody>
      </p:sp>
    </p:spTree>
    <p:extLst>
      <p:ext uri="{BB962C8B-B14F-4D97-AF65-F5344CB8AC3E}">
        <p14:creationId xmlns:p14="http://schemas.microsoft.com/office/powerpoint/2010/main" val="33785714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980E-3CC7-B3D1-9F52-FC5E423EAE1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br>
              <a:rPr lang="en-US" dirty="0"/>
            </a:br>
            <a:br>
              <a:rPr lang="en-US" dirty="0"/>
            </a:br>
            <a:endParaRPr lang="en-US" sz="1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EF9F5E9-B6CA-7405-A4C7-7841D4B3ED9E}"/>
              </a:ext>
            </a:extLst>
          </p:cNvPr>
          <p:cNvSpPr>
            <a:spLocks noGrp="1"/>
          </p:cNvSpPr>
          <p:nvPr>
            <p:ph type="body" idx="1"/>
          </p:nvPr>
        </p:nvSpPr>
        <p:spPr/>
        <p:txBody>
          <a:bodyPr>
            <a:normAutofit/>
          </a:bodyPr>
          <a:lstStyle/>
          <a:p>
            <a:pPr marL="114300" indent="0">
              <a:buNone/>
            </a:pPr>
            <a:r>
              <a:rPr lang="en-IN" b="1" dirty="0">
                <a:solidFill>
                  <a:schemeClr val="tx1"/>
                </a:solidFill>
                <a:latin typeface="Times New Roman" panose="02020603050405020304" pitchFamily="18" charset="0"/>
                <a:cs typeface="Times New Roman" panose="02020603050405020304" pitchFamily="18" charset="0"/>
              </a:rPr>
              <a:t>Temperature rapid changes</a:t>
            </a:r>
          </a:p>
          <a:p>
            <a:pPr marL="114300" indent="0">
              <a:buNone/>
            </a:pPr>
            <a:endParaRPr lang="en-IN" sz="1200" b="1" dirty="0">
              <a:solidFill>
                <a:schemeClr val="tx1"/>
              </a:solidFill>
              <a:latin typeface="Times New Roman" panose="02020603050405020304" pitchFamily="18" charset="0"/>
              <a:cs typeface="Times New Roman" panose="02020603050405020304" pitchFamily="18" charset="0"/>
            </a:endParaRPr>
          </a:p>
          <a:p>
            <a:pPr marL="139700" indent="0">
              <a:buNone/>
            </a:pPr>
            <a:r>
              <a:rPr lang="en-IN" sz="1200" dirty="0">
                <a:solidFill>
                  <a:schemeClr val="tx1"/>
                </a:solidFill>
                <a:latin typeface="Times New Roman" panose="02020603050405020304" pitchFamily="18" charset="0"/>
                <a:cs typeface="Times New Roman" panose="02020603050405020304" pitchFamily="18" charset="0"/>
              </a:rPr>
              <a:t>Experiments were conducted on a pi machine, </a:t>
            </a:r>
            <a:r>
              <a:rPr lang="en-IN" sz="1200" dirty="0">
                <a:solidFill>
                  <a:schemeClr val="tx1"/>
                </a:solidFill>
                <a:effectLst/>
                <a:latin typeface="Times New Roman" panose="02020603050405020304" pitchFamily="18" charset="0"/>
                <a:cs typeface="Times New Roman" panose="02020603050405020304" pitchFamily="18" charset="0"/>
              </a:rPr>
              <a:t>raising the temperature rapidly to the maximum operating temperature. </a:t>
            </a: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The time drift never exceeds more than 10</a:t>
            </a:r>
            <a:r>
              <a:rPr lang="el-GR" sz="1200" dirty="0">
                <a:solidFill>
                  <a:schemeClr val="tx1"/>
                </a:solidFill>
                <a:latin typeface="Times New Roman" panose="02020603050405020304" pitchFamily="18" charset="0"/>
                <a:cs typeface="Times New Roman" panose="02020603050405020304" pitchFamily="18" charset="0"/>
              </a:rPr>
              <a:t>μ</a:t>
            </a:r>
            <a:r>
              <a:rPr lang="en-IN" sz="1200" dirty="0">
                <a:solidFill>
                  <a:schemeClr val="tx1"/>
                </a:solidFill>
                <a:latin typeface="Times New Roman" panose="02020603050405020304" pitchFamily="18" charset="0"/>
                <a:cs typeface="Times New Roman" panose="02020603050405020304" pitchFamily="18" charset="0"/>
              </a:rPr>
              <a:t>s over the initial 25 second slope, a drift of only -0.4ppm.</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Once the temperature slope decreases, Graham is able to maintain the time without exceeding the initial 10</a:t>
            </a:r>
            <a:r>
              <a:rPr lang="el-GR" sz="1200" dirty="0">
                <a:solidFill>
                  <a:schemeClr val="tx1"/>
                </a:solidFill>
                <a:latin typeface="Times New Roman" panose="02020603050405020304" pitchFamily="18" charset="0"/>
                <a:cs typeface="Times New Roman" panose="02020603050405020304" pitchFamily="18" charset="0"/>
              </a:rPr>
              <a:t>μ</a:t>
            </a:r>
            <a:r>
              <a:rPr lang="en-IN" sz="1200" dirty="0">
                <a:solidFill>
                  <a:schemeClr val="tx1"/>
                </a:solidFill>
                <a:latin typeface="Times New Roman" panose="02020603050405020304" pitchFamily="18" charset="0"/>
                <a:cs typeface="Times New Roman" panose="02020603050405020304" pitchFamily="18" charset="0"/>
              </a:rPr>
              <a:t>s of error.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Without Graham, the system accumulates nearly 1ms of error during this time period.</a:t>
            </a:r>
            <a:endParaRPr lang="en-US" sz="12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200" dirty="0">
              <a:solidFill>
                <a:schemeClr val="tx1"/>
              </a:solidFill>
            </a:endParaRPr>
          </a:p>
        </p:txBody>
      </p:sp>
      <p:pic>
        <p:nvPicPr>
          <p:cNvPr id="4" name="Picture 3">
            <a:extLst>
              <a:ext uri="{FF2B5EF4-FFF2-40B4-BE49-F238E27FC236}">
                <a16:creationId xmlns:a16="http://schemas.microsoft.com/office/drawing/2014/main" id="{2EC9DAFB-0D25-33D0-EA41-F6DFF67647EA}"/>
              </a:ext>
            </a:extLst>
          </p:cNvPr>
          <p:cNvPicPr>
            <a:picLocks noChangeAspect="1"/>
          </p:cNvPicPr>
          <p:nvPr/>
        </p:nvPicPr>
        <p:blipFill>
          <a:blip r:embed="rId2"/>
          <a:stretch>
            <a:fillRect/>
          </a:stretch>
        </p:blipFill>
        <p:spPr>
          <a:xfrm>
            <a:off x="5587402" y="1212111"/>
            <a:ext cx="3037872" cy="2719277"/>
          </a:xfrm>
          <a:prstGeom prst="rect">
            <a:avLst/>
          </a:prstGeom>
        </p:spPr>
      </p:pic>
      <p:sp>
        <p:nvSpPr>
          <p:cNvPr id="7" name="Title 1">
            <a:extLst>
              <a:ext uri="{FF2B5EF4-FFF2-40B4-BE49-F238E27FC236}">
                <a16:creationId xmlns:a16="http://schemas.microsoft.com/office/drawing/2014/main" id="{5AD018E6-F1B2-E4AE-0BDD-D8CDD81D3329}"/>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3"/>
              </a:rPr>
              <a:t>Graham</a:t>
            </a:r>
            <a:endParaRPr lang="en-US" dirty="0"/>
          </a:p>
        </p:txBody>
      </p:sp>
    </p:spTree>
    <p:extLst>
      <p:ext uri="{BB962C8B-B14F-4D97-AF65-F5344CB8AC3E}">
        <p14:creationId xmlns:p14="http://schemas.microsoft.com/office/powerpoint/2010/main" val="40904487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980E-3CC7-B3D1-9F52-FC5E423EAE1B}"/>
              </a:ext>
            </a:extLst>
          </p:cNvPr>
          <p:cNvSpPr>
            <a:spLocks noGrp="1"/>
          </p:cNvSpPr>
          <p:nvPr>
            <p:ph type="title"/>
          </p:nvPr>
        </p:nvSpPr>
        <p:spPr/>
        <p:txBody>
          <a:bodyPr>
            <a:normAutofit fontScale="90000"/>
          </a:bodyPr>
          <a:lstStyle/>
          <a:p>
            <a:r>
              <a:rPr lang="en-US" dirty="0"/>
              <a:t>Conclusion</a:t>
            </a:r>
            <a:br>
              <a:rPr lang="en-US" dirty="0"/>
            </a:br>
            <a:br>
              <a:rPr lang="en-US" dirty="0"/>
            </a:br>
            <a:endParaRPr lang="en-US" sz="1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EF9F5E9-B6CA-7405-A4C7-7841D4B3ED9E}"/>
              </a:ext>
            </a:extLst>
          </p:cNvPr>
          <p:cNvSpPr>
            <a:spLocks noGrp="1"/>
          </p:cNvSpPr>
          <p:nvPr>
            <p:ph type="body" idx="1"/>
          </p:nvPr>
        </p:nvSpPr>
        <p:spPr>
          <a:xfrm>
            <a:off x="311700" y="1152475"/>
            <a:ext cx="8143368" cy="3416400"/>
          </a:xfrm>
        </p:spPr>
        <p:txBody>
          <a:bodyPr>
            <a:normAutofit/>
          </a:bodyPr>
          <a:lstStyle/>
          <a:p>
            <a:pPr marL="114300" indent="0">
              <a:buNone/>
            </a:pPr>
            <a:r>
              <a:rPr lang="en-IN" dirty="0">
                <a:solidFill>
                  <a:schemeClr val="tx1"/>
                </a:solidFill>
                <a:latin typeface="Times New Roman" panose="02020603050405020304" pitchFamily="18" charset="0"/>
                <a:cs typeface="Times New Roman" panose="02020603050405020304" pitchFamily="18" charset="0"/>
              </a:rPr>
              <a:t>Hardware clocks are relatively stable; software noise gives the assumption that clocks rapidly drift.</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Graham identified an approach to maintain clock frequency below 1ppm using commodity sensors.</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When external synchronization fails, Graham can be relied upon until recovery.</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Existing protocols can use Graham in synergy to reduce the frequency of synchronization.</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44753D0-736C-4185-E10E-AA0228522B73}"/>
              </a:ext>
            </a:extLst>
          </p:cNvPr>
          <p:cNvSpPr txBox="1">
            <a:spLocks/>
          </p:cNvSpPr>
          <p:nvPr/>
        </p:nvSpPr>
        <p:spPr>
          <a:xfrm>
            <a:off x="0" y="63837"/>
            <a:ext cx="8520600" cy="445025"/>
          </a:xfrm>
          <a:prstGeom prst="rect">
            <a:avLst/>
          </a:prstGeom>
          <a:noFill/>
          <a:ln>
            <a:noFill/>
          </a:ln>
        </p:spPr>
        <p:txBody>
          <a:bodyPr spcFirstLastPara="1" wrap="square" lIns="91425" tIns="91425" rIns="91425" bIns="91425" anchor="t" anchorCtr="0">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latin typeface="Times New Roman" panose="02020603050405020304" pitchFamily="18" charset="0"/>
                <a:cs typeface="Times New Roman" panose="02020603050405020304" pitchFamily="18" charset="0"/>
                <a:hlinkClick r:id="rId2"/>
              </a:rPr>
              <a:t>Graham</a:t>
            </a:r>
            <a:endParaRPr lang="en-US" dirty="0"/>
          </a:p>
        </p:txBody>
      </p:sp>
    </p:spTree>
    <p:extLst>
      <p:ext uri="{BB962C8B-B14F-4D97-AF65-F5344CB8AC3E}">
        <p14:creationId xmlns:p14="http://schemas.microsoft.com/office/powerpoint/2010/main" val="9201293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7EE06-18C7-5B3A-AEAE-BD62E96C5557}"/>
              </a:ext>
            </a:extLst>
          </p:cNvPr>
          <p:cNvSpPr>
            <a:spLocks noGrp="1"/>
          </p:cNvSpPr>
          <p:nvPr>
            <p:ph type="title"/>
          </p:nvPr>
        </p:nvSpPr>
        <p:spPr/>
        <p:txBody>
          <a:bodyPr>
            <a:normAutofit fontScale="90000"/>
          </a:bodyPr>
          <a:lstStyle/>
          <a:p>
            <a:r>
              <a:rPr lang="en" sz="2800" b="1" dirty="0">
                <a:solidFill>
                  <a:srgbClr val="333333"/>
                </a:solidFill>
                <a:highlight>
                  <a:srgbClr val="FFFFFF"/>
                </a:highlight>
                <a:latin typeface="Times New Roman" panose="02020603050405020304" pitchFamily="18" charset="0"/>
                <a:cs typeface="Times New Roman" panose="02020603050405020304" pitchFamily="18" charset="0"/>
                <a:hlinkClick r:id="rId2"/>
              </a:rPr>
              <a:t>Multi-hop Precision Time Protocol </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EB3B672-FF1B-6425-C2D9-586A50349427}"/>
              </a:ext>
            </a:extLst>
          </p:cNvPr>
          <p:cNvSpPr>
            <a:spLocks noGrp="1"/>
          </p:cNvSpPr>
          <p:nvPr>
            <p:ph type="body" idx="1"/>
          </p:nvPr>
        </p:nvSpPr>
        <p:spPr>
          <a:xfrm>
            <a:off x="311700" y="1186114"/>
            <a:ext cx="8520600" cy="3416400"/>
          </a:xfrm>
        </p:spPr>
        <p:txBody>
          <a:bodyPr>
            <a:normAutofit/>
          </a:bodyPr>
          <a:lstStyle/>
          <a:p>
            <a:pPr marL="114300" indent="0">
              <a:buNone/>
            </a:pPr>
            <a:r>
              <a:rPr lang="en" b="1" dirty="0">
                <a:solidFill>
                  <a:schemeClr val="tx1"/>
                </a:solidFill>
                <a:highlight>
                  <a:srgbClr val="FFFFFF"/>
                </a:highlight>
                <a:latin typeface="Times New Roman" panose="02020603050405020304" pitchFamily="18" charset="0"/>
                <a:cs typeface="Times New Roman" panose="02020603050405020304" pitchFamily="18" charset="0"/>
              </a:rPr>
              <a:t>Motivation &amp; Contribution </a:t>
            </a:r>
          </a:p>
          <a:p>
            <a:pPr marL="114300" indent="0">
              <a:buNone/>
            </a:pPr>
            <a:endParaRPr lang="en" sz="1200" b="1" dirty="0">
              <a:solidFill>
                <a:schemeClr val="tx1"/>
              </a:solidFill>
              <a:highlight>
                <a:srgbClr val="FFFFFF"/>
              </a:highlight>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Time synchronization is crucial for devices over the Internet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Internet topology is often asymmetric</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dirty="0">
                <a:solidFill>
                  <a:schemeClr val="tx1"/>
                </a:solidFill>
                <a:latin typeface="Times New Roman" panose="02020603050405020304" pitchFamily="18" charset="0"/>
                <a:cs typeface="Times New Roman" panose="02020603050405020304" pitchFamily="18" charset="0"/>
              </a:rPr>
              <a:t>State-of-art time synchronization protocols are either require expensive hop-by-hop interconnection or are based on the symmetrical structure of the data </a:t>
            </a:r>
            <a:r>
              <a:rPr lang="en-IN" sz="1200" dirty="0" err="1">
                <a:solidFill>
                  <a:schemeClr val="tx1"/>
                </a:solidFill>
                <a:latin typeface="Times New Roman" panose="02020603050405020304" pitchFamily="18" charset="0"/>
                <a:cs typeface="Times New Roman" panose="02020603050405020304" pitchFamily="18" charset="0"/>
              </a:rPr>
              <a:t>center</a:t>
            </a:r>
            <a:r>
              <a:rPr lang="en-IN" sz="1200" dirty="0">
                <a:solidFill>
                  <a:schemeClr val="tx1"/>
                </a:solidFill>
                <a:latin typeface="Times New Roman" panose="02020603050405020304" pitchFamily="18" charset="0"/>
                <a:cs typeface="Times New Roman" panose="02020603050405020304" pitchFamily="18" charset="0"/>
              </a:rPr>
              <a:t> </a:t>
            </a:r>
          </a:p>
          <a:p>
            <a:pPr marL="114300" indent="0">
              <a:buNone/>
            </a:pPr>
            <a:endParaRPr lang="en-IN" sz="12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50434D7-FB3E-8DF7-0328-CC2C5F0C6A21}"/>
              </a:ext>
            </a:extLst>
          </p:cNvPr>
          <p:cNvPicPr>
            <a:picLocks noChangeAspect="1"/>
          </p:cNvPicPr>
          <p:nvPr/>
        </p:nvPicPr>
        <p:blipFill>
          <a:blip r:embed="rId3"/>
          <a:stretch>
            <a:fillRect/>
          </a:stretch>
        </p:blipFill>
        <p:spPr>
          <a:xfrm>
            <a:off x="2510953" y="3120651"/>
            <a:ext cx="3886200" cy="952500"/>
          </a:xfrm>
          <a:prstGeom prst="rect">
            <a:avLst/>
          </a:prstGeom>
        </p:spPr>
      </p:pic>
    </p:spTree>
    <p:extLst>
      <p:ext uri="{BB962C8B-B14F-4D97-AF65-F5344CB8AC3E}">
        <p14:creationId xmlns:p14="http://schemas.microsoft.com/office/powerpoint/2010/main" val="20116027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7EE06-18C7-5B3A-AEAE-BD62E96C5557}"/>
              </a:ext>
            </a:extLst>
          </p:cNvPr>
          <p:cNvSpPr>
            <a:spLocks noGrp="1"/>
          </p:cNvSpPr>
          <p:nvPr>
            <p:ph type="title"/>
          </p:nvPr>
        </p:nvSpPr>
        <p:spPr/>
        <p:txBody>
          <a:bodyPr>
            <a:normAutofit fontScale="90000"/>
          </a:bodyPr>
          <a:lstStyle/>
          <a:p>
            <a:r>
              <a:rPr lang="en" sz="2800" b="1" dirty="0">
                <a:solidFill>
                  <a:srgbClr val="333333"/>
                </a:solidFill>
                <a:highlight>
                  <a:srgbClr val="FFFFFF"/>
                </a:highlight>
                <a:latin typeface="Times New Roman" panose="02020603050405020304" pitchFamily="18" charset="0"/>
                <a:cs typeface="Times New Roman" panose="02020603050405020304" pitchFamily="18" charset="0"/>
              </a:rPr>
              <a:t>Motivation &amp; Contribution</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EB3B672-FF1B-6425-C2D9-586A50349427}"/>
              </a:ext>
            </a:extLst>
          </p:cNvPr>
          <p:cNvSpPr>
            <a:spLocks noGrp="1"/>
          </p:cNvSpPr>
          <p:nvPr>
            <p:ph type="body" idx="1"/>
          </p:nvPr>
        </p:nvSpPr>
        <p:spPr>
          <a:xfrm>
            <a:off x="311700" y="1194725"/>
            <a:ext cx="8520600" cy="3416400"/>
          </a:xfrm>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T</a:t>
            </a:r>
            <a:r>
              <a:rPr lang="en-IN" sz="1400" dirty="0">
                <a:solidFill>
                  <a:schemeClr val="tx1"/>
                </a:solidFill>
                <a:effectLst/>
                <a:latin typeface="Times New Roman" panose="02020603050405020304" pitchFamily="18" charset="0"/>
                <a:cs typeface="Times New Roman" panose="02020603050405020304" pitchFamily="18" charset="0"/>
              </a:rPr>
              <a:t>he main problem to address is the delay asymmetry in forward and reverse directions.</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Most state-of-art protocols assume forward delay and reverse delay are symmetrical, which is not always true on internet.</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M-PTP is a high-precision and low-cost time synchronization protocol that uses SVM(like Huygens) to estimate random delay and L-estimator to estimate preliminary time offset. </a:t>
            </a: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7F4E6E6-007A-4E76-D4D1-456001825781}"/>
              </a:ext>
            </a:extLst>
          </p:cNvPr>
          <p:cNvSpPr txBox="1">
            <a:spLocks/>
          </p:cNvSpPr>
          <p:nvPr/>
        </p:nvSpPr>
        <p:spPr>
          <a:xfrm>
            <a:off x="0" y="-91835"/>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sz="2100" b="1" dirty="0">
                <a:solidFill>
                  <a:srgbClr val="333333"/>
                </a:solidFill>
                <a:highlight>
                  <a:srgbClr val="FFFFFF"/>
                </a:highlight>
                <a:latin typeface="Times New Roman" panose="02020603050405020304" pitchFamily="18" charset="0"/>
                <a:cs typeface="Times New Roman" panose="02020603050405020304" pitchFamily="18" charset="0"/>
                <a:hlinkClick r:id="rId2"/>
              </a:rPr>
              <a:t>Multi-hop Precision Time Protocol </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0883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F1261-9B1B-B591-2DF3-99DA5136359F}"/>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Approach</a:t>
            </a:r>
            <a:r>
              <a:rPr lang="en-US"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BB432B9E-BF83-EC4F-934E-F9724FDECB7A}"/>
              </a:ext>
            </a:extLst>
          </p:cNvPr>
          <p:cNvPicPr>
            <a:picLocks noChangeAspect="1"/>
          </p:cNvPicPr>
          <p:nvPr/>
        </p:nvPicPr>
        <p:blipFill>
          <a:blip r:embed="rId2"/>
          <a:stretch>
            <a:fillRect/>
          </a:stretch>
        </p:blipFill>
        <p:spPr>
          <a:xfrm>
            <a:off x="453682" y="3083262"/>
            <a:ext cx="7772400" cy="1309209"/>
          </a:xfrm>
          <a:prstGeom prst="rect">
            <a:avLst/>
          </a:prstGeom>
        </p:spPr>
      </p:pic>
      <p:sp>
        <p:nvSpPr>
          <p:cNvPr id="3" name="Text Placeholder 2">
            <a:extLst>
              <a:ext uri="{FF2B5EF4-FFF2-40B4-BE49-F238E27FC236}">
                <a16:creationId xmlns:a16="http://schemas.microsoft.com/office/drawing/2014/main" id="{D8251986-683B-A086-07CF-695B01243101}"/>
              </a:ext>
            </a:extLst>
          </p:cNvPr>
          <p:cNvSpPr>
            <a:spLocks noGrp="1"/>
          </p:cNvSpPr>
          <p:nvPr>
            <p:ph type="body" idx="1"/>
          </p:nvPr>
        </p:nvSpPr>
        <p:spPr>
          <a:xfrm>
            <a:off x="311700" y="1179727"/>
            <a:ext cx="8520600" cy="1903535"/>
          </a:xfrm>
        </p:spPr>
        <p:txBody>
          <a:bodyPr>
            <a:normAutofit/>
          </a:bodyPr>
          <a:lstStyle/>
          <a:p>
            <a:pPr marL="114300" indent="0">
              <a:buNone/>
            </a:pPr>
            <a:r>
              <a:rPr lang="en-IN" sz="1400" dirty="0">
                <a:solidFill>
                  <a:schemeClr val="tx1"/>
                </a:solidFill>
                <a:latin typeface="Times New Roman" panose="02020603050405020304" pitchFamily="18" charset="0"/>
                <a:cs typeface="Times New Roman" panose="02020603050405020304" pitchFamily="18" charset="0"/>
              </a:rPr>
              <a:t>3 step clock synchronization protocol</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Step 1: SVM-based random delay estimation </a:t>
            </a: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Step 2: L-estimator for preliminary time offset calculation </a:t>
            </a: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Step 3: Weight-based loop correction for final time offset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401DCE58-5FE7-4A0D-48C1-D680BEEB29BC}"/>
              </a:ext>
            </a:extLst>
          </p:cNvPr>
          <p:cNvSpPr txBox="1">
            <a:spLocks/>
          </p:cNvSpPr>
          <p:nvPr/>
        </p:nvSpPr>
        <p:spPr>
          <a:xfrm>
            <a:off x="0" y="-91835"/>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sz="2100" b="1" dirty="0">
                <a:solidFill>
                  <a:srgbClr val="333333"/>
                </a:solidFill>
                <a:highlight>
                  <a:srgbClr val="FFFFFF"/>
                </a:highlight>
                <a:latin typeface="Times New Roman" panose="02020603050405020304" pitchFamily="18" charset="0"/>
                <a:cs typeface="Times New Roman" panose="02020603050405020304" pitchFamily="18" charset="0"/>
                <a:hlinkClick r:id="rId3"/>
              </a:rPr>
              <a:t>Multi-hop Precision Time Protocol </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80995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8F7E2-1ABD-C5E0-7233-E76F4D9BAA4D}"/>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sz="2500" b="1" dirty="0">
                <a:latin typeface="Times New Roman" panose="02020603050405020304" pitchFamily="18" charset="0"/>
                <a:cs typeface="Times New Roman" panose="02020603050405020304" pitchFamily="18" charset="0"/>
              </a:rPr>
              <a:t>Step 1: </a:t>
            </a:r>
            <a:r>
              <a:rPr lang="en-US" sz="2500" b="1" i="0" u="none" strike="noStrike" cap="none" dirty="0">
                <a:solidFill>
                  <a:schemeClr val="dk1"/>
                </a:solidFill>
                <a:latin typeface="Times New Roman" panose="02020603050405020304" pitchFamily="18" charset="0"/>
                <a:cs typeface="Times New Roman" panose="02020603050405020304" pitchFamily="18" charset="0"/>
              </a:rPr>
              <a:t>Get Random Delay Distribution based on SVM</a:t>
            </a:r>
            <a:endParaRPr lang="en-US" sz="25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321978A-F951-9911-99F4-944649C3FCA8}"/>
              </a:ext>
            </a:extLst>
          </p:cNvPr>
          <p:cNvSpPr>
            <a:spLocks noGrp="1"/>
          </p:cNvSpPr>
          <p:nvPr>
            <p:ph type="body" idx="4294967295"/>
          </p:nvPr>
        </p:nvSpPr>
        <p:spPr>
          <a:xfrm>
            <a:off x="311700" y="1208225"/>
            <a:ext cx="4165050" cy="3264408"/>
          </a:xfrm>
        </p:spPr>
        <p:txBody>
          <a:bodyPr anchor="t">
            <a:normAutofit/>
          </a:bodyPr>
          <a:lstStyle/>
          <a:p>
            <a:pPr marL="114300" indent="0">
              <a:lnSpc>
                <a:spcPct val="105000"/>
              </a:lnSpc>
              <a:spcAft>
                <a:spcPts val="600"/>
              </a:spcAft>
              <a:buClr>
                <a:srgbClr val="000000"/>
              </a:buClr>
              <a:buNone/>
            </a:pPr>
            <a:r>
              <a:rPr lang="en-US" sz="1200" b="0" i="0" u="none" strike="noStrike" cap="none" dirty="0">
                <a:solidFill>
                  <a:schemeClr val="tx1"/>
                </a:solidFill>
                <a:latin typeface="Times New Roman" panose="02020603050405020304" pitchFamily="18" charset="0"/>
                <a:cs typeface="Times New Roman" panose="02020603050405020304" pitchFamily="18" charset="0"/>
              </a:rPr>
              <a:t>M-PTP calculates forward probe(upper bound) and reverse probe(lower bound) using 4 timestamps. </a:t>
            </a:r>
          </a:p>
          <a:p>
            <a:pPr marL="114300" indent="0">
              <a:lnSpc>
                <a:spcPct val="105000"/>
              </a:lnSpc>
              <a:spcAft>
                <a:spcPts val="600"/>
              </a:spcAft>
              <a:buClr>
                <a:srgbClr val="000000"/>
              </a:buClr>
              <a:buNone/>
            </a:pPr>
            <a:endParaRPr lang="en-US" sz="1200" dirty="0">
              <a:solidFill>
                <a:schemeClr val="tx1"/>
              </a:solidFill>
              <a:latin typeface="Times New Roman" panose="02020603050405020304" pitchFamily="18" charset="0"/>
              <a:cs typeface="Times New Roman" panose="02020603050405020304" pitchFamily="18" charset="0"/>
            </a:endParaRPr>
          </a:p>
          <a:p>
            <a:pPr marL="114300" indent="0">
              <a:lnSpc>
                <a:spcPct val="105000"/>
              </a:lnSpc>
              <a:spcAft>
                <a:spcPts val="600"/>
              </a:spcAft>
              <a:buClr>
                <a:srgbClr val="000000"/>
              </a:buClr>
              <a:buNone/>
            </a:pPr>
            <a:endParaRPr lang="en-US" sz="1200" b="0" i="0" u="none" strike="noStrike" cap="none" dirty="0">
              <a:solidFill>
                <a:schemeClr val="tx1"/>
              </a:solidFill>
              <a:latin typeface="Times New Roman" panose="02020603050405020304" pitchFamily="18" charset="0"/>
              <a:cs typeface="Times New Roman" panose="02020603050405020304" pitchFamily="18" charset="0"/>
            </a:endParaRPr>
          </a:p>
          <a:p>
            <a:pPr marL="114300" indent="0">
              <a:lnSpc>
                <a:spcPct val="105000"/>
              </a:lnSpc>
              <a:spcAft>
                <a:spcPts val="600"/>
              </a:spcAft>
              <a:buClr>
                <a:srgbClr val="000000"/>
              </a:buClr>
              <a:buNone/>
            </a:pPr>
            <a:r>
              <a:rPr lang="en-IN" sz="1200" dirty="0" err="1">
                <a:solidFill>
                  <a:schemeClr val="tx1"/>
                </a:solidFill>
                <a:effectLst/>
                <a:latin typeface="Times New Roman" panose="02020603050405020304" pitchFamily="18" charset="0"/>
                <a:cs typeface="Times New Roman" panose="02020603050405020304" pitchFamily="18" charset="0"/>
              </a:rPr>
              <a:t>t</a:t>
            </a:r>
            <a:r>
              <a:rPr lang="en-IN" sz="1200" baseline="-25000" dirty="0" err="1">
                <a:solidFill>
                  <a:schemeClr val="tx1"/>
                </a:solidFill>
                <a:effectLst/>
                <a:latin typeface="Times New Roman" panose="02020603050405020304" pitchFamily="18" charset="0"/>
                <a:cs typeface="Times New Roman" panose="02020603050405020304" pitchFamily="18" charset="0"/>
              </a:rPr>
              <a:t>A</a:t>
            </a:r>
            <a:r>
              <a:rPr lang="en-IN" sz="1200" dirty="0">
                <a:solidFill>
                  <a:schemeClr val="tx1"/>
                </a:solidFill>
                <a:effectLst/>
                <a:latin typeface="Times New Roman" panose="02020603050405020304" pitchFamily="18" charset="0"/>
                <a:cs typeface="Times New Roman" panose="02020603050405020304" pitchFamily="18" charset="0"/>
              </a:rPr>
              <a:t> and </a:t>
            </a:r>
            <a:r>
              <a:rPr lang="en-IN" sz="1200" dirty="0" err="1">
                <a:solidFill>
                  <a:schemeClr val="tx1"/>
                </a:solidFill>
                <a:effectLst/>
                <a:latin typeface="Times New Roman" panose="02020603050405020304" pitchFamily="18" charset="0"/>
                <a:cs typeface="Times New Roman" panose="02020603050405020304" pitchFamily="18" charset="0"/>
              </a:rPr>
              <a:t>r</a:t>
            </a:r>
            <a:r>
              <a:rPr lang="en-IN" sz="1200" baseline="-25000" dirty="0" err="1">
                <a:solidFill>
                  <a:schemeClr val="tx1"/>
                </a:solidFill>
                <a:effectLst/>
                <a:latin typeface="Times New Roman" panose="02020603050405020304" pitchFamily="18" charset="0"/>
                <a:cs typeface="Times New Roman" panose="02020603050405020304" pitchFamily="18" charset="0"/>
              </a:rPr>
              <a:t>B</a:t>
            </a:r>
            <a:r>
              <a:rPr lang="en-IN" sz="1200" dirty="0">
                <a:solidFill>
                  <a:schemeClr val="tx1"/>
                </a:solidFill>
                <a:effectLst/>
                <a:latin typeface="Times New Roman" panose="02020603050405020304" pitchFamily="18" charset="0"/>
                <a:cs typeface="Times New Roman" panose="02020603050405020304" pitchFamily="18" charset="0"/>
              </a:rPr>
              <a:t> are the sending time and receiving time of the forward probe </a:t>
            </a:r>
            <a:endParaRPr lang="en-IN" sz="1200" dirty="0">
              <a:solidFill>
                <a:schemeClr val="tx1"/>
              </a:solidFill>
              <a:latin typeface="Times New Roman" panose="02020603050405020304" pitchFamily="18" charset="0"/>
              <a:cs typeface="Times New Roman" panose="02020603050405020304" pitchFamily="18" charset="0"/>
            </a:endParaRPr>
          </a:p>
          <a:p>
            <a:pPr marL="114300" indent="0">
              <a:lnSpc>
                <a:spcPct val="105000"/>
              </a:lnSpc>
              <a:spcAft>
                <a:spcPts val="600"/>
              </a:spcAft>
              <a:buClr>
                <a:srgbClr val="000000"/>
              </a:buClr>
              <a:buNone/>
            </a:pPr>
            <a:r>
              <a:rPr lang="en-IN" sz="1200" dirty="0" err="1">
                <a:solidFill>
                  <a:schemeClr val="tx1"/>
                </a:solidFill>
                <a:effectLst/>
                <a:latin typeface="Times New Roman" panose="02020603050405020304" pitchFamily="18" charset="0"/>
                <a:cs typeface="Times New Roman" panose="02020603050405020304" pitchFamily="18" charset="0"/>
              </a:rPr>
              <a:t>t′</a:t>
            </a:r>
            <a:r>
              <a:rPr lang="en-IN" sz="1200" baseline="-25000" dirty="0" err="1">
                <a:solidFill>
                  <a:schemeClr val="tx1"/>
                </a:solidFill>
                <a:effectLst/>
                <a:latin typeface="Times New Roman" panose="02020603050405020304" pitchFamily="18" charset="0"/>
                <a:cs typeface="Times New Roman" panose="02020603050405020304" pitchFamily="18" charset="0"/>
              </a:rPr>
              <a:t>B</a:t>
            </a:r>
            <a:r>
              <a:rPr lang="en-IN" sz="1200" dirty="0">
                <a:solidFill>
                  <a:schemeClr val="tx1"/>
                </a:solidFill>
                <a:effectLst/>
                <a:latin typeface="Times New Roman" panose="02020603050405020304" pitchFamily="18" charset="0"/>
                <a:cs typeface="Times New Roman" panose="02020603050405020304" pitchFamily="18" charset="0"/>
              </a:rPr>
              <a:t> and </a:t>
            </a:r>
            <a:r>
              <a:rPr lang="en-IN" sz="1200" dirty="0" err="1">
                <a:solidFill>
                  <a:schemeClr val="tx1"/>
                </a:solidFill>
                <a:effectLst/>
                <a:latin typeface="Times New Roman" panose="02020603050405020304" pitchFamily="18" charset="0"/>
                <a:cs typeface="Times New Roman" panose="02020603050405020304" pitchFamily="18" charset="0"/>
              </a:rPr>
              <a:t>r’</a:t>
            </a:r>
            <a:r>
              <a:rPr lang="en-IN" sz="1200" baseline="-25000" dirty="0" err="1">
                <a:solidFill>
                  <a:schemeClr val="tx1"/>
                </a:solidFill>
                <a:effectLst/>
                <a:latin typeface="Times New Roman" panose="02020603050405020304" pitchFamily="18" charset="0"/>
                <a:cs typeface="Times New Roman" panose="02020603050405020304" pitchFamily="18" charset="0"/>
              </a:rPr>
              <a:t>A</a:t>
            </a:r>
            <a:r>
              <a:rPr lang="en-IN" sz="1200" dirty="0">
                <a:solidFill>
                  <a:schemeClr val="tx1"/>
                </a:solidFill>
                <a:effectLst/>
                <a:latin typeface="Times New Roman" panose="02020603050405020304" pitchFamily="18" charset="0"/>
                <a:cs typeface="Times New Roman" panose="02020603050405020304" pitchFamily="18" charset="0"/>
              </a:rPr>
              <a:t> are the sending time and receiving time of the reverse probe. </a:t>
            </a:r>
            <a:endParaRPr lang="en-IN" sz="1200" dirty="0">
              <a:solidFill>
                <a:schemeClr val="tx1"/>
              </a:solidFill>
              <a:latin typeface="Times New Roman" panose="02020603050405020304" pitchFamily="18" charset="0"/>
              <a:cs typeface="Times New Roman" panose="02020603050405020304" pitchFamily="18" charset="0"/>
            </a:endParaRPr>
          </a:p>
          <a:p>
            <a:pPr marL="114300" indent="0">
              <a:lnSpc>
                <a:spcPct val="105000"/>
              </a:lnSpc>
              <a:spcAft>
                <a:spcPts val="600"/>
              </a:spcAft>
              <a:buClr>
                <a:srgbClr val="000000"/>
              </a:buClr>
              <a:buNone/>
            </a:pPr>
            <a:endParaRPr lang="en-US" sz="1200" b="0" i="0" u="none" strike="noStrike" cap="none" dirty="0">
              <a:solidFill>
                <a:schemeClr val="tx1"/>
              </a:solidFill>
              <a:latin typeface="Times New Roman" panose="02020603050405020304" pitchFamily="18" charset="0"/>
              <a:cs typeface="Times New Roman" panose="02020603050405020304" pitchFamily="18" charset="0"/>
            </a:endParaRPr>
          </a:p>
          <a:p>
            <a:pPr marL="114300" indent="0">
              <a:lnSpc>
                <a:spcPct val="105000"/>
              </a:lnSpc>
              <a:spcAft>
                <a:spcPts val="600"/>
              </a:spcAft>
              <a:buClr>
                <a:srgbClr val="000000"/>
              </a:buClr>
              <a:buNone/>
            </a:pPr>
            <a:r>
              <a:rPr lang="en-US" sz="1200" dirty="0">
                <a:solidFill>
                  <a:schemeClr val="tx1"/>
                </a:solidFill>
                <a:latin typeface="Times New Roman" panose="02020603050405020304" pitchFamily="18" charset="0"/>
                <a:cs typeface="Times New Roman" panose="02020603050405020304" pitchFamily="18" charset="0"/>
              </a:rPr>
              <a:t>SVM classifies the upper bound and lower bound points and separate them with hyperplane with large intervals. </a:t>
            </a:r>
            <a:endParaRPr lang="en-US" sz="1200" b="0" i="0" u="none" strike="noStrike" cap="none"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F78F9F7-DB93-BB45-FEE9-CC681650FE51}"/>
              </a:ext>
            </a:extLst>
          </p:cNvPr>
          <p:cNvPicPr>
            <a:picLocks noChangeAspect="1"/>
          </p:cNvPicPr>
          <p:nvPr/>
        </p:nvPicPr>
        <p:blipFill>
          <a:blip r:embed="rId2"/>
          <a:stretch>
            <a:fillRect/>
          </a:stretch>
        </p:blipFill>
        <p:spPr>
          <a:xfrm>
            <a:off x="5013069" y="1208225"/>
            <a:ext cx="3698154" cy="2757106"/>
          </a:xfrm>
          <a:prstGeom prst="rect">
            <a:avLst/>
          </a:prstGeom>
        </p:spPr>
      </p:pic>
      <p:pic>
        <p:nvPicPr>
          <p:cNvPr id="7" name="Picture 6">
            <a:extLst>
              <a:ext uri="{FF2B5EF4-FFF2-40B4-BE49-F238E27FC236}">
                <a16:creationId xmlns:a16="http://schemas.microsoft.com/office/drawing/2014/main" id="{3029EA7E-2C57-9310-0A91-443F9A84A00B}"/>
              </a:ext>
            </a:extLst>
          </p:cNvPr>
          <p:cNvPicPr>
            <a:picLocks noChangeAspect="1"/>
          </p:cNvPicPr>
          <p:nvPr/>
        </p:nvPicPr>
        <p:blipFill>
          <a:blip r:embed="rId3"/>
          <a:stretch>
            <a:fillRect/>
          </a:stretch>
        </p:blipFill>
        <p:spPr>
          <a:xfrm>
            <a:off x="1236426" y="1822638"/>
            <a:ext cx="2108200" cy="393700"/>
          </a:xfrm>
          <a:prstGeom prst="rect">
            <a:avLst/>
          </a:prstGeom>
        </p:spPr>
      </p:pic>
      <p:sp>
        <p:nvSpPr>
          <p:cNvPr id="9" name="Title 1">
            <a:extLst>
              <a:ext uri="{FF2B5EF4-FFF2-40B4-BE49-F238E27FC236}">
                <a16:creationId xmlns:a16="http://schemas.microsoft.com/office/drawing/2014/main" id="{20E36EF8-B8FA-6C20-0A48-3F61F8E60CBD}"/>
              </a:ext>
            </a:extLst>
          </p:cNvPr>
          <p:cNvSpPr txBox="1">
            <a:spLocks/>
          </p:cNvSpPr>
          <p:nvPr/>
        </p:nvSpPr>
        <p:spPr>
          <a:xfrm>
            <a:off x="0" y="-91835"/>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sz="21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Multi-hop Precision Time Protocol </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80330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321978A-F951-9911-99F4-944649C3FCA8}"/>
              </a:ext>
            </a:extLst>
          </p:cNvPr>
          <p:cNvSpPr>
            <a:spLocks noGrp="1"/>
          </p:cNvSpPr>
          <p:nvPr>
            <p:ph type="body" idx="4294967295"/>
          </p:nvPr>
        </p:nvSpPr>
        <p:spPr>
          <a:xfrm>
            <a:off x="311700" y="1208225"/>
            <a:ext cx="4165050" cy="3264408"/>
          </a:xfrm>
        </p:spPr>
        <p:txBody>
          <a:bodyPr anchor="t">
            <a:normAutofit/>
          </a:bodyPr>
          <a:lstStyle/>
          <a:p>
            <a:pPr marL="114300" indent="0">
              <a:lnSpc>
                <a:spcPct val="105000"/>
              </a:lnSpc>
              <a:spcAft>
                <a:spcPts val="600"/>
              </a:spcAft>
              <a:buClr>
                <a:srgbClr val="000000"/>
              </a:buClr>
              <a:buFont typeface="Arial"/>
              <a:buNone/>
            </a:pPr>
            <a:r>
              <a:rPr lang="en-IN" sz="1200" dirty="0">
                <a:solidFill>
                  <a:schemeClr val="dk1"/>
                </a:solidFill>
                <a:latin typeface="Times New Roman" panose="02020603050405020304" pitchFamily="18" charset="0"/>
                <a:cs typeface="Times New Roman" panose="02020603050405020304" pitchFamily="18" charset="0"/>
              </a:rPr>
              <a:t>Timestamp noise due to write-back delays can cause negative delay, leading to underestimated probe propagation times.</a:t>
            </a:r>
          </a:p>
          <a:p>
            <a:pPr marL="114300" indent="0">
              <a:lnSpc>
                <a:spcPct val="105000"/>
              </a:lnSpc>
              <a:spcAft>
                <a:spcPts val="600"/>
              </a:spcAft>
              <a:buClr>
                <a:srgbClr val="000000"/>
              </a:buClr>
              <a:buFont typeface="Arial"/>
              <a:buNone/>
            </a:pPr>
            <a:r>
              <a:rPr lang="en-IN" sz="1200" dirty="0">
                <a:solidFill>
                  <a:schemeClr val="dk1"/>
                </a:solidFill>
                <a:latin typeface="Times New Roman" panose="02020603050405020304" pitchFamily="18" charset="0"/>
                <a:cs typeface="Times New Roman" panose="02020603050405020304" pitchFamily="18" charset="0"/>
              </a:rPr>
              <a:t>Negative delay is below the upper support vector and above lower support vector.</a:t>
            </a:r>
          </a:p>
          <a:p>
            <a:pPr marL="114300" indent="0">
              <a:lnSpc>
                <a:spcPct val="105000"/>
              </a:lnSpc>
              <a:spcAft>
                <a:spcPts val="600"/>
              </a:spcAft>
              <a:buClr>
                <a:srgbClr val="000000"/>
              </a:buClr>
              <a:buNone/>
            </a:pPr>
            <a:r>
              <a:rPr lang="en-IN" sz="1200" b="1" dirty="0">
                <a:solidFill>
                  <a:schemeClr val="dk1"/>
                </a:solidFill>
                <a:latin typeface="Times New Roman" panose="02020603050405020304" pitchFamily="18" charset="0"/>
                <a:cs typeface="Times New Roman" panose="02020603050405020304" pitchFamily="18" charset="0"/>
              </a:rPr>
              <a:t>Forward Random Queuing Delay: </a:t>
            </a:r>
            <a:r>
              <a:rPr lang="en-IN" sz="1200" dirty="0">
                <a:solidFill>
                  <a:schemeClr val="dk1"/>
                </a:solidFill>
                <a:latin typeface="Times New Roman" panose="02020603050405020304" pitchFamily="18" charset="0"/>
                <a:cs typeface="Times New Roman" panose="02020603050405020304" pitchFamily="18" charset="0"/>
              </a:rPr>
              <a:t>Distance between a datapoint above the upper support vector and the upper support vector.</a:t>
            </a:r>
          </a:p>
          <a:p>
            <a:pPr marL="114300" indent="0">
              <a:buNone/>
            </a:pPr>
            <a:r>
              <a:rPr lang="en-IN" sz="1200" b="1" dirty="0">
                <a:solidFill>
                  <a:schemeClr val="dk1"/>
                </a:solidFill>
                <a:latin typeface="Times New Roman" panose="02020603050405020304" pitchFamily="18" charset="0"/>
                <a:cs typeface="Times New Roman" panose="02020603050405020304" pitchFamily="18" charset="0"/>
              </a:rPr>
              <a:t>Reverse Random Queuing Delay: </a:t>
            </a:r>
            <a:r>
              <a:rPr lang="en-IN" sz="1200" dirty="0">
                <a:solidFill>
                  <a:schemeClr val="dk1"/>
                </a:solidFill>
                <a:latin typeface="Times New Roman" panose="02020603050405020304" pitchFamily="18" charset="0"/>
                <a:cs typeface="Times New Roman" panose="02020603050405020304" pitchFamily="18" charset="0"/>
              </a:rPr>
              <a:t>Distance between a datapoint below the lower support vector and the lower support vector.</a:t>
            </a:r>
          </a:p>
          <a:p>
            <a:pPr marL="114300" indent="0">
              <a:lnSpc>
                <a:spcPct val="105000"/>
              </a:lnSpc>
              <a:spcAft>
                <a:spcPts val="600"/>
              </a:spcAft>
              <a:buClr>
                <a:srgbClr val="000000"/>
              </a:buClr>
              <a:buFont typeface="Arial"/>
              <a:buNone/>
            </a:pPr>
            <a:endParaRPr lang="en-US" sz="1600" b="1" i="0" u="none" strike="noStrike" cap="none" dirty="0">
              <a:solidFill>
                <a:schemeClr val="dk1"/>
              </a:solidFill>
            </a:endParaRPr>
          </a:p>
        </p:txBody>
      </p:sp>
      <p:pic>
        <p:nvPicPr>
          <p:cNvPr id="5" name="Picture 4">
            <a:extLst>
              <a:ext uri="{FF2B5EF4-FFF2-40B4-BE49-F238E27FC236}">
                <a16:creationId xmlns:a16="http://schemas.microsoft.com/office/drawing/2014/main" id="{86CEE4CF-3561-DC97-49B2-06BC3D5EC29D}"/>
              </a:ext>
            </a:extLst>
          </p:cNvPr>
          <p:cNvPicPr>
            <a:picLocks noChangeAspect="1"/>
          </p:cNvPicPr>
          <p:nvPr/>
        </p:nvPicPr>
        <p:blipFill>
          <a:blip r:embed="rId2"/>
          <a:stretch>
            <a:fillRect/>
          </a:stretch>
        </p:blipFill>
        <p:spPr>
          <a:xfrm>
            <a:off x="4476750" y="1017725"/>
            <a:ext cx="4082642" cy="3022457"/>
          </a:xfrm>
          <a:prstGeom prst="rect">
            <a:avLst/>
          </a:prstGeom>
        </p:spPr>
      </p:pic>
      <p:sp>
        <p:nvSpPr>
          <p:cNvPr id="4" name="Title 1">
            <a:extLst>
              <a:ext uri="{FF2B5EF4-FFF2-40B4-BE49-F238E27FC236}">
                <a16:creationId xmlns:a16="http://schemas.microsoft.com/office/drawing/2014/main" id="{07DA6C67-62EF-F9BB-EF5E-7E6E5BAFB794}"/>
              </a:ext>
            </a:extLst>
          </p:cNvPr>
          <p:cNvSpPr txBox="1">
            <a:spLocks/>
          </p:cNvSpPr>
          <p:nvPr/>
        </p:nvSpPr>
        <p:spPr>
          <a:xfrm>
            <a:off x="0" y="-3555"/>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sz="2100" b="1" dirty="0">
                <a:solidFill>
                  <a:srgbClr val="333333"/>
                </a:solidFill>
                <a:highlight>
                  <a:srgbClr val="FFFFFF"/>
                </a:highlight>
                <a:latin typeface="Times New Roman" panose="02020603050405020304" pitchFamily="18" charset="0"/>
                <a:cs typeface="Times New Roman" panose="02020603050405020304" pitchFamily="18" charset="0"/>
                <a:hlinkClick r:id="rId3"/>
              </a:rPr>
              <a:t>Multi-hop Precision Time Protocol </a:t>
            </a:r>
            <a:endParaRPr lang="en-US" sz="21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879E9DD7-0920-3D8A-8D3E-D0F6FBDF5355}"/>
              </a:ext>
            </a:extLst>
          </p:cNvPr>
          <p:cNvSpPr txBox="1">
            <a:spLocks/>
          </p:cNvSpPr>
          <p:nvPr/>
        </p:nvSpPr>
        <p:spPr>
          <a:xfrm>
            <a:off x="311700" y="489424"/>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nSpc>
                <a:spcPct val="90000"/>
              </a:lnSpc>
            </a:pPr>
            <a:r>
              <a:rPr lang="en-US" sz="2500" b="1" dirty="0">
                <a:latin typeface="Times New Roman" panose="02020603050405020304" pitchFamily="18" charset="0"/>
                <a:cs typeface="Times New Roman" panose="02020603050405020304" pitchFamily="18" charset="0"/>
              </a:rPr>
              <a:t>Step 1: Get Random Delay Distribution based on SVM</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27907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AC6FAD8-0D11-6454-0A6F-21FC9C7BFDF5}"/>
              </a:ext>
            </a:extLst>
          </p:cNvPr>
          <p:cNvSpPr>
            <a:spLocks noGrp="1"/>
          </p:cNvSpPr>
          <p:nvPr>
            <p:ph type="title"/>
          </p:nvPr>
        </p:nvSpPr>
        <p:spPr>
          <a:xfrm>
            <a:off x="311700" y="572700"/>
            <a:ext cx="8520600" cy="572700"/>
          </a:xfrm>
        </p:spPr>
        <p:txBody>
          <a:bodyPr>
            <a:noAutofit/>
          </a:bodyPr>
          <a:lstStyle/>
          <a:p>
            <a:r>
              <a:rPr lang="en-US" sz="2500" b="1" dirty="0">
                <a:solidFill>
                  <a:schemeClr val="tx1"/>
                </a:solidFill>
                <a:latin typeface="Times New Roman" panose="02020603050405020304" pitchFamily="18" charset="0"/>
                <a:cs typeface="Times New Roman" panose="02020603050405020304" pitchFamily="18" charset="0"/>
              </a:rPr>
              <a:t>Step 2: </a:t>
            </a:r>
            <a:r>
              <a:rPr lang="en-IN" sz="2500" b="1" dirty="0">
                <a:solidFill>
                  <a:schemeClr val="tx1"/>
                </a:solidFill>
                <a:latin typeface="Times New Roman" panose="02020603050405020304" pitchFamily="18" charset="0"/>
                <a:cs typeface="Times New Roman" panose="02020603050405020304" pitchFamily="18" charset="0"/>
              </a:rPr>
              <a:t>Calculate Preliminary Time Offset</a:t>
            </a:r>
            <a:endParaRPr lang="en-US" sz="2500" b="1" dirty="0">
              <a:solidFill>
                <a:schemeClr val="tx1"/>
              </a:solidFill>
              <a:latin typeface="Times New Roman" panose="02020603050405020304" pitchFamily="18" charset="0"/>
              <a:cs typeface="Times New Roman" panose="02020603050405020304" pitchFamily="18" charset="0"/>
            </a:endParaRPr>
          </a:p>
        </p:txBody>
      </p:sp>
      <p:sp>
        <p:nvSpPr>
          <p:cNvPr id="9" name="Text Placeholder 2">
            <a:extLst>
              <a:ext uri="{FF2B5EF4-FFF2-40B4-BE49-F238E27FC236}">
                <a16:creationId xmlns:a16="http://schemas.microsoft.com/office/drawing/2014/main" id="{C90400E9-B56B-4BC0-E780-0DC9DE16DF61}"/>
              </a:ext>
            </a:extLst>
          </p:cNvPr>
          <p:cNvSpPr>
            <a:spLocks noGrp="1"/>
          </p:cNvSpPr>
          <p:nvPr>
            <p:ph type="body" idx="1"/>
          </p:nvPr>
        </p:nvSpPr>
        <p:spPr>
          <a:xfrm>
            <a:off x="311700" y="1152475"/>
            <a:ext cx="8520600" cy="3416400"/>
          </a:xfrm>
        </p:spPr>
        <p:txBody>
          <a:bodyPr/>
          <a:lstStyle/>
          <a:p>
            <a:pPr marL="114300" indent="0">
              <a:buNone/>
            </a:pPr>
            <a:endParaRPr lang="en-IN" sz="11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L-estimator is based on Minimax Optimum estimator with superior performance and low computational complexity and requires fewer queuing delay statistics.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Obtain random delay distribution via SVM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For each L-estimator period : Calculate expectation and covariance of queuing delays</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Wait until k historical periods are collected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Calculate L-estimator parameters for current and k previous periods </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latin typeface="Times New Roman" panose="02020603050405020304" pitchFamily="18" charset="0"/>
                <a:cs typeface="Times New Roman" panose="02020603050405020304" pitchFamily="18" charset="0"/>
              </a:rPr>
              <a:t>Compute preliminary time offset using these parameters</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DBD11057-42CB-D500-3FB8-AF4A35701DA6}"/>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sz="2100" b="1" dirty="0">
                <a:solidFill>
                  <a:srgbClr val="333333"/>
                </a:solidFill>
                <a:highlight>
                  <a:srgbClr val="FFFFFF"/>
                </a:highlight>
                <a:latin typeface="Times New Roman" panose="02020603050405020304" pitchFamily="18" charset="0"/>
                <a:cs typeface="Times New Roman" panose="02020603050405020304" pitchFamily="18" charset="0"/>
                <a:hlinkClick r:id="rId2"/>
              </a:rPr>
              <a:t>Multi-hop Precision Time Protocol </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98025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30762-C9CD-04DA-17F1-1266A974EF70}"/>
              </a:ext>
            </a:extLst>
          </p:cNvPr>
          <p:cNvSpPr>
            <a:spLocks noGrp="1"/>
          </p:cNvSpPr>
          <p:nvPr>
            <p:ph type="title"/>
          </p:nvPr>
        </p:nvSpPr>
        <p:spPr>
          <a:xfrm>
            <a:off x="311700" y="445025"/>
            <a:ext cx="8520600" cy="572700"/>
          </a:xfrm>
        </p:spPr>
        <p:txBody>
          <a:bodyPr wrap="square" anchor="t">
            <a:normAutofit/>
          </a:bodyPr>
          <a:lstStyle/>
          <a:p>
            <a:pPr>
              <a:lnSpc>
                <a:spcPct val="90000"/>
              </a:lnSpc>
            </a:pPr>
            <a:r>
              <a:rPr lang="en-US" sz="2500" b="1" dirty="0">
                <a:latin typeface="Times New Roman" panose="02020603050405020304" pitchFamily="18" charset="0"/>
                <a:cs typeface="Times New Roman" panose="02020603050405020304" pitchFamily="18" charset="0"/>
              </a:rPr>
              <a:t>Step 3: </a:t>
            </a:r>
            <a:r>
              <a:rPr lang="en-IN" sz="2500" b="1" dirty="0">
                <a:latin typeface="Times New Roman" panose="02020603050405020304" pitchFamily="18" charset="0"/>
                <a:cs typeface="Times New Roman" panose="02020603050405020304" pitchFamily="18" charset="0"/>
              </a:rPr>
              <a:t>Correction based on Weight Loop Effect:</a:t>
            </a:r>
            <a:endParaRPr lang="en-US" sz="2500" b="1" dirty="0">
              <a:latin typeface="Times New Roman" panose="02020603050405020304" pitchFamily="18" charset="0"/>
              <a:cs typeface="Times New Roman" panose="02020603050405020304" pitchFamily="18" charset="0"/>
            </a:endParaRPr>
          </a:p>
        </p:txBody>
      </p:sp>
      <p:sp>
        <p:nvSpPr>
          <p:cNvPr id="7" name="Text Placeholder 2">
            <a:extLst>
              <a:ext uri="{FF2B5EF4-FFF2-40B4-BE49-F238E27FC236}">
                <a16:creationId xmlns:a16="http://schemas.microsoft.com/office/drawing/2014/main" id="{BE59F4A5-3216-98F1-BEC1-4C94A6A303EE}"/>
              </a:ext>
            </a:extLst>
          </p:cNvPr>
          <p:cNvSpPr>
            <a:spLocks noGrp="1"/>
          </p:cNvSpPr>
          <p:nvPr>
            <p:ph type="body" idx="1"/>
          </p:nvPr>
        </p:nvSpPr>
        <p:spPr>
          <a:xfrm>
            <a:off x="311699" y="1152475"/>
            <a:ext cx="4948363" cy="3416400"/>
          </a:xfrm>
        </p:spPr>
        <p:txBody>
          <a:bodyPr>
            <a:normAutofit/>
          </a:bodyPr>
          <a:lstStyle/>
          <a:p>
            <a:pPr marL="114300" indent="0">
              <a:buNone/>
            </a:pPr>
            <a:r>
              <a:rPr lang="en-US" sz="1200" dirty="0">
                <a:solidFill>
                  <a:schemeClr val="tx1"/>
                </a:solidFill>
                <a:latin typeface="Times New Roman" panose="02020603050405020304" pitchFamily="18" charset="0"/>
                <a:cs typeface="Times New Roman" panose="02020603050405020304" pitchFamily="18" charset="0"/>
              </a:rPr>
              <a:t>Ideally, the sum of offsets in a loop should be zero but we see residual sum indicating synchronization errors. </a:t>
            </a:r>
          </a:p>
          <a:p>
            <a:pPr marL="114300" indent="0">
              <a:buNone/>
            </a:pPr>
            <a:endParaRPr lang="en-US"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200" dirty="0">
                <a:solidFill>
                  <a:schemeClr val="tx1"/>
                </a:solidFill>
                <a:latin typeface="Times New Roman" panose="02020603050405020304" pitchFamily="18" charset="0"/>
                <a:cs typeface="Times New Roman" panose="02020603050405020304" pitchFamily="18" charset="0"/>
              </a:rPr>
              <a:t>In Huygens, this error is equally distributed. </a:t>
            </a:r>
          </a:p>
          <a:p>
            <a:pPr marL="114300" indent="0">
              <a:buNone/>
            </a:pPr>
            <a:endParaRPr lang="en-US"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200" dirty="0">
                <a:solidFill>
                  <a:schemeClr val="tx1"/>
                </a:solidFill>
                <a:latin typeface="Times New Roman" panose="02020603050405020304" pitchFamily="18" charset="0"/>
                <a:cs typeface="Times New Roman" panose="02020603050405020304" pitchFamily="18" charset="0"/>
              </a:rPr>
              <a:t>M-PTP calculates weight on each node based on preliminary offset calculated in step 2 and </a:t>
            </a:r>
            <a:r>
              <a:rPr lang="en-IN" sz="1200" dirty="0">
                <a:solidFill>
                  <a:schemeClr val="tx1"/>
                </a:solidFill>
                <a:latin typeface="Times New Roman" panose="02020603050405020304" pitchFamily="18" charset="0"/>
                <a:cs typeface="Times New Roman" panose="02020603050405020304" pitchFamily="18" charset="0"/>
              </a:rPr>
              <a:t>assign the residual sum of the loop according to the weight and add it to the preliminary time offset. </a:t>
            </a:r>
          </a:p>
        </p:txBody>
      </p:sp>
      <p:pic>
        <p:nvPicPr>
          <p:cNvPr id="3" name="Picture 2">
            <a:extLst>
              <a:ext uri="{FF2B5EF4-FFF2-40B4-BE49-F238E27FC236}">
                <a16:creationId xmlns:a16="http://schemas.microsoft.com/office/drawing/2014/main" id="{AEA990E5-0DEB-F44D-EE99-BBB9155D5B2D}"/>
              </a:ext>
            </a:extLst>
          </p:cNvPr>
          <p:cNvPicPr>
            <a:picLocks noChangeAspect="1"/>
          </p:cNvPicPr>
          <p:nvPr/>
        </p:nvPicPr>
        <p:blipFill rotWithShape="1">
          <a:blip r:embed="rId2"/>
          <a:srcRect l="5189"/>
          <a:stretch/>
        </p:blipFill>
        <p:spPr>
          <a:xfrm>
            <a:off x="5160475" y="1152475"/>
            <a:ext cx="3983525" cy="2628415"/>
          </a:xfrm>
          <a:prstGeom prst="rect">
            <a:avLst/>
          </a:prstGeom>
        </p:spPr>
      </p:pic>
      <p:pic>
        <p:nvPicPr>
          <p:cNvPr id="4" name="Picture 3">
            <a:extLst>
              <a:ext uri="{FF2B5EF4-FFF2-40B4-BE49-F238E27FC236}">
                <a16:creationId xmlns:a16="http://schemas.microsoft.com/office/drawing/2014/main" id="{71ADF4DF-A36D-B8F4-FAD6-59E2031C0CBA}"/>
              </a:ext>
            </a:extLst>
          </p:cNvPr>
          <p:cNvPicPr>
            <a:picLocks noChangeAspect="1"/>
          </p:cNvPicPr>
          <p:nvPr/>
        </p:nvPicPr>
        <p:blipFill>
          <a:blip r:embed="rId3"/>
          <a:stretch>
            <a:fillRect/>
          </a:stretch>
        </p:blipFill>
        <p:spPr>
          <a:xfrm>
            <a:off x="1276537" y="3082390"/>
            <a:ext cx="2222500" cy="698500"/>
          </a:xfrm>
          <a:prstGeom prst="rect">
            <a:avLst/>
          </a:prstGeom>
        </p:spPr>
      </p:pic>
      <p:sp>
        <p:nvSpPr>
          <p:cNvPr id="5" name="Title 1">
            <a:extLst>
              <a:ext uri="{FF2B5EF4-FFF2-40B4-BE49-F238E27FC236}">
                <a16:creationId xmlns:a16="http://schemas.microsoft.com/office/drawing/2014/main" id="{BA51C442-9FC9-B08E-3402-91D010D28EF7}"/>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sz="21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Multi-hop Precision Time Protocol </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76068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1D39-C855-CD1F-DCBB-D96C313DCDC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p>
        </p:txBody>
      </p:sp>
      <p:sp>
        <p:nvSpPr>
          <p:cNvPr id="3" name="Text Placeholder 2">
            <a:extLst>
              <a:ext uri="{FF2B5EF4-FFF2-40B4-BE49-F238E27FC236}">
                <a16:creationId xmlns:a16="http://schemas.microsoft.com/office/drawing/2014/main" id="{9B0B2C14-F8CC-5290-E5BA-9463DBC7C4FE}"/>
              </a:ext>
            </a:extLst>
          </p:cNvPr>
          <p:cNvSpPr>
            <a:spLocks noGrp="1"/>
          </p:cNvSpPr>
          <p:nvPr>
            <p:ph type="body" idx="1"/>
          </p:nvPr>
        </p:nvSpPr>
        <p:spPr>
          <a:xfrm>
            <a:off x="152195" y="971872"/>
            <a:ext cx="8520600" cy="3416400"/>
          </a:xfrm>
        </p:spPr>
        <p:txBody>
          <a:bodyPr/>
          <a:lstStyle/>
          <a:p>
            <a:pPr marL="114300" indent="0">
              <a:buNone/>
            </a:pPr>
            <a:r>
              <a:rPr lang="en-IN" sz="1200" b="1" dirty="0">
                <a:solidFill>
                  <a:schemeClr val="tx1"/>
                </a:solidFill>
                <a:latin typeface="Times New Roman" panose="02020603050405020304" pitchFamily="18" charset="0"/>
                <a:cs typeface="Times New Roman" panose="02020603050405020304" pitchFamily="18" charset="0"/>
              </a:rPr>
              <a:t>Synchronization Precision on Varying Hops </a:t>
            </a:r>
            <a:r>
              <a:rPr lang="en-IN" sz="1200" dirty="0">
                <a:solidFill>
                  <a:schemeClr val="tx1"/>
                </a:solidFill>
                <a:latin typeface="Times New Roman" panose="02020603050405020304" pitchFamily="18" charset="0"/>
                <a:cs typeface="Times New Roman" panose="02020603050405020304" pitchFamily="18" charset="0"/>
              </a:rPr>
              <a:t>(Tested from 1 hop to 5 hops)</a:t>
            </a:r>
          </a:p>
          <a:p>
            <a:pPr marL="596900" lvl="1" indent="0">
              <a:buNone/>
            </a:pPr>
            <a:endParaRPr lang="en-IN" dirty="0"/>
          </a:p>
          <a:p>
            <a:pPr marL="114300" indent="0">
              <a:buNone/>
            </a:pPr>
            <a:endParaRPr lang="en-US" b="1" dirty="0"/>
          </a:p>
        </p:txBody>
      </p:sp>
      <p:pic>
        <p:nvPicPr>
          <p:cNvPr id="4" name="Picture 3">
            <a:extLst>
              <a:ext uri="{FF2B5EF4-FFF2-40B4-BE49-F238E27FC236}">
                <a16:creationId xmlns:a16="http://schemas.microsoft.com/office/drawing/2014/main" id="{1AC8A1F1-3091-EFE6-5EAB-9B34A8FBDCDD}"/>
              </a:ext>
            </a:extLst>
          </p:cNvPr>
          <p:cNvPicPr>
            <a:picLocks noChangeAspect="1"/>
          </p:cNvPicPr>
          <p:nvPr/>
        </p:nvPicPr>
        <p:blipFill>
          <a:blip r:embed="rId3"/>
          <a:stretch>
            <a:fillRect/>
          </a:stretch>
        </p:blipFill>
        <p:spPr>
          <a:xfrm>
            <a:off x="628996" y="1535659"/>
            <a:ext cx="2327618" cy="1764030"/>
          </a:xfrm>
          <a:prstGeom prst="rect">
            <a:avLst/>
          </a:prstGeom>
        </p:spPr>
      </p:pic>
      <p:pic>
        <p:nvPicPr>
          <p:cNvPr id="5" name="Picture 4">
            <a:extLst>
              <a:ext uri="{FF2B5EF4-FFF2-40B4-BE49-F238E27FC236}">
                <a16:creationId xmlns:a16="http://schemas.microsoft.com/office/drawing/2014/main" id="{504DE18B-7E61-D737-74D8-AD27E435C535}"/>
              </a:ext>
            </a:extLst>
          </p:cNvPr>
          <p:cNvPicPr>
            <a:picLocks noChangeAspect="1"/>
          </p:cNvPicPr>
          <p:nvPr/>
        </p:nvPicPr>
        <p:blipFill>
          <a:blip r:embed="rId4"/>
          <a:stretch>
            <a:fillRect/>
          </a:stretch>
        </p:blipFill>
        <p:spPr>
          <a:xfrm>
            <a:off x="3433414" y="1535659"/>
            <a:ext cx="2277172" cy="1695651"/>
          </a:xfrm>
          <a:prstGeom prst="rect">
            <a:avLst/>
          </a:prstGeom>
        </p:spPr>
      </p:pic>
      <p:pic>
        <p:nvPicPr>
          <p:cNvPr id="6" name="Picture 5">
            <a:extLst>
              <a:ext uri="{FF2B5EF4-FFF2-40B4-BE49-F238E27FC236}">
                <a16:creationId xmlns:a16="http://schemas.microsoft.com/office/drawing/2014/main" id="{7F90138C-BFF8-0D69-65CC-90E75D2D48B5}"/>
              </a:ext>
            </a:extLst>
          </p:cNvPr>
          <p:cNvPicPr>
            <a:picLocks noChangeAspect="1"/>
          </p:cNvPicPr>
          <p:nvPr/>
        </p:nvPicPr>
        <p:blipFill>
          <a:blip r:embed="rId5"/>
          <a:stretch>
            <a:fillRect/>
          </a:stretch>
        </p:blipFill>
        <p:spPr>
          <a:xfrm>
            <a:off x="6154550" y="1563157"/>
            <a:ext cx="2229602" cy="1668153"/>
          </a:xfrm>
          <a:prstGeom prst="rect">
            <a:avLst/>
          </a:prstGeom>
        </p:spPr>
      </p:pic>
      <p:pic>
        <p:nvPicPr>
          <p:cNvPr id="7" name="Picture 6">
            <a:extLst>
              <a:ext uri="{FF2B5EF4-FFF2-40B4-BE49-F238E27FC236}">
                <a16:creationId xmlns:a16="http://schemas.microsoft.com/office/drawing/2014/main" id="{68CFD43A-110F-5239-9748-E6B2B7EFD212}"/>
              </a:ext>
            </a:extLst>
          </p:cNvPr>
          <p:cNvPicPr>
            <a:picLocks noChangeAspect="1"/>
          </p:cNvPicPr>
          <p:nvPr/>
        </p:nvPicPr>
        <p:blipFill>
          <a:blip r:embed="rId6"/>
          <a:stretch>
            <a:fillRect/>
          </a:stretch>
        </p:blipFill>
        <p:spPr>
          <a:xfrm>
            <a:off x="1948520" y="3430596"/>
            <a:ext cx="2327618" cy="1679838"/>
          </a:xfrm>
          <a:prstGeom prst="rect">
            <a:avLst/>
          </a:prstGeom>
        </p:spPr>
      </p:pic>
      <p:pic>
        <p:nvPicPr>
          <p:cNvPr id="8" name="Picture 7">
            <a:extLst>
              <a:ext uri="{FF2B5EF4-FFF2-40B4-BE49-F238E27FC236}">
                <a16:creationId xmlns:a16="http://schemas.microsoft.com/office/drawing/2014/main" id="{299B8628-7848-A68B-A16E-091071D64A54}"/>
              </a:ext>
            </a:extLst>
          </p:cNvPr>
          <p:cNvPicPr>
            <a:picLocks noChangeAspect="1"/>
          </p:cNvPicPr>
          <p:nvPr/>
        </p:nvPicPr>
        <p:blipFill>
          <a:blip r:embed="rId7"/>
          <a:stretch>
            <a:fillRect/>
          </a:stretch>
        </p:blipFill>
        <p:spPr>
          <a:xfrm>
            <a:off x="4722121" y="3427219"/>
            <a:ext cx="2229602" cy="1665486"/>
          </a:xfrm>
          <a:prstGeom prst="rect">
            <a:avLst/>
          </a:prstGeom>
        </p:spPr>
      </p:pic>
      <p:sp>
        <p:nvSpPr>
          <p:cNvPr id="9" name="Title 1">
            <a:extLst>
              <a:ext uri="{FF2B5EF4-FFF2-40B4-BE49-F238E27FC236}">
                <a16:creationId xmlns:a16="http://schemas.microsoft.com/office/drawing/2014/main" id="{17EFBB82-0894-4C9E-81AF-2FD7E6AB6768}"/>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sz="2100" b="1" dirty="0">
                <a:solidFill>
                  <a:srgbClr val="333333"/>
                </a:solidFill>
                <a:highlight>
                  <a:srgbClr val="FFFFFF"/>
                </a:highlight>
                <a:latin typeface="Times New Roman" panose="02020603050405020304" pitchFamily="18" charset="0"/>
                <a:cs typeface="Times New Roman" panose="02020603050405020304" pitchFamily="18" charset="0"/>
                <a:hlinkClick r:id="rId8"/>
              </a:rPr>
              <a:t>Multi-hop Precision Time Protocol </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10477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1D39-C855-CD1F-DCBB-D96C313DCDC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p>
        </p:txBody>
      </p:sp>
      <p:sp>
        <p:nvSpPr>
          <p:cNvPr id="3" name="Text Placeholder 2">
            <a:extLst>
              <a:ext uri="{FF2B5EF4-FFF2-40B4-BE49-F238E27FC236}">
                <a16:creationId xmlns:a16="http://schemas.microsoft.com/office/drawing/2014/main" id="{9B0B2C14-F8CC-5290-E5BA-9463DBC7C4FE}"/>
              </a:ext>
            </a:extLst>
          </p:cNvPr>
          <p:cNvSpPr>
            <a:spLocks noGrp="1"/>
          </p:cNvSpPr>
          <p:nvPr>
            <p:ph type="body" idx="1"/>
          </p:nvPr>
        </p:nvSpPr>
        <p:spPr>
          <a:xfrm>
            <a:off x="152195" y="971872"/>
            <a:ext cx="8520600" cy="3416400"/>
          </a:xfrm>
        </p:spPr>
        <p:txBody>
          <a:bodyPr>
            <a:normAutofit/>
          </a:bodyPr>
          <a:lstStyle/>
          <a:p>
            <a:pPr marL="114300" indent="0">
              <a:buNone/>
            </a:pPr>
            <a:r>
              <a:rPr lang="en-IN" sz="1200" dirty="0">
                <a:solidFill>
                  <a:schemeClr val="tx1"/>
                </a:solidFill>
                <a:latin typeface="Times New Roman" panose="02020603050405020304" pitchFamily="18" charset="0"/>
                <a:cs typeface="Times New Roman" panose="02020603050405020304" pitchFamily="18" charset="0"/>
              </a:rPr>
              <a:t>M</a:t>
            </a:r>
            <a:r>
              <a:rPr lang="en-IN" sz="1200" dirty="0">
                <a:solidFill>
                  <a:schemeClr val="tx1"/>
                </a:solidFill>
                <a:effectLst/>
                <a:latin typeface="Times New Roman" panose="02020603050405020304" pitchFamily="18" charset="0"/>
                <a:cs typeface="Times New Roman" panose="02020603050405020304" pitchFamily="18" charset="0"/>
              </a:rPr>
              <a:t>ean, Maximum, Minimum, and </a:t>
            </a:r>
            <a:r>
              <a:rPr lang="en-IN" sz="1200" dirty="0">
                <a:solidFill>
                  <a:schemeClr val="tx1"/>
                </a:solidFill>
                <a:latin typeface="Times New Roman" panose="02020603050405020304" pitchFamily="18" charset="0"/>
                <a:cs typeface="Times New Roman" panose="02020603050405020304" pitchFamily="18" charset="0"/>
              </a:rPr>
              <a:t>V</a:t>
            </a:r>
            <a:r>
              <a:rPr lang="en-IN" sz="1200" dirty="0">
                <a:solidFill>
                  <a:schemeClr val="tx1"/>
                </a:solidFill>
                <a:effectLst/>
                <a:latin typeface="Times New Roman" panose="02020603050405020304" pitchFamily="18" charset="0"/>
                <a:cs typeface="Times New Roman" panose="02020603050405020304" pitchFamily="18" charset="0"/>
              </a:rPr>
              <a:t>ariance histograms of the time offset</a:t>
            </a:r>
          </a:p>
        </p:txBody>
      </p:sp>
      <p:pic>
        <p:nvPicPr>
          <p:cNvPr id="9" name="Picture 8">
            <a:extLst>
              <a:ext uri="{FF2B5EF4-FFF2-40B4-BE49-F238E27FC236}">
                <a16:creationId xmlns:a16="http://schemas.microsoft.com/office/drawing/2014/main" id="{30B5742B-42FD-8412-E212-27D7E3E56A02}"/>
              </a:ext>
            </a:extLst>
          </p:cNvPr>
          <p:cNvPicPr>
            <a:picLocks noChangeAspect="1"/>
          </p:cNvPicPr>
          <p:nvPr/>
        </p:nvPicPr>
        <p:blipFill>
          <a:blip r:embed="rId3"/>
          <a:stretch>
            <a:fillRect/>
          </a:stretch>
        </p:blipFill>
        <p:spPr>
          <a:xfrm>
            <a:off x="641875" y="1549963"/>
            <a:ext cx="2560183" cy="1620280"/>
          </a:xfrm>
          <a:prstGeom prst="rect">
            <a:avLst/>
          </a:prstGeom>
        </p:spPr>
      </p:pic>
      <p:pic>
        <p:nvPicPr>
          <p:cNvPr id="10" name="Picture 9">
            <a:extLst>
              <a:ext uri="{FF2B5EF4-FFF2-40B4-BE49-F238E27FC236}">
                <a16:creationId xmlns:a16="http://schemas.microsoft.com/office/drawing/2014/main" id="{6A16A094-477D-665C-B015-DB8D2D069745}"/>
              </a:ext>
            </a:extLst>
          </p:cNvPr>
          <p:cNvPicPr>
            <a:picLocks noChangeAspect="1"/>
          </p:cNvPicPr>
          <p:nvPr/>
        </p:nvPicPr>
        <p:blipFill>
          <a:blip r:embed="rId4"/>
          <a:stretch>
            <a:fillRect/>
          </a:stretch>
        </p:blipFill>
        <p:spPr>
          <a:xfrm>
            <a:off x="3521068" y="1544572"/>
            <a:ext cx="2644561" cy="1652851"/>
          </a:xfrm>
          <a:prstGeom prst="rect">
            <a:avLst/>
          </a:prstGeom>
        </p:spPr>
      </p:pic>
      <p:pic>
        <p:nvPicPr>
          <p:cNvPr id="11" name="Picture 10">
            <a:extLst>
              <a:ext uri="{FF2B5EF4-FFF2-40B4-BE49-F238E27FC236}">
                <a16:creationId xmlns:a16="http://schemas.microsoft.com/office/drawing/2014/main" id="{EC41DD1C-BFE3-64C2-C236-4409A8B600A3}"/>
              </a:ext>
            </a:extLst>
          </p:cNvPr>
          <p:cNvPicPr>
            <a:picLocks noChangeAspect="1"/>
          </p:cNvPicPr>
          <p:nvPr/>
        </p:nvPicPr>
        <p:blipFill>
          <a:blip r:embed="rId5"/>
          <a:stretch>
            <a:fillRect/>
          </a:stretch>
        </p:blipFill>
        <p:spPr>
          <a:xfrm>
            <a:off x="6325134" y="1544572"/>
            <a:ext cx="2666671" cy="1625671"/>
          </a:xfrm>
          <a:prstGeom prst="rect">
            <a:avLst/>
          </a:prstGeom>
        </p:spPr>
      </p:pic>
      <p:pic>
        <p:nvPicPr>
          <p:cNvPr id="12" name="Picture 11">
            <a:extLst>
              <a:ext uri="{FF2B5EF4-FFF2-40B4-BE49-F238E27FC236}">
                <a16:creationId xmlns:a16="http://schemas.microsoft.com/office/drawing/2014/main" id="{400F4722-B8A6-86F1-308B-43A0F982FB0C}"/>
              </a:ext>
            </a:extLst>
          </p:cNvPr>
          <p:cNvPicPr>
            <a:picLocks noChangeAspect="1"/>
          </p:cNvPicPr>
          <p:nvPr/>
        </p:nvPicPr>
        <p:blipFill>
          <a:blip r:embed="rId6"/>
          <a:stretch>
            <a:fillRect/>
          </a:stretch>
        </p:blipFill>
        <p:spPr>
          <a:xfrm>
            <a:off x="1802158" y="3221756"/>
            <a:ext cx="2799800" cy="1794125"/>
          </a:xfrm>
          <a:prstGeom prst="rect">
            <a:avLst/>
          </a:prstGeom>
        </p:spPr>
      </p:pic>
      <p:pic>
        <p:nvPicPr>
          <p:cNvPr id="13" name="Picture 12">
            <a:extLst>
              <a:ext uri="{FF2B5EF4-FFF2-40B4-BE49-F238E27FC236}">
                <a16:creationId xmlns:a16="http://schemas.microsoft.com/office/drawing/2014/main" id="{DE17B539-C467-33B1-8855-220211547C65}"/>
              </a:ext>
            </a:extLst>
          </p:cNvPr>
          <p:cNvPicPr>
            <a:picLocks noChangeAspect="1"/>
          </p:cNvPicPr>
          <p:nvPr/>
        </p:nvPicPr>
        <p:blipFill>
          <a:blip r:embed="rId7"/>
          <a:stretch>
            <a:fillRect/>
          </a:stretch>
        </p:blipFill>
        <p:spPr>
          <a:xfrm>
            <a:off x="4919185" y="3179755"/>
            <a:ext cx="3021958" cy="1836126"/>
          </a:xfrm>
          <a:prstGeom prst="rect">
            <a:avLst/>
          </a:prstGeom>
        </p:spPr>
      </p:pic>
      <p:sp>
        <p:nvSpPr>
          <p:cNvPr id="14" name="Title 1">
            <a:extLst>
              <a:ext uri="{FF2B5EF4-FFF2-40B4-BE49-F238E27FC236}">
                <a16:creationId xmlns:a16="http://schemas.microsoft.com/office/drawing/2014/main" id="{645B7657-9463-D3F4-2B6B-E2E755ACA29C}"/>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sz="2100" b="1" dirty="0">
                <a:solidFill>
                  <a:srgbClr val="333333"/>
                </a:solidFill>
                <a:highlight>
                  <a:srgbClr val="FFFFFF"/>
                </a:highlight>
                <a:latin typeface="Times New Roman" panose="02020603050405020304" pitchFamily="18" charset="0"/>
                <a:cs typeface="Times New Roman" panose="02020603050405020304" pitchFamily="18" charset="0"/>
                <a:hlinkClick r:id="rId8"/>
              </a:rPr>
              <a:t>Multi-hop Precision Time Protocol </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40822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A4883-B124-6FB3-0C6A-CD93EA19B1F5}"/>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p>
        </p:txBody>
      </p:sp>
      <p:sp>
        <p:nvSpPr>
          <p:cNvPr id="3" name="Text Placeholder 2">
            <a:extLst>
              <a:ext uri="{FF2B5EF4-FFF2-40B4-BE49-F238E27FC236}">
                <a16:creationId xmlns:a16="http://schemas.microsoft.com/office/drawing/2014/main" id="{7E0D98CE-BBF0-6B74-2F71-6BADEEF33396}"/>
              </a:ext>
            </a:extLst>
          </p:cNvPr>
          <p:cNvSpPr>
            <a:spLocks noGrp="1"/>
          </p:cNvSpPr>
          <p:nvPr>
            <p:ph type="body" idx="1"/>
          </p:nvPr>
        </p:nvSpPr>
        <p:spPr>
          <a:xfrm>
            <a:off x="83436" y="1017726"/>
            <a:ext cx="3150691" cy="2650148"/>
          </a:xfrm>
        </p:spPr>
        <p:txBody>
          <a:bodyPr>
            <a:normAutofit/>
          </a:bodyPr>
          <a:lstStyle/>
          <a:p>
            <a:pPr marL="114300" indent="0">
              <a:buNone/>
            </a:pPr>
            <a:r>
              <a:rPr lang="en-IN" sz="1100" b="1" dirty="0">
                <a:solidFill>
                  <a:schemeClr val="tx1"/>
                </a:solidFill>
                <a:effectLst/>
                <a:latin typeface="Times New Roman" panose="02020603050405020304" pitchFamily="18" charset="0"/>
                <a:cs typeface="Times New Roman" panose="02020603050405020304" pitchFamily="18" charset="0"/>
              </a:rPr>
              <a:t>Synchronization precision under different network loads </a:t>
            </a:r>
            <a:endParaRPr lang="en-IN" sz="1100" b="1"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endParaRPr>
          </a:p>
        </p:txBody>
      </p:sp>
      <p:pic>
        <p:nvPicPr>
          <p:cNvPr id="4" name="Picture 3">
            <a:extLst>
              <a:ext uri="{FF2B5EF4-FFF2-40B4-BE49-F238E27FC236}">
                <a16:creationId xmlns:a16="http://schemas.microsoft.com/office/drawing/2014/main" id="{D1E3B69F-D4EA-9DBF-2359-1ABFCBC5928C}"/>
              </a:ext>
            </a:extLst>
          </p:cNvPr>
          <p:cNvPicPr>
            <a:picLocks noChangeAspect="1"/>
          </p:cNvPicPr>
          <p:nvPr/>
        </p:nvPicPr>
        <p:blipFill>
          <a:blip r:embed="rId2"/>
          <a:stretch>
            <a:fillRect/>
          </a:stretch>
        </p:blipFill>
        <p:spPr>
          <a:xfrm>
            <a:off x="311700" y="1563195"/>
            <a:ext cx="2922427" cy="2017110"/>
          </a:xfrm>
          <a:prstGeom prst="rect">
            <a:avLst/>
          </a:prstGeom>
        </p:spPr>
      </p:pic>
      <p:sp>
        <p:nvSpPr>
          <p:cNvPr id="5" name="Text Placeholder 2">
            <a:extLst>
              <a:ext uri="{FF2B5EF4-FFF2-40B4-BE49-F238E27FC236}">
                <a16:creationId xmlns:a16="http://schemas.microsoft.com/office/drawing/2014/main" id="{FB14CF5D-B558-3B49-C755-759C6A078986}"/>
              </a:ext>
            </a:extLst>
          </p:cNvPr>
          <p:cNvSpPr txBox="1">
            <a:spLocks/>
          </p:cNvSpPr>
          <p:nvPr/>
        </p:nvSpPr>
        <p:spPr>
          <a:xfrm>
            <a:off x="3356875" y="1152474"/>
            <a:ext cx="5279154" cy="251539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IN" sz="1100" b="1" dirty="0">
                <a:solidFill>
                  <a:schemeClr val="tx1"/>
                </a:solidFill>
                <a:effectLst/>
                <a:latin typeface="Times New Roman" panose="02020603050405020304" pitchFamily="18" charset="0"/>
                <a:cs typeface="Times New Roman" panose="02020603050405020304" pitchFamily="18" charset="0"/>
              </a:rPr>
              <a:t>	         Synchronization precision under different CPU loads</a:t>
            </a:r>
            <a:r>
              <a:rPr lang="en-IN" sz="1100" b="0" dirty="0">
                <a:solidFill>
                  <a:schemeClr val="tx1"/>
                </a:solidFill>
                <a:effectLst/>
                <a:latin typeface="Times New Roman" panose="02020603050405020304" pitchFamily="18" charset="0"/>
                <a:cs typeface="Times New Roman" panose="02020603050405020304" pitchFamily="18" charset="0"/>
              </a:rPr>
              <a:t> </a:t>
            </a:r>
            <a:endParaRPr lang="en-IN" sz="1100" dirty="0">
              <a:solidFill>
                <a:schemeClr val="tx1"/>
              </a:solidFill>
              <a:latin typeface="Times New Roman" panose="02020603050405020304" pitchFamily="18" charset="0"/>
              <a:cs typeface="Times New Roman" panose="02020603050405020304" pitchFamily="18" charset="0"/>
            </a:endParaRPr>
          </a:p>
          <a:p>
            <a:endParaRPr lang="en-US" dirty="0"/>
          </a:p>
        </p:txBody>
      </p:sp>
      <p:pic>
        <p:nvPicPr>
          <p:cNvPr id="6" name="Picture 5">
            <a:extLst>
              <a:ext uri="{FF2B5EF4-FFF2-40B4-BE49-F238E27FC236}">
                <a16:creationId xmlns:a16="http://schemas.microsoft.com/office/drawing/2014/main" id="{AE808039-435A-E4F3-FAC7-6D2A38F8ED2B}"/>
              </a:ext>
            </a:extLst>
          </p:cNvPr>
          <p:cNvPicPr>
            <a:picLocks noChangeAspect="1"/>
          </p:cNvPicPr>
          <p:nvPr/>
        </p:nvPicPr>
        <p:blipFill>
          <a:blip r:embed="rId3"/>
          <a:stretch>
            <a:fillRect/>
          </a:stretch>
        </p:blipFill>
        <p:spPr>
          <a:xfrm>
            <a:off x="3234128" y="1563195"/>
            <a:ext cx="2805572" cy="1806729"/>
          </a:xfrm>
          <a:prstGeom prst="rect">
            <a:avLst/>
          </a:prstGeom>
        </p:spPr>
      </p:pic>
      <p:pic>
        <p:nvPicPr>
          <p:cNvPr id="7" name="Picture 6">
            <a:extLst>
              <a:ext uri="{FF2B5EF4-FFF2-40B4-BE49-F238E27FC236}">
                <a16:creationId xmlns:a16="http://schemas.microsoft.com/office/drawing/2014/main" id="{D799E8D4-38B9-7875-ADFB-3247E1ADE544}"/>
              </a:ext>
            </a:extLst>
          </p:cNvPr>
          <p:cNvPicPr>
            <a:picLocks noChangeAspect="1"/>
          </p:cNvPicPr>
          <p:nvPr/>
        </p:nvPicPr>
        <p:blipFill>
          <a:blip r:embed="rId4"/>
          <a:stretch>
            <a:fillRect/>
          </a:stretch>
        </p:blipFill>
        <p:spPr>
          <a:xfrm>
            <a:off x="6169753" y="1475626"/>
            <a:ext cx="2974247" cy="2017109"/>
          </a:xfrm>
          <a:prstGeom prst="rect">
            <a:avLst/>
          </a:prstGeom>
        </p:spPr>
      </p:pic>
      <p:sp>
        <p:nvSpPr>
          <p:cNvPr id="9" name="TextBox 8">
            <a:extLst>
              <a:ext uri="{FF2B5EF4-FFF2-40B4-BE49-F238E27FC236}">
                <a16:creationId xmlns:a16="http://schemas.microsoft.com/office/drawing/2014/main" id="{43D53B3A-8390-DD1D-C229-378875CE90C6}"/>
              </a:ext>
            </a:extLst>
          </p:cNvPr>
          <p:cNvSpPr txBox="1"/>
          <p:nvPr/>
        </p:nvSpPr>
        <p:spPr>
          <a:xfrm>
            <a:off x="311700" y="4299250"/>
            <a:ext cx="8520600" cy="523220"/>
          </a:xfrm>
          <a:prstGeom prst="rect">
            <a:avLst/>
          </a:prstGeom>
          <a:noFill/>
        </p:spPr>
        <p:txBody>
          <a:bodyPr wrap="square">
            <a:spAutoFit/>
          </a:bodyPr>
          <a:lstStyle/>
          <a:p>
            <a:r>
              <a:rPr lang="en-IN" dirty="0">
                <a:solidFill>
                  <a:schemeClr val="tx1"/>
                </a:solidFill>
                <a:latin typeface="Times New Roman" panose="02020603050405020304" pitchFamily="18" charset="0"/>
                <a:cs typeface="Times New Roman" panose="02020603050405020304" pitchFamily="18" charset="0"/>
              </a:rPr>
              <a:t>M-PTP achieves superior time synchronization precision (11.61ns at 5 hops) without hop-by-hop deployment, offering a scalable, low-cost solution for Internet-scale high-precision synchronization.</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0" name="Title 1">
            <a:extLst>
              <a:ext uri="{FF2B5EF4-FFF2-40B4-BE49-F238E27FC236}">
                <a16:creationId xmlns:a16="http://schemas.microsoft.com/office/drawing/2014/main" id="{192957D2-018B-D0E5-1FF0-E3471EED58DD}"/>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sz="2100" b="1" dirty="0">
                <a:solidFill>
                  <a:srgbClr val="333333"/>
                </a:solidFill>
                <a:highlight>
                  <a:srgbClr val="FFFFFF"/>
                </a:highlight>
                <a:latin typeface="Times New Roman" panose="02020603050405020304" pitchFamily="18" charset="0"/>
                <a:cs typeface="Times New Roman" panose="02020603050405020304" pitchFamily="18" charset="0"/>
                <a:hlinkClick r:id="rId5"/>
              </a:rPr>
              <a:t>Multi-hop Precision Time Protocol </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25761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4CB0-AD3E-D792-C373-D1F007A2F31D}"/>
              </a:ext>
            </a:extLst>
          </p:cNvPr>
          <p:cNvSpPr>
            <a:spLocks noGrp="1"/>
          </p:cNvSpPr>
          <p:nvPr>
            <p:ph type="title"/>
          </p:nvPr>
        </p:nvSpPr>
        <p:spPr/>
        <p:txBody>
          <a:bodyPr>
            <a:normAutofit fontScale="90000"/>
          </a:bodyPr>
          <a:lstStyle/>
          <a:p>
            <a:r>
              <a:rPr lang="en-US" dirty="0">
                <a:solidFill>
                  <a:schemeClr val="tx1"/>
                </a:solidFill>
                <a:latin typeface="Times New Roman" panose="02020603050405020304" pitchFamily="18" charset="0"/>
                <a:cs typeface="Times New Roman" panose="02020603050405020304" pitchFamily="18" charset="0"/>
                <a:hlinkClick r:id="rId2"/>
              </a:rPr>
              <a:t>Sundial: Fault-tolerant Clock Synchronization for Datacenters</a:t>
            </a:r>
            <a:br>
              <a:rPr lang="en-US" dirty="0"/>
            </a:br>
            <a:endParaRPr lang="en-US" dirty="0"/>
          </a:p>
        </p:txBody>
      </p:sp>
      <p:sp>
        <p:nvSpPr>
          <p:cNvPr id="3" name="Text Placeholder 2">
            <a:extLst>
              <a:ext uri="{FF2B5EF4-FFF2-40B4-BE49-F238E27FC236}">
                <a16:creationId xmlns:a16="http://schemas.microsoft.com/office/drawing/2014/main" id="{20BC505D-3F35-B667-7917-1CB2905F171F}"/>
              </a:ext>
            </a:extLst>
          </p:cNvPr>
          <p:cNvSpPr>
            <a:spLocks noGrp="1"/>
          </p:cNvSpPr>
          <p:nvPr>
            <p:ph type="body" idx="1"/>
          </p:nvPr>
        </p:nvSpPr>
        <p:spPr/>
        <p:txBody>
          <a:bodyPr>
            <a:normAutofit/>
          </a:bodyPr>
          <a:lstStyle/>
          <a:p>
            <a:pPr marL="114300" indent="0">
              <a:buNone/>
            </a:pPr>
            <a:r>
              <a:rPr lang="en-US" b="1" dirty="0">
                <a:solidFill>
                  <a:schemeClr val="tx1"/>
                </a:solidFill>
                <a:latin typeface="Times New Roman" panose="02020603050405020304" pitchFamily="18" charset="0"/>
                <a:cs typeface="Times New Roman" panose="02020603050405020304" pitchFamily="18" charset="0"/>
              </a:rPr>
              <a:t>Motivation</a:t>
            </a:r>
          </a:p>
          <a:p>
            <a:pPr marL="114300" indent="0">
              <a:buNone/>
            </a:pPr>
            <a:endParaRPr lang="en-US" sz="12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Time uncertainty bound is the difference between local clock and other clocks.</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Time uncertainty bound </a:t>
            </a:r>
            <a:r>
              <a:rPr lang="el-GR" sz="1400" dirty="0">
                <a:solidFill>
                  <a:schemeClr val="tx1"/>
                </a:solidFill>
                <a:effectLst/>
                <a:latin typeface="Times New Roman" panose="02020603050405020304" pitchFamily="18" charset="0"/>
                <a:cs typeface="Times New Roman" panose="02020603050405020304" pitchFamily="18" charset="0"/>
              </a:rPr>
              <a:t>ε</a:t>
            </a:r>
            <a:r>
              <a:rPr lang="en-US" sz="1400" dirty="0">
                <a:solidFill>
                  <a:schemeClr val="tx1"/>
                </a:solidFill>
                <a:effectLst/>
                <a:latin typeface="Times New Roman" panose="02020603050405020304" pitchFamily="18" charset="0"/>
                <a:cs typeface="Times New Roman" panose="02020603050405020304" pitchFamily="18" charset="0"/>
              </a:rPr>
              <a:t> </a:t>
            </a:r>
            <a:r>
              <a:rPr lang="el-GR" sz="1400" dirty="0">
                <a:solidFill>
                  <a:schemeClr val="tx1"/>
                </a:solidFill>
                <a:effectLst/>
                <a:latin typeface="Times New Roman" panose="02020603050405020304" pitchFamily="18" charset="0"/>
                <a:cs typeface="Times New Roman" panose="02020603050405020304" pitchFamily="18" charset="0"/>
              </a:rPr>
              <a:t>= ε</a:t>
            </a:r>
            <a:r>
              <a:rPr lang="en-IN" sz="1400" i="1" baseline="-25000" dirty="0">
                <a:solidFill>
                  <a:schemeClr val="tx1"/>
                </a:solidFill>
                <a:effectLst/>
                <a:latin typeface="Times New Roman" panose="02020603050405020304" pitchFamily="18" charset="0"/>
                <a:cs typeface="Times New Roman" panose="02020603050405020304" pitchFamily="18" charset="0"/>
              </a:rPr>
              <a:t>base</a:t>
            </a:r>
            <a:r>
              <a:rPr lang="en-IN" sz="1400" i="1" dirty="0">
                <a:solidFill>
                  <a:schemeClr val="tx1"/>
                </a:solidFill>
                <a:effectLst/>
                <a:latin typeface="Times New Roman" panose="02020603050405020304" pitchFamily="18" charset="0"/>
                <a:cs typeface="Times New Roman" panose="02020603050405020304" pitchFamily="18" charset="0"/>
              </a:rPr>
              <a:t> </a:t>
            </a:r>
            <a:r>
              <a:rPr lang="en-IN" sz="1400" dirty="0">
                <a:solidFill>
                  <a:schemeClr val="tx1"/>
                </a:solidFill>
                <a:effectLst/>
                <a:latin typeface="Times New Roman" panose="02020603050405020304" pitchFamily="18" charset="0"/>
                <a:cs typeface="Times New Roman" panose="02020603050405020304" pitchFamily="18" charset="0"/>
              </a:rPr>
              <a:t>+ (</a:t>
            </a:r>
            <a:r>
              <a:rPr lang="en-IN" sz="1400" i="1" dirty="0">
                <a:solidFill>
                  <a:schemeClr val="tx1"/>
                </a:solidFill>
                <a:effectLst/>
                <a:latin typeface="Times New Roman" panose="02020603050405020304" pitchFamily="18" charset="0"/>
                <a:cs typeface="Times New Roman" panose="02020603050405020304" pitchFamily="18" charset="0"/>
              </a:rPr>
              <a:t>now </a:t>
            </a:r>
            <a:r>
              <a:rPr lang="en-IN" sz="1400" dirty="0">
                <a:solidFill>
                  <a:schemeClr val="tx1"/>
                </a:solidFill>
                <a:effectLst/>
                <a:latin typeface="Times New Roman" panose="02020603050405020304" pitchFamily="18" charset="0"/>
                <a:cs typeface="Times New Roman" panose="02020603050405020304" pitchFamily="18" charset="0"/>
              </a:rPr>
              <a:t>− </a:t>
            </a:r>
            <a:r>
              <a:rPr lang="en-IN" sz="1400" i="1" dirty="0" err="1">
                <a:solidFill>
                  <a:schemeClr val="tx1"/>
                </a:solidFill>
                <a:effectLst/>
                <a:latin typeface="Times New Roman" panose="02020603050405020304" pitchFamily="18" charset="0"/>
                <a:cs typeface="Times New Roman" panose="02020603050405020304" pitchFamily="18" charset="0"/>
              </a:rPr>
              <a:t>T</a:t>
            </a:r>
            <a:r>
              <a:rPr lang="en-IN" sz="1400" i="1" baseline="-25000" dirty="0" err="1">
                <a:solidFill>
                  <a:schemeClr val="tx1"/>
                </a:solidFill>
                <a:effectLst/>
                <a:latin typeface="Times New Roman" panose="02020603050405020304" pitchFamily="18" charset="0"/>
                <a:cs typeface="Times New Roman" panose="02020603050405020304" pitchFamily="18" charset="0"/>
              </a:rPr>
              <a:t>last</a:t>
            </a:r>
            <a:r>
              <a:rPr lang="en-IN" sz="1400" baseline="-25000" dirty="0" err="1">
                <a:solidFill>
                  <a:schemeClr val="tx1"/>
                </a:solidFill>
                <a:effectLst/>
                <a:latin typeface="Times New Roman" panose="02020603050405020304" pitchFamily="18" charset="0"/>
                <a:cs typeface="Times New Roman" panose="02020603050405020304" pitchFamily="18" charset="0"/>
              </a:rPr>
              <a:t>_</a:t>
            </a:r>
            <a:r>
              <a:rPr lang="en-IN" sz="1400" i="1" baseline="-25000" dirty="0" err="1">
                <a:solidFill>
                  <a:schemeClr val="tx1"/>
                </a:solidFill>
                <a:effectLst/>
                <a:latin typeface="Times New Roman" panose="02020603050405020304" pitchFamily="18" charset="0"/>
                <a:cs typeface="Times New Roman" panose="02020603050405020304" pitchFamily="18" charset="0"/>
              </a:rPr>
              <a:t>sync</a:t>
            </a:r>
            <a:r>
              <a:rPr lang="en-IN" sz="1400" dirty="0">
                <a:solidFill>
                  <a:schemeClr val="tx1"/>
                </a:solidFill>
                <a:effectLst/>
                <a:latin typeface="Times New Roman" panose="02020603050405020304" pitchFamily="18" charset="0"/>
                <a:cs typeface="Times New Roman" panose="02020603050405020304" pitchFamily="18" charset="0"/>
              </a:rPr>
              <a:t>) × </a:t>
            </a:r>
            <a:r>
              <a:rPr lang="en-IN" sz="1400" i="1" dirty="0" err="1">
                <a:solidFill>
                  <a:schemeClr val="tx1"/>
                </a:solidFill>
                <a:effectLst/>
                <a:latin typeface="Times New Roman" panose="02020603050405020304" pitchFamily="18" charset="0"/>
                <a:cs typeface="Times New Roman" panose="02020603050405020304" pitchFamily="18" charset="0"/>
              </a:rPr>
              <a:t>max_drift_rate</a:t>
            </a:r>
            <a:r>
              <a:rPr lang="en-IN" sz="1400" i="1" dirty="0">
                <a:solidFill>
                  <a:schemeClr val="tx1"/>
                </a:solidFill>
                <a:effectLst/>
                <a:latin typeface="Times New Roman" panose="02020603050405020304" pitchFamily="18" charset="0"/>
                <a:cs typeface="Times New Roman" panose="02020603050405020304" pitchFamily="18" charset="0"/>
              </a:rPr>
              <a:t> </a:t>
            </a:r>
            <a:endParaRPr lang="en-IN" sz="1400" dirty="0">
              <a:solidFill>
                <a:schemeClr val="tx1"/>
              </a:solidFill>
              <a:latin typeface="Times New Roman" panose="02020603050405020304" pitchFamily="18" charset="0"/>
              <a:cs typeface="Times New Roman" panose="02020603050405020304" pitchFamily="18" charset="0"/>
            </a:endParaRPr>
          </a:p>
          <a:p>
            <a:pPr marL="571500" lvl="1" indent="0">
              <a:buNone/>
            </a:pPr>
            <a:r>
              <a:rPr lang="en-IN" sz="1000" b="1" i="1" dirty="0" err="1">
                <a:solidFill>
                  <a:schemeClr val="tx1"/>
                </a:solidFill>
                <a:effectLst/>
                <a:latin typeface="Times New Roman" panose="02020603050405020304" pitchFamily="18" charset="0"/>
                <a:cs typeface="Times New Roman" panose="02020603050405020304" pitchFamily="18" charset="0"/>
              </a:rPr>
              <a:t>T</a:t>
            </a:r>
            <a:r>
              <a:rPr lang="en-IN" sz="1000" b="1" i="1" baseline="-25000" dirty="0" err="1">
                <a:solidFill>
                  <a:schemeClr val="tx1"/>
                </a:solidFill>
                <a:effectLst/>
                <a:latin typeface="Times New Roman" panose="02020603050405020304" pitchFamily="18" charset="0"/>
                <a:cs typeface="Times New Roman" panose="02020603050405020304" pitchFamily="18" charset="0"/>
              </a:rPr>
              <a:t>last</a:t>
            </a:r>
            <a:r>
              <a:rPr lang="en-IN" sz="1000" b="1" baseline="-25000" dirty="0" err="1">
                <a:solidFill>
                  <a:schemeClr val="tx1"/>
                </a:solidFill>
                <a:effectLst/>
                <a:latin typeface="Times New Roman" panose="02020603050405020304" pitchFamily="18" charset="0"/>
                <a:cs typeface="Times New Roman" panose="02020603050405020304" pitchFamily="18" charset="0"/>
              </a:rPr>
              <a:t>_</a:t>
            </a:r>
            <a:r>
              <a:rPr lang="en-IN" sz="1000" b="1" i="1" baseline="-25000" dirty="0" err="1">
                <a:solidFill>
                  <a:schemeClr val="tx1"/>
                </a:solidFill>
                <a:effectLst/>
                <a:latin typeface="Times New Roman" panose="02020603050405020304" pitchFamily="18" charset="0"/>
                <a:cs typeface="Times New Roman" panose="02020603050405020304" pitchFamily="18" charset="0"/>
              </a:rPr>
              <a:t>sync</a:t>
            </a:r>
            <a:r>
              <a:rPr lang="en-IN" sz="1000" b="1" i="1" dirty="0">
                <a:solidFill>
                  <a:schemeClr val="tx1"/>
                </a:solidFill>
                <a:effectLst/>
                <a:latin typeface="Times New Roman" panose="02020603050405020304" pitchFamily="18" charset="0"/>
                <a:cs typeface="Times New Roman" panose="02020603050405020304" pitchFamily="18" charset="0"/>
              </a:rPr>
              <a:t> </a:t>
            </a:r>
            <a:r>
              <a:rPr lang="en-IN" sz="1000" b="1" dirty="0">
                <a:solidFill>
                  <a:schemeClr val="tx1"/>
                </a:solidFill>
                <a:effectLst/>
                <a:latin typeface="Times New Roman" panose="02020603050405020304" pitchFamily="18" charset="0"/>
                <a:cs typeface="Times New Roman" panose="02020603050405020304" pitchFamily="18" charset="0"/>
              </a:rPr>
              <a:t>:</a:t>
            </a:r>
            <a:r>
              <a:rPr lang="en-IN" sz="1000" i="1" dirty="0">
                <a:solidFill>
                  <a:schemeClr val="tx1"/>
                </a:solidFill>
                <a:effectLst/>
                <a:latin typeface="Times New Roman" panose="02020603050405020304" pitchFamily="18" charset="0"/>
                <a:cs typeface="Times New Roman" panose="02020603050405020304" pitchFamily="18" charset="0"/>
              </a:rPr>
              <a:t> </a:t>
            </a:r>
            <a:r>
              <a:rPr lang="en-IN" sz="1000" dirty="0">
                <a:solidFill>
                  <a:schemeClr val="tx1"/>
                </a:solidFill>
                <a:effectLst/>
                <a:latin typeface="Times New Roman" panose="02020603050405020304" pitchFamily="18" charset="0"/>
                <a:cs typeface="Times New Roman" panose="02020603050405020304" pitchFamily="18" charset="0"/>
              </a:rPr>
              <a:t>last time when clock is synchronized to the root</a:t>
            </a:r>
          </a:p>
          <a:p>
            <a:pPr marL="571500" lvl="1" indent="0">
              <a:buNone/>
            </a:pPr>
            <a:r>
              <a:rPr lang="en-IN" sz="1000" b="1" dirty="0" err="1">
                <a:solidFill>
                  <a:schemeClr val="tx1"/>
                </a:solidFill>
                <a:latin typeface="Times New Roman" panose="02020603050405020304" pitchFamily="18" charset="0"/>
                <a:cs typeface="Times New Roman" panose="02020603050405020304" pitchFamily="18" charset="0"/>
              </a:rPr>
              <a:t>max_drift_rate</a:t>
            </a:r>
            <a:r>
              <a:rPr lang="en-IN" sz="1000" b="1" dirty="0">
                <a:solidFill>
                  <a:schemeClr val="tx1"/>
                </a:solidFill>
                <a:latin typeface="Times New Roman" panose="02020603050405020304" pitchFamily="18" charset="0"/>
                <a:cs typeface="Times New Roman" panose="02020603050405020304" pitchFamily="18" charset="0"/>
              </a:rPr>
              <a:t>: </a:t>
            </a:r>
            <a:r>
              <a:rPr lang="en-IN" sz="1000" dirty="0">
                <a:solidFill>
                  <a:schemeClr val="tx1"/>
                </a:solidFill>
                <a:latin typeface="Times New Roman" panose="02020603050405020304" pitchFamily="18" charset="0"/>
                <a:cs typeface="Times New Roman" panose="02020603050405020304" pitchFamily="18" charset="0"/>
              </a:rPr>
              <a:t>constant representing maximum possible drift rate (200ppm)</a:t>
            </a:r>
          </a:p>
          <a:p>
            <a:pPr marL="571500" lvl="1" indent="0">
              <a:buNone/>
            </a:pPr>
            <a:r>
              <a:rPr lang="el-GR" sz="1000" b="1" dirty="0">
                <a:solidFill>
                  <a:schemeClr val="tx1"/>
                </a:solidFill>
                <a:effectLst/>
                <a:latin typeface="Times New Roman" panose="02020603050405020304" pitchFamily="18" charset="0"/>
                <a:cs typeface="Times New Roman" panose="02020603050405020304" pitchFamily="18" charset="0"/>
              </a:rPr>
              <a:t>ε</a:t>
            </a:r>
            <a:r>
              <a:rPr lang="en-IN" sz="1000" b="1" i="1" baseline="-25000" dirty="0">
                <a:solidFill>
                  <a:schemeClr val="tx1"/>
                </a:solidFill>
                <a:effectLst/>
                <a:latin typeface="Times New Roman" panose="02020603050405020304" pitchFamily="18" charset="0"/>
                <a:cs typeface="Times New Roman" panose="02020603050405020304" pitchFamily="18" charset="0"/>
              </a:rPr>
              <a:t>base</a:t>
            </a:r>
            <a:r>
              <a:rPr lang="en-IN" sz="1000" b="1" i="1" dirty="0">
                <a:solidFill>
                  <a:schemeClr val="tx1"/>
                </a:solidFill>
                <a:effectLst/>
                <a:latin typeface="Times New Roman" panose="02020603050405020304" pitchFamily="18" charset="0"/>
                <a:cs typeface="Times New Roman" panose="02020603050405020304" pitchFamily="18" charset="0"/>
              </a:rPr>
              <a:t> </a:t>
            </a:r>
            <a:r>
              <a:rPr lang="en-IN" sz="1000" b="1" dirty="0">
                <a:solidFill>
                  <a:schemeClr val="tx1"/>
                </a:solidFill>
                <a:latin typeface="Times New Roman" panose="02020603050405020304" pitchFamily="18" charset="0"/>
                <a:cs typeface="Times New Roman" panose="02020603050405020304" pitchFamily="18" charset="0"/>
              </a:rPr>
              <a:t>: </a:t>
            </a:r>
            <a:r>
              <a:rPr lang="en-IN" sz="1000" dirty="0" err="1">
                <a:solidFill>
                  <a:schemeClr val="tx1"/>
                </a:solidFill>
                <a:latin typeface="Times New Roman" panose="02020603050405020304" pitchFamily="18" charset="0"/>
                <a:cs typeface="Times New Roman" panose="02020603050405020304" pitchFamily="18" charset="0"/>
              </a:rPr>
              <a:t>contant</a:t>
            </a:r>
            <a:r>
              <a:rPr lang="en-IN" sz="1000" dirty="0">
                <a:solidFill>
                  <a:schemeClr val="tx1"/>
                </a:solidFill>
                <a:latin typeface="Times New Roman" panose="02020603050405020304" pitchFamily="18" charset="0"/>
                <a:cs typeface="Times New Roman" panose="02020603050405020304" pitchFamily="18" charset="0"/>
              </a:rPr>
              <a:t> accounting other noises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Spanner uses </a:t>
            </a:r>
            <a:r>
              <a:rPr lang="el-GR" sz="1400" dirty="0">
                <a:solidFill>
                  <a:schemeClr val="tx1"/>
                </a:solidFill>
                <a:effectLst/>
                <a:latin typeface="Times New Roman" panose="02020603050405020304" pitchFamily="18" charset="0"/>
                <a:cs typeface="Times New Roman" panose="02020603050405020304" pitchFamily="18" charset="0"/>
              </a:rPr>
              <a:t>ε </a:t>
            </a:r>
            <a:r>
              <a:rPr lang="en-US" sz="1400" dirty="0">
                <a:solidFill>
                  <a:schemeClr val="tx1"/>
                </a:solidFill>
                <a:effectLst/>
                <a:latin typeface="Times New Roman" panose="02020603050405020304" pitchFamily="18" charset="0"/>
                <a:cs typeface="Times New Roman" panose="02020603050405020304" pitchFamily="18" charset="0"/>
              </a:rPr>
              <a:t>to guarantee concurrency control and consistency in distributed databases.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To ensure consistency among snapshots, each node needs to wait for its </a:t>
            </a:r>
            <a:r>
              <a:rPr lang="el-GR" sz="1400" dirty="0">
                <a:solidFill>
                  <a:schemeClr val="tx1"/>
                </a:solidFill>
                <a:effectLst/>
                <a:latin typeface="Times New Roman" panose="02020603050405020304" pitchFamily="18" charset="0"/>
                <a:cs typeface="Times New Roman" panose="02020603050405020304" pitchFamily="18" charset="0"/>
              </a:rPr>
              <a:t>ε </a:t>
            </a:r>
            <a:r>
              <a:rPr lang="en-US" sz="1400" dirty="0">
                <a:solidFill>
                  <a:schemeClr val="tx1"/>
                </a:solidFill>
                <a:effectLst/>
                <a:latin typeface="Times New Roman" panose="02020603050405020304" pitchFamily="18" charset="0"/>
                <a:cs typeface="Times New Roman" panose="02020603050405020304" pitchFamily="18" charset="0"/>
              </a:rPr>
              <a:t>before recording t</a:t>
            </a:r>
            <a:r>
              <a:rPr lang="en-US" sz="1400" dirty="0">
                <a:solidFill>
                  <a:schemeClr val="tx1"/>
                </a:solidFill>
                <a:effectLst/>
                <a:latin typeface="StandardSymL"/>
              </a:rPr>
              <a:t>he states. </a:t>
            </a:r>
            <a:endParaRPr lang="el-GR" sz="1400"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22142359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4CB0-AD3E-D792-C373-D1F007A2F31D}"/>
              </a:ext>
            </a:extLst>
          </p:cNvPr>
          <p:cNvSpPr>
            <a:spLocks noGrp="1"/>
          </p:cNvSpPr>
          <p:nvPr>
            <p:ph type="title"/>
          </p:nvPr>
        </p:nvSpPr>
        <p:spPr>
          <a:xfrm>
            <a:off x="492453" y="668309"/>
            <a:ext cx="8520600" cy="572700"/>
          </a:xfrm>
        </p:spPr>
        <p:txBody>
          <a:bodyPr>
            <a:normAutofit fontScale="90000"/>
          </a:bodyPr>
          <a:lstStyle/>
          <a:p>
            <a:r>
              <a:rPr lang="en-US" dirty="0"/>
              <a:t>Motivation…</a:t>
            </a:r>
            <a:br>
              <a:rPr lang="en-US" dirty="0"/>
            </a:br>
            <a:endParaRPr lang="en-US" dirty="0"/>
          </a:p>
        </p:txBody>
      </p:sp>
      <p:sp>
        <p:nvSpPr>
          <p:cNvPr id="3" name="Text Placeholder 2">
            <a:extLst>
              <a:ext uri="{FF2B5EF4-FFF2-40B4-BE49-F238E27FC236}">
                <a16:creationId xmlns:a16="http://schemas.microsoft.com/office/drawing/2014/main" id="{20BC505D-3F35-B667-7917-1CB2905F171F}"/>
              </a:ext>
            </a:extLst>
          </p:cNvPr>
          <p:cNvSpPr>
            <a:spLocks noGrp="1"/>
          </p:cNvSpPr>
          <p:nvPr>
            <p:ph type="body" idx="1"/>
          </p:nvPr>
        </p:nvSpPr>
        <p:spPr>
          <a:xfrm>
            <a:off x="311700" y="1482085"/>
            <a:ext cx="8520600" cy="3416400"/>
          </a:xfrm>
        </p:spPr>
        <p:txBody>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State-of-art systems provide 100ms-100ns accuracy but </a:t>
            </a:r>
            <a:r>
              <a:rPr lang="el-GR" sz="1400" dirty="0">
                <a:solidFill>
                  <a:schemeClr val="tx1"/>
                </a:solidFill>
                <a:effectLst/>
                <a:latin typeface="Times New Roman" panose="02020603050405020304" pitchFamily="18" charset="0"/>
                <a:cs typeface="Times New Roman" panose="02020603050405020304" pitchFamily="18" charset="0"/>
              </a:rPr>
              <a:t>ε </a:t>
            </a:r>
            <a:r>
              <a:rPr lang="en-US" sz="1400" dirty="0">
                <a:solidFill>
                  <a:schemeClr val="tx1"/>
                </a:solidFill>
                <a:effectLst/>
                <a:latin typeface="Times New Roman" panose="02020603050405020304" pitchFamily="18" charset="0"/>
                <a:cs typeface="Times New Roman" panose="02020603050405020304" pitchFamily="18" charset="0"/>
              </a:rPr>
              <a:t>grows to 10-100s of </a:t>
            </a:r>
            <a:r>
              <a:rPr lang="el-GR" sz="1400" i="1" dirty="0">
                <a:solidFill>
                  <a:schemeClr val="tx1"/>
                </a:solidFill>
                <a:effectLst/>
                <a:latin typeface="Times New Roman" panose="02020603050405020304" pitchFamily="18" charset="0"/>
                <a:cs typeface="Times New Roman" panose="02020603050405020304" pitchFamily="18" charset="0"/>
              </a:rPr>
              <a:t>μ</a:t>
            </a:r>
            <a:r>
              <a:rPr lang="en-IN" sz="1400" i="1" dirty="0">
                <a:solidFill>
                  <a:schemeClr val="tx1"/>
                </a:solidFill>
                <a:effectLst/>
                <a:latin typeface="Times New Roman" panose="02020603050405020304" pitchFamily="18" charset="0"/>
                <a:cs typeface="Times New Roman" panose="02020603050405020304" pitchFamily="18" charset="0"/>
              </a:rPr>
              <a:t>s </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Modern datacenter applications with increasing performance requirements and ultra low latency datacenter networks needs more than millisecond level </a:t>
            </a:r>
            <a:r>
              <a:rPr lang="el-GR" sz="1400" dirty="0">
                <a:solidFill>
                  <a:schemeClr val="tx1"/>
                </a:solidFill>
                <a:effectLst/>
                <a:latin typeface="Times New Roman" panose="02020603050405020304" pitchFamily="18" charset="0"/>
                <a:cs typeface="Times New Roman" panose="02020603050405020304" pitchFamily="18" charset="0"/>
              </a:rPr>
              <a:t>ε </a:t>
            </a:r>
            <a:endParaRPr lang="el-GR" sz="1400"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endParaRPr>
          </a:p>
        </p:txBody>
      </p:sp>
      <p:sp>
        <p:nvSpPr>
          <p:cNvPr id="4" name="Title 1">
            <a:extLst>
              <a:ext uri="{FF2B5EF4-FFF2-40B4-BE49-F238E27FC236}">
                <a16:creationId xmlns:a16="http://schemas.microsoft.com/office/drawing/2014/main" id="{22F1233F-6B04-616F-2F6F-190E4D178D9A}"/>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2"/>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3"/>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2469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4CB0-AD3E-D792-C373-D1F007A2F31D}"/>
              </a:ext>
            </a:extLst>
          </p:cNvPr>
          <p:cNvSpPr>
            <a:spLocks noGrp="1"/>
          </p:cNvSpPr>
          <p:nvPr>
            <p:ph type="title"/>
          </p:nvPr>
        </p:nvSpPr>
        <p:spPr>
          <a:xfrm>
            <a:off x="311700" y="574625"/>
            <a:ext cx="8520600" cy="572700"/>
          </a:xfrm>
        </p:spPr>
        <p:txBody>
          <a:bodyPr>
            <a:normAutofit fontScale="90000"/>
          </a:bodyPr>
          <a:lstStyle/>
          <a:p>
            <a:r>
              <a:rPr lang="en-US" dirty="0">
                <a:latin typeface="Times New Roman" panose="02020603050405020304" pitchFamily="18" charset="0"/>
                <a:cs typeface="Times New Roman" panose="02020603050405020304" pitchFamily="18" charset="0"/>
              </a:rPr>
              <a:t>Two key requirements</a:t>
            </a:r>
          </a:p>
        </p:txBody>
      </p:sp>
      <p:sp>
        <p:nvSpPr>
          <p:cNvPr id="3" name="Text Placeholder 2">
            <a:extLst>
              <a:ext uri="{FF2B5EF4-FFF2-40B4-BE49-F238E27FC236}">
                <a16:creationId xmlns:a16="http://schemas.microsoft.com/office/drawing/2014/main" id="{20BC505D-3F35-B667-7917-1CB2905F171F}"/>
              </a:ext>
            </a:extLst>
          </p:cNvPr>
          <p:cNvSpPr>
            <a:spLocks noGrp="1"/>
          </p:cNvSpPr>
          <p:nvPr>
            <p:ph type="body" idx="1"/>
          </p:nvPr>
        </p:nvSpPr>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1. To keep </a:t>
            </a:r>
            <a:r>
              <a:rPr lang="el-GR" sz="1400" dirty="0">
                <a:solidFill>
                  <a:schemeClr val="tx1"/>
                </a:solidFill>
                <a:effectLst/>
                <a:latin typeface="Times New Roman" panose="02020603050405020304" pitchFamily="18" charset="0"/>
                <a:cs typeface="Times New Roman" panose="02020603050405020304" pitchFamily="18" charset="0"/>
              </a:rPr>
              <a:t>ε </a:t>
            </a:r>
            <a:r>
              <a:rPr lang="en-IN" sz="1400" dirty="0">
                <a:solidFill>
                  <a:schemeClr val="tx1"/>
                </a:solidFill>
                <a:effectLst/>
                <a:latin typeface="Times New Roman" panose="02020603050405020304" pitchFamily="18" charset="0"/>
                <a:cs typeface="Times New Roman" panose="02020603050405020304" pitchFamily="18" charset="0"/>
              </a:rPr>
              <a:t>small, we need to reduce </a:t>
            </a:r>
            <a:r>
              <a:rPr lang="en-IN" sz="1400" i="1" dirty="0">
                <a:solidFill>
                  <a:schemeClr val="tx1"/>
                </a:solidFill>
                <a:effectLst/>
                <a:latin typeface="Times New Roman" panose="02020603050405020304" pitchFamily="18" charset="0"/>
                <a:cs typeface="Times New Roman" panose="02020603050405020304" pitchFamily="18" charset="0"/>
              </a:rPr>
              <a:t>now </a:t>
            </a:r>
            <a:r>
              <a:rPr lang="en-IN" sz="1400" dirty="0">
                <a:solidFill>
                  <a:schemeClr val="tx1"/>
                </a:solidFill>
                <a:effectLst/>
                <a:latin typeface="Times New Roman" panose="02020603050405020304" pitchFamily="18" charset="0"/>
                <a:cs typeface="Times New Roman" panose="02020603050405020304" pitchFamily="18" charset="0"/>
              </a:rPr>
              <a:t>− </a:t>
            </a:r>
            <a:r>
              <a:rPr lang="en-IN" sz="1400" i="1" dirty="0" err="1">
                <a:solidFill>
                  <a:schemeClr val="tx1"/>
                </a:solidFill>
                <a:effectLst/>
                <a:latin typeface="Times New Roman" panose="02020603050405020304" pitchFamily="18" charset="0"/>
                <a:cs typeface="Times New Roman" panose="02020603050405020304" pitchFamily="18" charset="0"/>
              </a:rPr>
              <a:t>T</a:t>
            </a:r>
            <a:r>
              <a:rPr lang="en-IN" sz="1400" i="1" baseline="-25000" dirty="0" err="1">
                <a:solidFill>
                  <a:schemeClr val="tx1"/>
                </a:solidFill>
                <a:effectLst/>
                <a:latin typeface="Times New Roman" panose="02020603050405020304" pitchFamily="18" charset="0"/>
                <a:cs typeface="Times New Roman" panose="02020603050405020304" pitchFamily="18" charset="0"/>
              </a:rPr>
              <a:t>last</a:t>
            </a:r>
            <a:r>
              <a:rPr lang="en-IN" sz="1400" baseline="-25000" dirty="0" err="1">
                <a:solidFill>
                  <a:schemeClr val="tx1"/>
                </a:solidFill>
                <a:effectLst/>
                <a:latin typeface="Times New Roman" panose="02020603050405020304" pitchFamily="18" charset="0"/>
                <a:cs typeface="Times New Roman" panose="02020603050405020304" pitchFamily="18" charset="0"/>
              </a:rPr>
              <a:t>_</a:t>
            </a:r>
            <a:r>
              <a:rPr lang="en-IN" sz="1400" i="1" baseline="-25000" dirty="0" err="1">
                <a:solidFill>
                  <a:schemeClr val="tx1"/>
                </a:solidFill>
                <a:effectLst/>
                <a:latin typeface="Times New Roman" panose="02020603050405020304" pitchFamily="18" charset="0"/>
                <a:cs typeface="Times New Roman" panose="02020603050405020304" pitchFamily="18" charset="0"/>
              </a:rPr>
              <a:t>sync</a:t>
            </a:r>
            <a:r>
              <a:rPr lang="en-IN" sz="1400" i="1" dirty="0">
                <a:solidFill>
                  <a:schemeClr val="tx1"/>
                </a:solidFill>
                <a:effectLst/>
                <a:latin typeface="Times New Roman" panose="02020603050405020304" pitchFamily="18" charset="0"/>
                <a:cs typeface="Times New Roman" panose="02020603050405020304" pitchFamily="18" charset="0"/>
              </a:rPr>
              <a:t> </a:t>
            </a:r>
            <a:r>
              <a:rPr lang="en-IN" sz="1400" dirty="0">
                <a:solidFill>
                  <a:schemeClr val="tx1"/>
                </a:solidFill>
                <a:effectLst/>
                <a:latin typeface="Times New Roman" panose="02020603050405020304" pitchFamily="18" charset="0"/>
                <a:cs typeface="Times New Roman" panose="02020603050405020304" pitchFamily="18" charset="0"/>
              </a:rPr>
              <a:t>through frequent messaging </a:t>
            </a:r>
            <a:endParaRPr lang="en-IN"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Existing systems should reduce sync-interval but software cost is high</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2. Datacenter clock synchronization uses a spanning tree with one device serving as root.  </a:t>
            </a:r>
            <a:endParaRPr lang="el-GR"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dirty="0">
                <a:solidFill>
                  <a:schemeClr val="tx1"/>
                </a:solidFill>
                <a:effectLst/>
                <a:latin typeface="Times New Roman" panose="02020603050405020304" pitchFamily="18" charset="0"/>
                <a:cs typeface="Times New Roman" panose="02020603050405020304" pitchFamily="18" charset="0"/>
              </a:rPr>
              <a:t>Failures that break the connectivity of the spanning tree also affect </a:t>
            </a:r>
            <a:r>
              <a:rPr lang="el-GR" sz="1400" dirty="0">
                <a:solidFill>
                  <a:schemeClr val="tx1"/>
                </a:solidFill>
                <a:effectLst/>
                <a:latin typeface="Times New Roman" panose="02020603050405020304" pitchFamily="18" charset="0"/>
                <a:cs typeface="Times New Roman" panose="02020603050405020304" pitchFamily="18" charset="0"/>
              </a:rPr>
              <a:t>ε. </a:t>
            </a:r>
            <a:endParaRPr lang="el-GR" sz="1400"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644C87B-B213-0655-3D7A-BD974E73CD06}"/>
              </a:ext>
            </a:extLst>
          </p:cNvPr>
          <p:cNvPicPr>
            <a:picLocks noChangeAspect="1"/>
          </p:cNvPicPr>
          <p:nvPr/>
        </p:nvPicPr>
        <p:blipFill>
          <a:blip r:embed="rId2"/>
          <a:stretch>
            <a:fillRect/>
          </a:stretch>
        </p:blipFill>
        <p:spPr>
          <a:xfrm>
            <a:off x="2920710" y="2969731"/>
            <a:ext cx="3302580" cy="1599144"/>
          </a:xfrm>
          <a:prstGeom prst="rect">
            <a:avLst/>
          </a:prstGeom>
        </p:spPr>
      </p:pic>
      <p:sp>
        <p:nvSpPr>
          <p:cNvPr id="5" name="Title 1">
            <a:extLst>
              <a:ext uri="{FF2B5EF4-FFF2-40B4-BE49-F238E27FC236}">
                <a16:creationId xmlns:a16="http://schemas.microsoft.com/office/drawing/2014/main" id="{568E689C-9F82-CB1B-5091-92D0B30D41AC}"/>
              </a:ext>
            </a:extLst>
          </p:cNvPr>
          <p:cNvSpPr txBox="1">
            <a:spLocks/>
          </p:cNvSpPr>
          <p:nvPr/>
        </p:nvSpPr>
        <p:spPr>
          <a:xfrm>
            <a:off x="0" y="-106163"/>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3"/>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56285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4CB0-AD3E-D792-C373-D1F007A2F31D}"/>
              </a:ext>
            </a:extLst>
          </p:cNvPr>
          <p:cNvSpPr>
            <a:spLocks noGrp="1"/>
          </p:cNvSpPr>
          <p:nvPr>
            <p:ph type="title"/>
          </p:nvPr>
        </p:nvSpPr>
        <p:spPr>
          <a:xfrm>
            <a:off x="311700" y="574625"/>
            <a:ext cx="8520600" cy="572700"/>
          </a:xfrm>
        </p:spPr>
        <p:txBody>
          <a:bodyPr wrap="square" anchor="ctr">
            <a:noAutofit/>
          </a:bodyPr>
          <a:lstStyle/>
          <a:p>
            <a:pPr>
              <a:lnSpc>
                <a:spcPct val="90000"/>
              </a:lnSpc>
            </a:pPr>
            <a:r>
              <a:rPr lang="en-US" sz="2500" b="0" i="0" u="none" strike="noStrike" cap="none" dirty="0">
                <a:solidFill>
                  <a:schemeClr val="tx1"/>
                </a:solidFill>
                <a:latin typeface="Times New Roman" panose="02020603050405020304" pitchFamily="18" charset="0"/>
                <a:cs typeface="Times New Roman" panose="02020603050405020304" pitchFamily="18" charset="0"/>
              </a:rPr>
              <a:t>Uses a hardware-software codesign</a:t>
            </a:r>
            <a:endParaRPr lang="en-US" sz="25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0BC505D-3F35-B667-7917-1CB2905F171F}"/>
              </a:ext>
            </a:extLst>
          </p:cNvPr>
          <p:cNvSpPr>
            <a:spLocks noGrp="1"/>
          </p:cNvSpPr>
          <p:nvPr>
            <p:ph type="body" idx="4294967295"/>
          </p:nvPr>
        </p:nvSpPr>
        <p:spPr>
          <a:xfrm>
            <a:off x="311700" y="1152475"/>
            <a:ext cx="4165050" cy="3416400"/>
          </a:xfrm>
        </p:spPr>
        <p:txBody>
          <a:bodyPr anchor="t">
            <a:normAutofit/>
          </a:bodyPr>
          <a:lstStyle/>
          <a:p>
            <a:pPr marL="114300" indent="0">
              <a:spcAft>
                <a:spcPts val="600"/>
              </a:spcAft>
              <a:buClr>
                <a:srgbClr val="000000"/>
              </a:buClr>
              <a:buNone/>
            </a:pPr>
            <a:endParaRPr lang="en-US" sz="1400" b="1" dirty="0">
              <a:solidFill>
                <a:schemeClr val="dk1"/>
              </a:solidFill>
              <a:latin typeface="Times New Roman" panose="02020603050405020304" pitchFamily="18" charset="0"/>
              <a:cs typeface="Times New Roman" panose="02020603050405020304" pitchFamily="18" charset="0"/>
            </a:endParaRPr>
          </a:p>
          <a:p>
            <a:pPr marL="114300" indent="0">
              <a:spcAft>
                <a:spcPts val="600"/>
              </a:spcAft>
              <a:buClr>
                <a:srgbClr val="000000"/>
              </a:buClr>
              <a:buNone/>
            </a:pPr>
            <a:r>
              <a:rPr lang="en-US" sz="1400" b="1" dirty="0">
                <a:solidFill>
                  <a:schemeClr val="dk1"/>
                </a:solidFill>
                <a:latin typeface="Times New Roman" panose="02020603050405020304" pitchFamily="18" charset="0"/>
                <a:cs typeface="Times New Roman" panose="02020603050405020304" pitchFamily="18" charset="0"/>
              </a:rPr>
              <a:t>Hardware</a:t>
            </a:r>
          </a:p>
          <a:p>
            <a:pPr marL="114300" indent="0">
              <a:spcAft>
                <a:spcPts val="600"/>
              </a:spcAft>
              <a:buClr>
                <a:srgbClr val="000000"/>
              </a:buClr>
              <a:buNone/>
            </a:pPr>
            <a:r>
              <a:rPr lang="en-US" sz="1400" dirty="0">
                <a:solidFill>
                  <a:schemeClr val="dk1"/>
                </a:solidFill>
                <a:latin typeface="Times New Roman" panose="02020603050405020304" pitchFamily="18" charset="0"/>
                <a:cs typeface="Times New Roman" panose="02020603050405020304" pitchFamily="18" charset="0"/>
              </a:rPr>
              <a:t>Exchange sync messages, detect failures, sync frequently</a:t>
            </a:r>
          </a:p>
          <a:p>
            <a:pPr marL="114300" indent="0">
              <a:spcAft>
                <a:spcPts val="600"/>
              </a:spcAft>
              <a:buClr>
                <a:srgbClr val="000000"/>
              </a:buClr>
              <a:buNone/>
            </a:pPr>
            <a:endParaRPr lang="en-US" sz="1400" b="1" i="0" u="none" strike="noStrike" cap="none" dirty="0">
              <a:solidFill>
                <a:schemeClr val="dk1"/>
              </a:solidFill>
              <a:latin typeface="Times New Roman" panose="02020603050405020304" pitchFamily="18" charset="0"/>
              <a:cs typeface="Times New Roman" panose="02020603050405020304" pitchFamily="18" charset="0"/>
            </a:endParaRPr>
          </a:p>
          <a:p>
            <a:pPr marL="114300" indent="0">
              <a:spcAft>
                <a:spcPts val="600"/>
              </a:spcAft>
              <a:buClr>
                <a:srgbClr val="000000"/>
              </a:buClr>
              <a:buNone/>
            </a:pPr>
            <a:r>
              <a:rPr lang="en-US" sz="1400" b="1" i="0" u="none" strike="noStrike" cap="none" dirty="0">
                <a:solidFill>
                  <a:schemeClr val="dk1"/>
                </a:solidFill>
                <a:latin typeface="Times New Roman" panose="02020603050405020304" pitchFamily="18" charset="0"/>
                <a:cs typeface="Times New Roman" panose="02020603050405020304" pitchFamily="18" charset="0"/>
              </a:rPr>
              <a:t>Software</a:t>
            </a:r>
          </a:p>
          <a:p>
            <a:pPr marL="114300" indent="0">
              <a:spcAft>
                <a:spcPts val="600"/>
              </a:spcAft>
              <a:buClr>
                <a:srgbClr val="000000"/>
              </a:buClr>
              <a:buNone/>
            </a:pPr>
            <a:r>
              <a:rPr lang="en-US" sz="1400" dirty="0">
                <a:solidFill>
                  <a:schemeClr val="dk1"/>
                </a:solidFill>
                <a:latin typeface="Times New Roman" panose="02020603050405020304" pitchFamily="18" charset="0"/>
                <a:cs typeface="Times New Roman" panose="02020603050405020304" pitchFamily="18" charset="0"/>
              </a:rPr>
              <a:t>Failure handler – reconfigure the hardware</a:t>
            </a:r>
          </a:p>
          <a:p>
            <a:pPr marL="114300" indent="0">
              <a:spcAft>
                <a:spcPts val="600"/>
              </a:spcAft>
              <a:buClr>
                <a:srgbClr val="000000"/>
              </a:buClr>
              <a:buNone/>
            </a:pPr>
            <a:r>
              <a:rPr lang="en-US" sz="1400" b="0" i="0" u="none" strike="noStrike" cap="none" dirty="0">
                <a:solidFill>
                  <a:schemeClr val="dk1"/>
                </a:solidFill>
                <a:latin typeface="Times New Roman" panose="02020603050405020304" pitchFamily="18" charset="0"/>
                <a:cs typeface="Times New Roman" panose="02020603050405020304" pitchFamily="18" charset="0"/>
              </a:rPr>
              <a:t>Controller(</a:t>
            </a:r>
            <a:r>
              <a:rPr lang="en-US" sz="1400" dirty="0">
                <a:solidFill>
                  <a:schemeClr val="dk1"/>
                </a:solidFill>
                <a:latin typeface="Times New Roman" panose="02020603050405020304" pitchFamily="18" charset="0"/>
                <a:cs typeface="Times New Roman" panose="02020603050405020304" pitchFamily="18" charset="0"/>
              </a:rPr>
              <a:t>in software) create backup plan</a:t>
            </a:r>
            <a:endParaRPr lang="en-US" sz="1400" b="0" i="0" u="none" strike="noStrike" cap="none" dirty="0">
              <a:solidFill>
                <a:schemeClr val="dk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E201156-AAFE-ED8D-F018-6FC159BBBE87}"/>
              </a:ext>
            </a:extLst>
          </p:cNvPr>
          <p:cNvPicPr>
            <a:picLocks noChangeAspect="1"/>
          </p:cNvPicPr>
          <p:nvPr/>
        </p:nvPicPr>
        <p:blipFill>
          <a:blip r:embed="rId2"/>
          <a:stretch>
            <a:fillRect/>
          </a:stretch>
        </p:blipFill>
        <p:spPr>
          <a:xfrm>
            <a:off x="4476750" y="1366071"/>
            <a:ext cx="4610243" cy="3332404"/>
          </a:xfrm>
          <a:prstGeom prst="rect">
            <a:avLst/>
          </a:prstGeom>
        </p:spPr>
      </p:pic>
      <p:sp>
        <p:nvSpPr>
          <p:cNvPr id="8" name="Title 1">
            <a:extLst>
              <a:ext uri="{FF2B5EF4-FFF2-40B4-BE49-F238E27FC236}">
                <a16:creationId xmlns:a16="http://schemas.microsoft.com/office/drawing/2014/main" id="{715F7E4D-05C3-574E-51F7-A6E3120D3058}"/>
              </a:ext>
            </a:extLst>
          </p:cNvPr>
          <p:cNvSpPr txBox="1">
            <a:spLocks/>
          </p:cNvSpPr>
          <p:nvPr/>
        </p:nvSpPr>
        <p:spPr>
          <a:xfrm>
            <a:off x="0" y="-127675"/>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3"/>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6142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0BC505D-3F35-B667-7917-1CB2905F171F}"/>
              </a:ext>
            </a:extLst>
          </p:cNvPr>
          <p:cNvSpPr>
            <a:spLocks noGrp="1"/>
          </p:cNvSpPr>
          <p:nvPr>
            <p:ph type="body" idx="4294967295"/>
          </p:nvPr>
        </p:nvSpPr>
        <p:spPr>
          <a:xfrm>
            <a:off x="311699" y="1327325"/>
            <a:ext cx="3828785" cy="2978450"/>
          </a:xfrm>
        </p:spPr>
        <p:txBody>
          <a:bodyPr anchor="t">
            <a:normAutofit/>
          </a:bodyPr>
          <a:lstStyle/>
          <a:p>
            <a:pPr marL="114300" indent="0">
              <a:spcAft>
                <a:spcPts val="600"/>
              </a:spcAft>
              <a:buClr>
                <a:srgbClr val="000000"/>
              </a:buClr>
              <a:buNone/>
            </a:pPr>
            <a:endParaRPr lang="en-US" sz="1400" b="0" i="0" u="none" strike="noStrike" cap="none" dirty="0">
              <a:solidFill>
                <a:schemeClr val="dk1"/>
              </a:solidFill>
              <a:latin typeface="Times New Roman" panose="02020603050405020304" pitchFamily="18" charset="0"/>
              <a:cs typeface="Times New Roman" panose="02020603050405020304" pitchFamily="18" charset="0"/>
            </a:endParaRPr>
          </a:p>
          <a:p>
            <a:pPr marL="114300" indent="0">
              <a:spcAft>
                <a:spcPts val="600"/>
              </a:spcAft>
              <a:buClr>
                <a:srgbClr val="000000"/>
              </a:buClr>
              <a:buNone/>
            </a:pPr>
            <a:r>
              <a:rPr lang="en-US" sz="1600" b="1" i="0" u="none" strike="noStrike" cap="none" dirty="0">
                <a:solidFill>
                  <a:schemeClr val="dk1"/>
                </a:solidFill>
                <a:latin typeface="Times New Roman" panose="02020603050405020304" pitchFamily="18" charset="0"/>
                <a:cs typeface="Times New Roman" panose="02020603050405020304" pitchFamily="18" charset="0"/>
              </a:rPr>
              <a:t>1. Frequent sync messages</a:t>
            </a:r>
            <a:endParaRPr lang="en-US" sz="1400" b="1" i="0" u="none" strike="noStrike" cap="none" dirty="0">
              <a:solidFill>
                <a:schemeClr val="dk1"/>
              </a:solidFill>
              <a:latin typeface="Times New Roman" panose="02020603050405020304" pitchFamily="18" charset="0"/>
              <a:cs typeface="Times New Roman" panose="02020603050405020304" pitchFamily="18" charset="0"/>
            </a:endParaRPr>
          </a:p>
          <a:p>
            <a:pPr marL="114300" indent="0">
              <a:spcAft>
                <a:spcPts val="600"/>
              </a:spcAft>
              <a:buClr>
                <a:srgbClr val="000000"/>
              </a:buClr>
              <a:buNone/>
            </a:pPr>
            <a:r>
              <a:rPr lang="en-US" sz="1400" b="0" i="0" u="none" strike="noStrike" cap="none" dirty="0">
                <a:solidFill>
                  <a:schemeClr val="dk1"/>
                </a:solidFill>
                <a:latin typeface="Times New Roman" panose="02020603050405020304" pitchFamily="18" charset="0"/>
                <a:cs typeface="Times New Roman" panose="02020603050405020304" pitchFamily="18" charset="0"/>
              </a:rPr>
              <a:t>On the root, hardware timer triggers transmission message every </a:t>
            </a:r>
            <a:r>
              <a:rPr lang="el-GR" sz="1400" dirty="0">
                <a:solidFill>
                  <a:schemeClr val="dk1"/>
                </a:solidFill>
                <a:latin typeface="Times New Roman" panose="02020603050405020304" pitchFamily="18" charset="0"/>
                <a:cs typeface="Times New Roman" panose="02020603050405020304" pitchFamily="18" charset="0"/>
              </a:rPr>
              <a:t>100μ</a:t>
            </a:r>
            <a:r>
              <a:rPr lang="en-IN" sz="1400" dirty="0">
                <a:solidFill>
                  <a:schemeClr val="dk1"/>
                </a:solidFill>
                <a:latin typeface="Times New Roman" panose="02020603050405020304" pitchFamily="18" charset="0"/>
                <a:cs typeface="Times New Roman" panose="02020603050405020304" pitchFamily="18" charset="0"/>
              </a:rPr>
              <a:t>s</a:t>
            </a:r>
          </a:p>
          <a:p>
            <a:pPr marL="114300" indent="0">
              <a:spcAft>
                <a:spcPts val="600"/>
              </a:spcAft>
              <a:buClr>
                <a:srgbClr val="000000"/>
              </a:buClr>
              <a:buNone/>
            </a:pPr>
            <a:endParaRPr lang="en-IN" sz="1400" dirty="0">
              <a:solidFill>
                <a:schemeClr val="dk1"/>
              </a:solidFill>
              <a:latin typeface="Times New Roman" panose="02020603050405020304" pitchFamily="18" charset="0"/>
              <a:cs typeface="Times New Roman" panose="02020603050405020304" pitchFamily="18" charset="0"/>
            </a:endParaRPr>
          </a:p>
          <a:p>
            <a:pPr marL="114300" indent="0">
              <a:spcAft>
                <a:spcPts val="600"/>
              </a:spcAft>
              <a:buClr>
                <a:srgbClr val="000000"/>
              </a:buClr>
              <a:buNone/>
            </a:pPr>
            <a:r>
              <a:rPr lang="en-IN" sz="1400" dirty="0">
                <a:solidFill>
                  <a:schemeClr val="dk1"/>
                </a:solidFill>
                <a:latin typeface="Times New Roman" panose="02020603050405020304" pitchFamily="18" charset="0"/>
                <a:cs typeface="Times New Roman" panose="02020603050405020304" pitchFamily="18" charset="0"/>
              </a:rPr>
              <a:t>100-byte packet every </a:t>
            </a:r>
            <a:r>
              <a:rPr lang="el-GR" sz="1400" dirty="0">
                <a:solidFill>
                  <a:schemeClr val="dk1"/>
                </a:solidFill>
                <a:latin typeface="Times New Roman" panose="02020603050405020304" pitchFamily="18" charset="0"/>
                <a:cs typeface="Times New Roman" panose="02020603050405020304" pitchFamily="18" charset="0"/>
              </a:rPr>
              <a:t>100μ</a:t>
            </a:r>
            <a:r>
              <a:rPr lang="en-IN" sz="1400" dirty="0">
                <a:solidFill>
                  <a:schemeClr val="dk1"/>
                </a:solidFill>
                <a:latin typeface="Times New Roman" panose="02020603050405020304" pitchFamily="18" charset="0"/>
                <a:cs typeface="Times New Roman" panose="02020603050405020304" pitchFamily="18" charset="0"/>
              </a:rPr>
              <a:t>s consumes &lt; 0.01% bandwidth and ~10ns queuing delay traffic</a:t>
            </a:r>
            <a:r>
              <a:rPr lang="en-IN" sz="1400" dirty="0">
                <a:effectLst/>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p>
            <a:pPr lvl="1">
              <a:spcAft>
                <a:spcPts val="600"/>
              </a:spcAft>
              <a:buClr>
                <a:srgbClr val="000000"/>
              </a:buClr>
            </a:pPr>
            <a:endParaRPr lang="en-US" b="0" i="0" u="none" strike="noStrike" cap="none" dirty="0">
              <a:solidFill>
                <a:schemeClr val="dk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353DDD1-0CF5-37B9-A3A1-519F95B2F56D}"/>
              </a:ext>
            </a:extLst>
          </p:cNvPr>
          <p:cNvPicPr>
            <a:picLocks noChangeAspect="1"/>
          </p:cNvPicPr>
          <p:nvPr/>
        </p:nvPicPr>
        <p:blipFill rotWithShape="1">
          <a:blip r:embed="rId2"/>
          <a:srcRect t="10577"/>
          <a:stretch/>
        </p:blipFill>
        <p:spPr>
          <a:xfrm>
            <a:off x="5583051" y="1655986"/>
            <a:ext cx="1806682" cy="1831528"/>
          </a:xfrm>
          <a:prstGeom prst="rect">
            <a:avLst/>
          </a:prstGeom>
        </p:spPr>
      </p:pic>
      <p:sp>
        <p:nvSpPr>
          <p:cNvPr id="6" name="Title 1">
            <a:extLst>
              <a:ext uri="{FF2B5EF4-FFF2-40B4-BE49-F238E27FC236}">
                <a16:creationId xmlns:a16="http://schemas.microsoft.com/office/drawing/2014/main" id="{8D382E56-35C3-3A41-9927-2C049A9BB216}"/>
              </a:ext>
            </a:extLst>
          </p:cNvPr>
          <p:cNvSpPr txBox="1">
            <a:spLocks/>
          </p:cNvSpPr>
          <p:nvPr/>
        </p:nvSpPr>
        <p:spPr>
          <a:xfrm>
            <a:off x="311700" y="717177"/>
            <a:ext cx="8520600" cy="61014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pPr>
              <a:lnSpc>
                <a:spcPct val="90000"/>
              </a:lnSpc>
            </a:pPr>
            <a:r>
              <a:rPr lang="en-US" sz="2500" dirty="0">
                <a:solidFill>
                  <a:schemeClr val="dk1"/>
                </a:solidFill>
                <a:latin typeface="Times New Roman" panose="02020603050405020304" pitchFamily="18" charset="0"/>
                <a:cs typeface="Times New Roman" panose="02020603050405020304" pitchFamily="18" charset="0"/>
              </a:rPr>
              <a:t>Hardware Design - 3 main components</a:t>
            </a:r>
            <a:endParaRPr lang="en-US" sz="2500"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AB4DF53D-C23B-DDE0-7019-085F6A57776D}"/>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3"/>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89009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D382E56-35C3-3A41-9927-2C049A9BB216}"/>
              </a:ext>
            </a:extLst>
          </p:cNvPr>
          <p:cNvSpPr txBox="1">
            <a:spLocks/>
          </p:cNvSpPr>
          <p:nvPr/>
        </p:nvSpPr>
        <p:spPr>
          <a:xfrm>
            <a:off x="311700" y="717177"/>
            <a:ext cx="8520600" cy="61014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pPr>
              <a:lnSpc>
                <a:spcPct val="90000"/>
              </a:lnSpc>
            </a:pPr>
            <a:r>
              <a:rPr lang="en-US" sz="2500" dirty="0">
                <a:solidFill>
                  <a:schemeClr val="dk1"/>
                </a:solidFill>
                <a:latin typeface="Times New Roman" panose="02020603050405020304" pitchFamily="18" charset="0"/>
                <a:cs typeface="Times New Roman" panose="02020603050405020304" pitchFamily="18" charset="0"/>
              </a:rPr>
              <a:t>Hardware Design - 3 main components</a:t>
            </a:r>
            <a:endParaRPr lang="en-US" sz="2500"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AB4DF53D-C23B-DDE0-7019-085F6A57776D}"/>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2"/>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3"/>
              </a:rPr>
              <a:t> </a:t>
            </a:r>
            <a:endParaRPr lang="en-US" sz="2000"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3DAA7E03-EFE1-05CE-8D2C-BFEE64BECE6C}"/>
              </a:ext>
            </a:extLst>
          </p:cNvPr>
          <p:cNvSpPr>
            <a:spLocks noGrp="1"/>
          </p:cNvSpPr>
          <p:nvPr>
            <p:ph type="body" idx="1"/>
          </p:nvPr>
        </p:nvSpPr>
        <p:spPr/>
        <p:txBody>
          <a:bodyPr>
            <a:normAutofit/>
          </a:bodyPr>
          <a:lstStyle/>
          <a:p>
            <a:pPr marL="114300" indent="0">
              <a:spcAft>
                <a:spcPts val="600"/>
              </a:spcAft>
              <a:buClr>
                <a:srgbClr val="000000"/>
              </a:buClr>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spcAft>
                <a:spcPts val="600"/>
              </a:spcAft>
              <a:buClr>
                <a:srgbClr val="000000"/>
              </a:buClr>
              <a:buNone/>
            </a:pPr>
            <a:r>
              <a:rPr lang="en-US" sz="1600" b="1" dirty="0">
                <a:solidFill>
                  <a:schemeClr val="tx1"/>
                </a:solidFill>
                <a:latin typeface="Times New Roman" panose="02020603050405020304" pitchFamily="18" charset="0"/>
                <a:cs typeface="Times New Roman" panose="02020603050405020304" pitchFamily="18" charset="0"/>
              </a:rPr>
              <a:t>2. Fast Failure Detection</a:t>
            </a:r>
          </a:p>
          <a:p>
            <a:pPr lvl="1">
              <a:spcAft>
                <a:spcPts val="600"/>
              </a:spcAft>
              <a:buClr>
                <a:srgbClr val="000000"/>
              </a:buClr>
            </a:pPr>
            <a:r>
              <a:rPr lang="en-IN" dirty="0">
                <a:solidFill>
                  <a:schemeClr val="tx1"/>
                </a:solidFill>
                <a:latin typeface="Times New Roman" panose="02020603050405020304" pitchFamily="18" charset="0"/>
                <a:cs typeface="Times New Roman" panose="02020603050405020304" pitchFamily="18" charset="0"/>
              </a:rPr>
              <a:t>Hardware uses a timeout counter for upstream failure detection.</a:t>
            </a:r>
          </a:p>
          <a:p>
            <a:pPr lvl="1">
              <a:spcAft>
                <a:spcPts val="600"/>
              </a:spcAft>
              <a:buClr>
                <a:srgbClr val="000000"/>
              </a:buClr>
            </a:pPr>
            <a:r>
              <a:rPr lang="en-IN" dirty="0">
                <a:solidFill>
                  <a:schemeClr val="tx1"/>
                </a:solidFill>
                <a:latin typeface="Times New Roman" panose="02020603050405020304" pitchFamily="18" charset="0"/>
                <a:cs typeface="Times New Roman" panose="02020603050405020304" pitchFamily="18" charset="0"/>
              </a:rPr>
              <a:t>Continuous invalid messages indicate a broken clock, triggers the software's failure handler.</a:t>
            </a:r>
            <a:endParaRPr lang="en-US"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3389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ABCF3E1B-AD80-AC99-A410-CB531844BA21}"/>
              </a:ext>
            </a:extLst>
          </p:cNvPr>
          <p:cNvSpPr txBox="1">
            <a:spLocks/>
          </p:cNvSpPr>
          <p:nvPr/>
        </p:nvSpPr>
        <p:spPr>
          <a:xfrm>
            <a:off x="311700" y="1327324"/>
            <a:ext cx="7587416" cy="324155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39700" indent="0">
              <a:spcAft>
                <a:spcPts val="600"/>
              </a:spcAft>
              <a:buClr>
                <a:srgbClr val="000000"/>
              </a:buClr>
              <a:buNone/>
            </a:pPr>
            <a:r>
              <a:rPr lang="en-US" sz="1600" b="1" dirty="0">
                <a:solidFill>
                  <a:schemeClr val="tx1"/>
                </a:solidFill>
                <a:latin typeface="Times New Roman" panose="02020603050405020304" pitchFamily="18" charset="0"/>
                <a:cs typeface="Times New Roman" panose="02020603050405020304" pitchFamily="18" charset="0"/>
              </a:rPr>
              <a:t>3. Time-</a:t>
            </a:r>
            <a:r>
              <a:rPr lang="en-US" sz="1600" b="1" dirty="0" err="1">
                <a:solidFill>
                  <a:schemeClr val="tx1"/>
                </a:solidFill>
                <a:latin typeface="Times New Roman" panose="02020603050405020304" pitchFamily="18" charset="0"/>
                <a:cs typeface="Times New Roman" panose="02020603050405020304" pitchFamily="18" charset="0"/>
              </a:rPr>
              <a:t>uncertainity</a:t>
            </a:r>
            <a:r>
              <a:rPr lang="en-US" sz="1600" b="1" dirty="0">
                <a:solidFill>
                  <a:schemeClr val="tx1"/>
                </a:solidFill>
                <a:latin typeface="Times New Roman" panose="02020603050405020304" pitchFamily="18" charset="0"/>
                <a:cs typeface="Times New Roman" panose="02020603050405020304" pitchFamily="18" charset="0"/>
              </a:rPr>
              <a:t> bound calculation</a:t>
            </a:r>
          </a:p>
          <a:p>
            <a:pPr marL="139700" indent="0">
              <a:spcAft>
                <a:spcPts val="600"/>
              </a:spcAft>
              <a:buClr>
                <a:srgbClr val="000000"/>
              </a:buClr>
              <a:buNone/>
            </a:pPr>
            <a:r>
              <a:rPr lang="en-IN" sz="1400" i="1" dirty="0" err="1">
                <a:solidFill>
                  <a:schemeClr val="tx1"/>
                </a:solidFill>
                <a:effectLst/>
                <a:latin typeface="Times New Roman" panose="02020603050405020304" pitchFamily="18" charset="0"/>
                <a:cs typeface="Times New Roman" panose="02020603050405020304" pitchFamily="18" charset="0"/>
              </a:rPr>
              <a:t>max_drift_rate</a:t>
            </a:r>
            <a:r>
              <a:rPr lang="en-IN" sz="1400" i="1" dirty="0">
                <a:solidFill>
                  <a:schemeClr val="tx1"/>
                </a:solidFill>
                <a:effectLst/>
                <a:latin typeface="Times New Roman" panose="02020603050405020304" pitchFamily="18" charset="0"/>
                <a:cs typeface="Times New Roman" panose="02020603050405020304" pitchFamily="18" charset="0"/>
              </a:rPr>
              <a:t> </a:t>
            </a:r>
            <a:r>
              <a:rPr lang="en-IN" sz="1400" dirty="0">
                <a:solidFill>
                  <a:schemeClr val="tx1"/>
                </a:solidFill>
                <a:effectLst/>
                <a:latin typeface="Times New Roman" panose="02020603050405020304" pitchFamily="18" charset="0"/>
                <a:cs typeface="Times New Roman" panose="02020603050405020304" pitchFamily="18" charset="0"/>
              </a:rPr>
              <a:t>= 200ppm </a:t>
            </a:r>
            <a:endParaRPr lang="en-IN" sz="1400" dirty="0">
              <a:solidFill>
                <a:schemeClr val="tx1"/>
              </a:solidFill>
              <a:latin typeface="Times New Roman" panose="02020603050405020304" pitchFamily="18" charset="0"/>
              <a:cs typeface="Times New Roman" panose="02020603050405020304" pitchFamily="18" charset="0"/>
            </a:endParaRPr>
          </a:p>
          <a:p>
            <a:pPr marL="139700" indent="0">
              <a:spcAft>
                <a:spcPts val="600"/>
              </a:spcAft>
              <a:buClr>
                <a:srgbClr val="000000"/>
              </a:buClr>
              <a:buNone/>
            </a:pPr>
            <a:r>
              <a:rPr lang="el-GR" sz="1400" dirty="0">
                <a:solidFill>
                  <a:schemeClr val="tx1"/>
                </a:solidFill>
                <a:effectLst/>
                <a:latin typeface="Times New Roman" panose="02020603050405020304" pitchFamily="18" charset="0"/>
                <a:cs typeface="Times New Roman" panose="02020603050405020304" pitchFamily="18" charset="0"/>
              </a:rPr>
              <a:t>ε</a:t>
            </a:r>
            <a:r>
              <a:rPr lang="en-IN" sz="1400" i="1" dirty="0">
                <a:solidFill>
                  <a:schemeClr val="tx1"/>
                </a:solidFill>
                <a:effectLst/>
                <a:latin typeface="Times New Roman" panose="02020603050405020304" pitchFamily="18" charset="0"/>
                <a:cs typeface="Times New Roman" panose="02020603050405020304" pitchFamily="18" charset="0"/>
              </a:rPr>
              <a:t>base </a:t>
            </a:r>
            <a:r>
              <a:rPr lang="en-IN" sz="1400" dirty="0">
                <a:solidFill>
                  <a:schemeClr val="tx1"/>
                </a:solidFill>
                <a:effectLst/>
                <a:latin typeface="Times New Roman" panose="02020603050405020304" pitchFamily="18" charset="0"/>
                <a:cs typeface="Times New Roman" panose="02020603050405020304" pitchFamily="18" charset="0"/>
              </a:rPr>
              <a:t>= 5ns×</a:t>
            </a:r>
            <a:r>
              <a:rPr lang="en-IN" sz="1400" i="1" dirty="0">
                <a:solidFill>
                  <a:schemeClr val="tx1"/>
                </a:solidFill>
                <a:effectLst/>
                <a:latin typeface="Times New Roman" panose="02020603050405020304" pitchFamily="18" charset="0"/>
                <a:cs typeface="Times New Roman" panose="02020603050405020304" pitchFamily="18" charset="0"/>
              </a:rPr>
              <a:t>depth </a:t>
            </a:r>
            <a:r>
              <a:rPr lang="en-IN" sz="1400" dirty="0">
                <a:solidFill>
                  <a:schemeClr val="tx1"/>
                </a:solidFill>
                <a:effectLst/>
                <a:latin typeface="Times New Roman" panose="02020603050405020304" pitchFamily="18" charset="0"/>
                <a:cs typeface="Times New Roman" panose="02020603050405020304" pitchFamily="18" charset="0"/>
              </a:rPr>
              <a:t>where </a:t>
            </a:r>
            <a:r>
              <a:rPr lang="en-IN" sz="1400" i="1" dirty="0">
                <a:solidFill>
                  <a:schemeClr val="tx1"/>
                </a:solidFill>
                <a:effectLst/>
                <a:latin typeface="Times New Roman" panose="02020603050405020304" pitchFamily="18" charset="0"/>
                <a:cs typeface="Times New Roman" panose="02020603050405020304" pitchFamily="18" charset="0"/>
              </a:rPr>
              <a:t>depth </a:t>
            </a:r>
            <a:r>
              <a:rPr lang="en-IN" sz="1400" dirty="0">
                <a:solidFill>
                  <a:schemeClr val="tx1"/>
                </a:solidFill>
                <a:effectLst/>
                <a:latin typeface="Times New Roman" panose="02020603050405020304" pitchFamily="18" charset="0"/>
                <a:cs typeface="Times New Roman" panose="02020603050405020304" pitchFamily="18" charset="0"/>
              </a:rPr>
              <a:t>is the distance of the device from the root in the tree. </a:t>
            </a:r>
            <a:endParaRPr lang="en-IN" sz="1400" dirty="0">
              <a:solidFill>
                <a:schemeClr val="tx1"/>
              </a:solidFill>
              <a:latin typeface="Times New Roman" panose="02020603050405020304" pitchFamily="18" charset="0"/>
              <a:cs typeface="Times New Roman" panose="02020603050405020304" pitchFamily="18" charset="0"/>
            </a:endParaRPr>
          </a:p>
          <a:p>
            <a:pPr marL="139700" indent="0">
              <a:spcAft>
                <a:spcPts val="600"/>
              </a:spcAft>
              <a:buClr>
                <a:srgbClr val="000000"/>
              </a:buClr>
              <a:buNone/>
            </a:pPr>
            <a:endParaRPr lang="en-US" sz="1400" dirty="0">
              <a:solidFill>
                <a:schemeClr val="tx1"/>
              </a:solidFill>
              <a:latin typeface="Times New Roman" panose="02020603050405020304" pitchFamily="18" charset="0"/>
              <a:cs typeface="Times New Roman" panose="02020603050405020304" pitchFamily="18" charset="0"/>
            </a:endParaRPr>
          </a:p>
          <a:p>
            <a:pPr marL="596900" lvl="1" indent="0">
              <a:spcAft>
                <a:spcPts val="600"/>
              </a:spcAft>
              <a:buClr>
                <a:srgbClr val="000000"/>
              </a:buClr>
              <a:buNone/>
            </a:pPr>
            <a:endParaRPr lang="en-IN" dirty="0">
              <a:solidFill>
                <a:schemeClr val="tx1"/>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8D382E56-35C3-3A41-9927-2C049A9BB216}"/>
              </a:ext>
            </a:extLst>
          </p:cNvPr>
          <p:cNvSpPr txBox="1">
            <a:spLocks/>
          </p:cNvSpPr>
          <p:nvPr/>
        </p:nvSpPr>
        <p:spPr>
          <a:xfrm>
            <a:off x="311700" y="717177"/>
            <a:ext cx="8520600" cy="61014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pPr>
              <a:lnSpc>
                <a:spcPct val="90000"/>
              </a:lnSpc>
            </a:pPr>
            <a:r>
              <a:rPr lang="en-US" sz="2500" dirty="0">
                <a:solidFill>
                  <a:schemeClr val="dk1"/>
                </a:solidFill>
                <a:latin typeface="Times New Roman" panose="02020603050405020304" pitchFamily="18" charset="0"/>
                <a:cs typeface="Times New Roman" panose="02020603050405020304" pitchFamily="18" charset="0"/>
              </a:rPr>
              <a:t>Hardware Design - 3 main components</a:t>
            </a:r>
            <a:endParaRPr lang="en-US" sz="25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570DBA9-6BB9-5E6D-6763-DB2494F278DB}"/>
              </a:ext>
            </a:extLst>
          </p:cNvPr>
          <p:cNvPicPr>
            <a:picLocks noChangeAspect="1"/>
          </p:cNvPicPr>
          <p:nvPr/>
        </p:nvPicPr>
        <p:blipFill>
          <a:blip r:embed="rId2"/>
          <a:stretch>
            <a:fillRect/>
          </a:stretch>
        </p:blipFill>
        <p:spPr>
          <a:xfrm>
            <a:off x="2445489" y="2638272"/>
            <a:ext cx="2777319" cy="249001"/>
          </a:xfrm>
          <a:prstGeom prst="rect">
            <a:avLst/>
          </a:prstGeom>
        </p:spPr>
      </p:pic>
      <p:sp>
        <p:nvSpPr>
          <p:cNvPr id="9" name="Title 1">
            <a:extLst>
              <a:ext uri="{FF2B5EF4-FFF2-40B4-BE49-F238E27FC236}">
                <a16:creationId xmlns:a16="http://schemas.microsoft.com/office/drawing/2014/main" id="{AB4DF53D-C23B-DDE0-7019-085F6A57776D}"/>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3"/>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85997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54E07-5288-9F7E-5C71-2609F99926AF}"/>
              </a:ext>
            </a:extLst>
          </p:cNvPr>
          <p:cNvSpPr>
            <a:spLocks noGrp="1"/>
          </p:cNvSpPr>
          <p:nvPr>
            <p:ph type="title"/>
          </p:nvPr>
        </p:nvSpPr>
        <p:spPr/>
        <p:txBody>
          <a:bodyPr>
            <a:normAutofit fontScale="90000"/>
          </a:bodyPr>
          <a:lstStyle/>
          <a:p>
            <a:r>
              <a:rPr lang="en-US" dirty="0">
                <a:solidFill>
                  <a:schemeClr val="tx1"/>
                </a:solidFill>
                <a:latin typeface="Times New Roman" panose="02020603050405020304" pitchFamily="18" charset="0"/>
                <a:cs typeface="Times New Roman" panose="02020603050405020304" pitchFamily="18" charset="0"/>
              </a:rPr>
              <a:t>Software Design</a:t>
            </a:r>
          </a:p>
        </p:txBody>
      </p:sp>
      <p:sp>
        <p:nvSpPr>
          <p:cNvPr id="3" name="Text Placeholder 2">
            <a:extLst>
              <a:ext uri="{FF2B5EF4-FFF2-40B4-BE49-F238E27FC236}">
                <a16:creationId xmlns:a16="http://schemas.microsoft.com/office/drawing/2014/main" id="{1BB2E199-0013-8EF8-83E2-170B18157951}"/>
              </a:ext>
            </a:extLst>
          </p:cNvPr>
          <p:cNvSpPr>
            <a:spLocks noGrp="1"/>
          </p:cNvSpPr>
          <p:nvPr>
            <p:ph type="body" idx="1"/>
          </p:nvPr>
        </p:nvSpPr>
        <p:spPr/>
        <p:txBody>
          <a:bodyPr/>
          <a:lstStyle/>
          <a:p>
            <a:pPr marL="114300" indent="0">
              <a:buNone/>
            </a:pPr>
            <a:r>
              <a:rPr lang="en-US" sz="1600" b="1" dirty="0">
                <a:solidFill>
                  <a:schemeClr val="tx1"/>
                </a:solidFill>
                <a:latin typeface="Times New Roman" panose="02020603050405020304" pitchFamily="18" charset="0"/>
                <a:cs typeface="Times New Roman" panose="02020603050405020304" pitchFamily="18" charset="0"/>
              </a:rPr>
              <a:t>Centralized Controller</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Pre-calculates backup plans and programs them on the devices based on current topology and configure the devices. </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Uses search algorithm to compute fault tolerant backup plan generic to link, non-root, root, domain failures. </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Takes only 148ms to run on example Jupiter topology with 88k nodes</a:t>
            </a: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0D981C8-562B-9B9F-B620-8EA7AE4B6156}"/>
              </a:ext>
            </a:extLst>
          </p:cNvPr>
          <p:cNvPicPr>
            <a:picLocks noChangeAspect="1"/>
          </p:cNvPicPr>
          <p:nvPr/>
        </p:nvPicPr>
        <p:blipFill>
          <a:blip r:embed="rId2"/>
          <a:stretch>
            <a:fillRect/>
          </a:stretch>
        </p:blipFill>
        <p:spPr>
          <a:xfrm>
            <a:off x="4832402" y="2015643"/>
            <a:ext cx="3352800" cy="1917700"/>
          </a:xfrm>
          <a:prstGeom prst="rect">
            <a:avLst/>
          </a:prstGeom>
        </p:spPr>
      </p:pic>
      <p:sp>
        <p:nvSpPr>
          <p:cNvPr id="9" name="Title 1">
            <a:extLst>
              <a:ext uri="{FF2B5EF4-FFF2-40B4-BE49-F238E27FC236}">
                <a16:creationId xmlns:a16="http://schemas.microsoft.com/office/drawing/2014/main" id="{7CEAE84B-BF26-EE07-E8EE-099C00DDC880}"/>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3"/>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3178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54E07-5288-9F7E-5C71-2609F99926AF}"/>
              </a:ext>
            </a:extLst>
          </p:cNvPr>
          <p:cNvSpPr>
            <a:spLocks noGrp="1"/>
          </p:cNvSpPr>
          <p:nvPr>
            <p:ph type="title"/>
          </p:nvPr>
        </p:nvSpPr>
        <p:spPr/>
        <p:txBody>
          <a:bodyPr>
            <a:normAutofit fontScale="90000"/>
          </a:bodyPr>
          <a:lstStyle/>
          <a:p>
            <a:r>
              <a:rPr lang="en-US" dirty="0">
                <a:solidFill>
                  <a:schemeClr val="tx1"/>
                </a:solidFill>
                <a:latin typeface="Times New Roman" panose="02020603050405020304" pitchFamily="18" charset="0"/>
                <a:cs typeface="Times New Roman" panose="02020603050405020304" pitchFamily="18" charset="0"/>
              </a:rPr>
              <a:t>Software Design</a:t>
            </a:r>
          </a:p>
        </p:txBody>
      </p:sp>
      <p:sp>
        <p:nvSpPr>
          <p:cNvPr id="6" name="Text Placeholder 5">
            <a:extLst>
              <a:ext uri="{FF2B5EF4-FFF2-40B4-BE49-F238E27FC236}">
                <a16:creationId xmlns:a16="http://schemas.microsoft.com/office/drawing/2014/main" id="{79DC6264-971B-4B85-96FF-5DF9BD08530D}"/>
              </a:ext>
            </a:extLst>
          </p:cNvPr>
          <p:cNvSpPr>
            <a:spLocks noGrp="1"/>
          </p:cNvSpPr>
          <p:nvPr>
            <p:ph type="body" idx="2"/>
          </p:nvPr>
        </p:nvSpPr>
        <p:spPr>
          <a:xfrm>
            <a:off x="311700" y="1462750"/>
            <a:ext cx="3999900" cy="3416400"/>
          </a:xfrm>
        </p:spPr>
        <p:txBody>
          <a:bodyPr/>
          <a:lstStyle/>
          <a:p>
            <a:pPr marL="139700" indent="0">
              <a:buNone/>
            </a:pPr>
            <a:r>
              <a:rPr lang="en-US" sz="1600" b="1" dirty="0">
                <a:solidFill>
                  <a:schemeClr val="tx1"/>
                </a:solidFill>
                <a:latin typeface="Times New Roman" panose="02020603050405020304" pitchFamily="18" charset="0"/>
                <a:cs typeface="Times New Roman" panose="02020603050405020304" pitchFamily="18" charset="0"/>
              </a:rPr>
              <a:t>Failure Handler</a:t>
            </a:r>
          </a:p>
          <a:p>
            <a:pPr marL="139700" indent="0">
              <a:buNone/>
            </a:pPr>
            <a:endParaRPr lang="en-US" sz="1600" b="1" dirty="0">
              <a:solidFill>
                <a:schemeClr val="tx1"/>
              </a:solidFill>
              <a:latin typeface="Times New Roman" panose="02020603050405020304" pitchFamily="18" charset="0"/>
              <a:cs typeface="Times New Roman" panose="02020603050405020304" pitchFamily="18" charset="0"/>
            </a:endParaRPr>
          </a:p>
          <a:p>
            <a:pPr marL="139700" indent="0">
              <a:buNone/>
            </a:pPr>
            <a:r>
              <a:rPr lang="en-US" dirty="0">
                <a:solidFill>
                  <a:schemeClr val="tx1"/>
                </a:solidFill>
                <a:latin typeface="Times New Roman" panose="02020603050405020304" pitchFamily="18" charset="0"/>
                <a:cs typeface="Times New Roman" panose="02020603050405020304" pitchFamily="18" charset="0"/>
              </a:rPr>
              <a:t>Deamon running in firmware</a:t>
            </a:r>
          </a:p>
          <a:p>
            <a:pPr marL="139700" indent="0">
              <a:buNone/>
            </a:pPr>
            <a:endParaRPr lang="en-US" dirty="0">
              <a:solidFill>
                <a:schemeClr val="tx1"/>
              </a:solidFill>
              <a:latin typeface="Times New Roman" panose="02020603050405020304" pitchFamily="18" charset="0"/>
              <a:cs typeface="Times New Roman" panose="02020603050405020304" pitchFamily="18" charset="0"/>
            </a:endParaRPr>
          </a:p>
          <a:p>
            <a:pPr marL="139700" indent="0">
              <a:buNone/>
            </a:pPr>
            <a:r>
              <a:rPr lang="en-US" dirty="0">
                <a:solidFill>
                  <a:schemeClr val="tx1"/>
                </a:solidFill>
                <a:latin typeface="Times New Roman" panose="02020603050405020304" pitchFamily="18" charset="0"/>
                <a:cs typeface="Times New Roman" panose="02020603050405020304" pitchFamily="18" charset="0"/>
              </a:rPr>
              <a:t>Responds to interrupts generated by hardware when failure is detected</a:t>
            </a:r>
          </a:p>
        </p:txBody>
      </p:sp>
      <p:pic>
        <p:nvPicPr>
          <p:cNvPr id="8" name="Picture 7">
            <a:extLst>
              <a:ext uri="{FF2B5EF4-FFF2-40B4-BE49-F238E27FC236}">
                <a16:creationId xmlns:a16="http://schemas.microsoft.com/office/drawing/2014/main" id="{B265AD3D-BE73-6C43-831A-9993FAA16791}"/>
              </a:ext>
            </a:extLst>
          </p:cNvPr>
          <p:cNvPicPr>
            <a:picLocks noChangeAspect="1"/>
          </p:cNvPicPr>
          <p:nvPr/>
        </p:nvPicPr>
        <p:blipFill>
          <a:blip r:embed="rId2"/>
          <a:stretch>
            <a:fillRect/>
          </a:stretch>
        </p:blipFill>
        <p:spPr>
          <a:xfrm>
            <a:off x="4832402" y="1462750"/>
            <a:ext cx="3492500" cy="2006600"/>
          </a:xfrm>
          <a:prstGeom prst="rect">
            <a:avLst/>
          </a:prstGeom>
        </p:spPr>
      </p:pic>
      <p:sp>
        <p:nvSpPr>
          <p:cNvPr id="9" name="Title 1">
            <a:extLst>
              <a:ext uri="{FF2B5EF4-FFF2-40B4-BE49-F238E27FC236}">
                <a16:creationId xmlns:a16="http://schemas.microsoft.com/office/drawing/2014/main" id="{7CEAE84B-BF26-EE07-E8EE-099C00DDC880}"/>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3"/>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76359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4CB0-AD3E-D792-C373-D1F007A2F31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br>
              <a:rPr lang="en-US" dirty="0"/>
            </a:br>
            <a:endParaRPr lang="en-US" dirty="0"/>
          </a:p>
        </p:txBody>
      </p:sp>
      <p:sp>
        <p:nvSpPr>
          <p:cNvPr id="3" name="Text Placeholder 2">
            <a:extLst>
              <a:ext uri="{FF2B5EF4-FFF2-40B4-BE49-F238E27FC236}">
                <a16:creationId xmlns:a16="http://schemas.microsoft.com/office/drawing/2014/main" id="{20BC505D-3F35-B667-7917-1CB2905F171F}"/>
              </a:ext>
            </a:extLst>
          </p:cNvPr>
          <p:cNvSpPr>
            <a:spLocks noGrp="1"/>
          </p:cNvSpPr>
          <p:nvPr>
            <p:ph type="body" idx="1"/>
          </p:nvPr>
        </p:nvSpPr>
        <p:spPr>
          <a:xfrm>
            <a:off x="311700" y="1004092"/>
            <a:ext cx="8520600" cy="2398799"/>
          </a:xfrm>
        </p:spPr>
        <p:txBody>
          <a:bodyPr>
            <a:normAutofit/>
          </a:bodyPr>
          <a:lstStyle/>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Sundial:</a:t>
            </a:r>
            <a:endParaRPr lang="en-IN" sz="1400" dirty="0">
              <a:solidFill>
                <a:schemeClr val="tx1"/>
              </a:solidFill>
              <a:latin typeface="Times New Roman" panose="02020603050405020304" pitchFamily="18" charset="0"/>
              <a:cs typeface="Times New Roman" panose="02020603050405020304" pitchFamily="18" charset="0"/>
            </a:endParaRPr>
          </a:p>
          <a:p>
            <a:pPr marL="457200" lvl="1" indent="0">
              <a:buNone/>
            </a:pPr>
            <a:r>
              <a:rPr lang="el-GR" b="1" dirty="0">
                <a:solidFill>
                  <a:schemeClr val="tx1"/>
                </a:solidFill>
                <a:latin typeface="Times New Roman" panose="02020603050405020304" pitchFamily="18" charset="0"/>
                <a:cs typeface="Times New Roman" panose="02020603050405020304" pitchFamily="18" charset="0"/>
              </a:rPr>
              <a:t>ε ≤ 43</a:t>
            </a:r>
            <a:r>
              <a:rPr lang="en-IN" b="1" dirty="0">
                <a:solidFill>
                  <a:schemeClr val="tx1"/>
                </a:solidFill>
                <a:latin typeface="Times New Roman" panose="02020603050405020304" pitchFamily="18" charset="0"/>
                <a:cs typeface="Times New Roman" panose="02020603050405020304" pitchFamily="18" charset="0"/>
              </a:rPr>
              <a:t>ns</a:t>
            </a:r>
            <a:r>
              <a:rPr lang="en-IN" dirty="0">
                <a:solidFill>
                  <a:schemeClr val="tx1"/>
                </a:solidFill>
                <a:latin typeface="Times New Roman" panose="02020603050405020304" pitchFamily="18" charset="0"/>
                <a:cs typeface="Times New Roman" panose="02020603050405020304" pitchFamily="18" charset="0"/>
              </a:rPr>
              <a:t> (matches calculated value).</a:t>
            </a:r>
          </a:p>
          <a:p>
            <a:pPr marL="457200" lvl="1" indent="0">
              <a:buNone/>
            </a:pPr>
            <a:r>
              <a:rPr lang="en-IN" dirty="0">
                <a:solidFill>
                  <a:schemeClr val="tx1"/>
                </a:solidFill>
                <a:latin typeface="Times New Roman" panose="02020603050405020304" pitchFamily="18" charset="0"/>
                <a:cs typeface="Times New Roman" panose="02020603050405020304" pitchFamily="18" charset="0"/>
              </a:rPr>
              <a:t>Consistently low </a:t>
            </a:r>
            <a:r>
              <a:rPr lang="el-GR" dirty="0">
                <a:solidFill>
                  <a:schemeClr val="tx1"/>
                </a:solidFill>
                <a:latin typeface="Times New Roman" panose="02020603050405020304" pitchFamily="18" charset="0"/>
                <a:cs typeface="Times New Roman" panose="02020603050405020304" pitchFamily="18" charset="0"/>
              </a:rPr>
              <a:t>ε </a:t>
            </a:r>
            <a:r>
              <a:rPr lang="en-IN" dirty="0">
                <a:solidFill>
                  <a:schemeClr val="tx1"/>
                </a:solidFill>
                <a:latin typeface="Times New Roman" panose="02020603050405020304" pitchFamily="18" charset="0"/>
                <a:cs typeface="Times New Roman" panose="02020603050405020304" pitchFamily="18" charset="0"/>
              </a:rPr>
              <a:t>due to precise synchronization; even the deepest devices maintain low </a:t>
            </a:r>
            <a:r>
              <a:rPr lang="el-GR" dirty="0">
                <a:solidFill>
                  <a:schemeClr val="tx1"/>
                </a:solidFill>
                <a:latin typeface="Times New Roman" panose="02020603050405020304" pitchFamily="18" charset="0"/>
                <a:cs typeface="Times New Roman" panose="02020603050405020304" pitchFamily="18" charset="0"/>
              </a:rPr>
              <a:t>ε.</a:t>
            </a:r>
            <a:endParaRPr lang="en-US" dirty="0">
              <a:solidFill>
                <a:schemeClr val="tx1"/>
              </a:solidFill>
              <a:latin typeface="Times New Roman" panose="02020603050405020304" pitchFamily="18" charset="0"/>
              <a:cs typeface="Times New Roman" panose="02020603050405020304" pitchFamily="18" charset="0"/>
            </a:endParaRPr>
          </a:p>
          <a:p>
            <a:pPr marL="457200" lvl="1" indent="0">
              <a:buNone/>
            </a:pPr>
            <a:endParaRPr lang="el-GR"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PTP+</a:t>
            </a:r>
            <a:r>
              <a:rPr lang="el-GR" sz="1400" b="1" dirty="0">
                <a:solidFill>
                  <a:schemeClr val="tx1"/>
                </a:solidFill>
                <a:latin typeface="Times New Roman" panose="02020603050405020304" pitchFamily="18" charset="0"/>
                <a:cs typeface="Times New Roman" panose="02020603050405020304" pitchFamily="18" charset="0"/>
              </a:rPr>
              <a:t>ε:</a:t>
            </a:r>
            <a:endParaRPr lang="el-GR" sz="1400" dirty="0">
              <a:solidFill>
                <a:schemeClr val="tx1"/>
              </a:solidFill>
              <a:latin typeface="Times New Roman" panose="02020603050405020304" pitchFamily="18" charset="0"/>
              <a:cs typeface="Times New Roman" panose="02020603050405020304" pitchFamily="18" charset="0"/>
            </a:endParaRPr>
          </a:p>
          <a:p>
            <a:pPr marL="457200" lvl="1" indent="0">
              <a:buNone/>
            </a:pPr>
            <a:r>
              <a:rPr lang="el-GR" b="1" dirty="0">
                <a:solidFill>
                  <a:schemeClr val="tx1"/>
                </a:solidFill>
                <a:latin typeface="Times New Roman" panose="02020603050405020304" pitchFamily="18" charset="0"/>
                <a:cs typeface="Times New Roman" panose="02020603050405020304" pitchFamily="18" charset="0"/>
              </a:rPr>
              <a:t>ε </a:t>
            </a:r>
            <a:r>
              <a:rPr lang="en-IN" b="1" dirty="0">
                <a:solidFill>
                  <a:schemeClr val="tx1"/>
                </a:solidFill>
                <a:latin typeface="Times New Roman" panose="02020603050405020304" pitchFamily="18" charset="0"/>
                <a:cs typeface="Times New Roman" panose="02020603050405020304" pitchFamily="18" charset="0"/>
              </a:rPr>
              <a:t>up to 800</a:t>
            </a:r>
            <a:r>
              <a:rPr lang="el-GR" b="1" dirty="0">
                <a:solidFill>
                  <a:schemeClr val="tx1"/>
                </a:solidFill>
                <a:latin typeface="Times New Roman" panose="02020603050405020304" pitchFamily="18" charset="0"/>
                <a:cs typeface="Times New Roman" panose="02020603050405020304" pitchFamily="18" charset="0"/>
              </a:rPr>
              <a:t>μ</a:t>
            </a:r>
            <a:r>
              <a:rPr lang="en-IN" b="1" dirty="0">
                <a:solidFill>
                  <a:schemeClr val="tx1"/>
                </a:solidFill>
                <a:latin typeface="Times New Roman" panose="02020603050405020304" pitchFamily="18" charset="0"/>
                <a:cs typeface="Times New Roman" panose="02020603050405020304" pitchFamily="18" charset="0"/>
              </a:rPr>
              <a:t>s</a:t>
            </a:r>
            <a:r>
              <a:rPr lang="en-IN" dirty="0">
                <a:solidFill>
                  <a:schemeClr val="tx1"/>
                </a:solidFill>
                <a:latin typeface="Times New Roman" panose="02020603050405020304" pitchFamily="18" charset="0"/>
                <a:cs typeface="Times New Roman" panose="02020603050405020304" pitchFamily="18" charset="0"/>
              </a:rPr>
              <a:t> for devices not directly synchronized to the root.</a:t>
            </a:r>
          </a:p>
          <a:p>
            <a:pPr marL="457200" lvl="1" indent="0">
              <a:buNone/>
            </a:pPr>
            <a:r>
              <a:rPr lang="en-IN" dirty="0">
                <a:solidFill>
                  <a:schemeClr val="tx1"/>
                </a:solidFill>
                <a:latin typeface="Times New Roman" panose="02020603050405020304" pitchFamily="18" charset="0"/>
                <a:cs typeface="Times New Roman" panose="02020603050405020304" pitchFamily="18" charset="0"/>
              </a:rPr>
              <a:t>Directly synchronized devices have </a:t>
            </a:r>
            <a:r>
              <a:rPr lang="el-GR" dirty="0">
                <a:solidFill>
                  <a:schemeClr val="tx1"/>
                </a:solidFill>
                <a:latin typeface="Times New Roman" panose="02020603050405020304" pitchFamily="18" charset="0"/>
                <a:cs typeface="Times New Roman" panose="02020603050405020304" pitchFamily="18" charset="0"/>
              </a:rPr>
              <a:t>ε </a:t>
            </a:r>
            <a:r>
              <a:rPr lang="en-IN" dirty="0">
                <a:solidFill>
                  <a:schemeClr val="tx1"/>
                </a:solidFill>
                <a:latin typeface="Times New Roman" panose="02020603050405020304" pitchFamily="18" charset="0"/>
                <a:cs typeface="Times New Roman" panose="02020603050405020304" pitchFamily="18" charset="0"/>
              </a:rPr>
              <a:t>increasing from 5ns to ~400</a:t>
            </a:r>
            <a:r>
              <a:rPr lang="el-GR" dirty="0">
                <a:solidFill>
                  <a:schemeClr val="tx1"/>
                </a:solidFill>
                <a:latin typeface="Times New Roman" panose="02020603050405020304" pitchFamily="18" charset="0"/>
                <a:cs typeface="Times New Roman" panose="02020603050405020304" pitchFamily="18" charset="0"/>
              </a:rPr>
              <a:t>μ</a:t>
            </a:r>
            <a:r>
              <a:rPr lang="en-IN" dirty="0">
                <a:solidFill>
                  <a:schemeClr val="tx1"/>
                </a:solidFill>
                <a:latin typeface="Times New Roman" panose="02020603050405020304" pitchFamily="18" charset="0"/>
                <a:cs typeface="Times New Roman" panose="02020603050405020304" pitchFamily="18" charset="0"/>
              </a:rPr>
              <a:t>s (2s sync-interval).</a:t>
            </a:r>
            <a:endParaRPr lang="en-US"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8C5B3C5-F221-010B-7430-282692E1C289}"/>
              </a:ext>
            </a:extLst>
          </p:cNvPr>
          <p:cNvSpPr txBox="1">
            <a:spLocks/>
          </p:cNvSpPr>
          <p:nvPr/>
        </p:nvSpPr>
        <p:spPr>
          <a:xfrm>
            <a:off x="0" y="-63837"/>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2"/>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3"/>
              </a:rPr>
              <a:t> </a:t>
            </a: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A0D4316-B6E0-B5F4-9D37-FDD7222BEA4B}"/>
              </a:ext>
            </a:extLst>
          </p:cNvPr>
          <p:cNvPicPr>
            <a:picLocks noChangeAspect="1"/>
          </p:cNvPicPr>
          <p:nvPr/>
        </p:nvPicPr>
        <p:blipFill>
          <a:blip r:embed="rId4"/>
          <a:stretch>
            <a:fillRect/>
          </a:stretch>
        </p:blipFill>
        <p:spPr>
          <a:xfrm>
            <a:off x="2647402" y="3191493"/>
            <a:ext cx="4002712" cy="1952007"/>
          </a:xfrm>
          <a:prstGeom prst="rect">
            <a:avLst/>
          </a:prstGeom>
        </p:spPr>
      </p:pic>
    </p:spTree>
    <p:extLst>
      <p:ext uri="{BB962C8B-B14F-4D97-AF65-F5344CB8AC3E}">
        <p14:creationId xmlns:p14="http://schemas.microsoft.com/office/powerpoint/2010/main" val="9185014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4CB0-AD3E-D792-C373-D1F007A2F31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0BC505D-3F35-B667-7917-1CB2905F171F}"/>
              </a:ext>
            </a:extLst>
          </p:cNvPr>
          <p:cNvSpPr>
            <a:spLocks noGrp="1"/>
          </p:cNvSpPr>
          <p:nvPr>
            <p:ph type="body" idx="1"/>
          </p:nvPr>
        </p:nvSpPr>
        <p:spPr>
          <a:xfrm>
            <a:off x="311700" y="1152475"/>
            <a:ext cx="8520600" cy="2132985"/>
          </a:xfrm>
        </p:spPr>
        <p:txBody>
          <a:bodyPr>
            <a:normAutofit/>
          </a:bodyPr>
          <a:lstStyle/>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PTP+DTP+</a:t>
            </a:r>
            <a:r>
              <a:rPr lang="el-GR" sz="1400" b="1" dirty="0">
                <a:solidFill>
                  <a:schemeClr val="tx1"/>
                </a:solidFill>
                <a:latin typeface="Times New Roman" panose="02020603050405020304" pitchFamily="18" charset="0"/>
                <a:cs typeface="Times New Roman" panose="02020603050405020304" pitchFamily="18" charset="0"/>
              </a:rPr>
              <a:t>ε:</a:t>
            </a:r>
            <a:endParaRPr lang="el-GR" sz="1400" dirty="0">
              <a:solidFill>
                <a:schemeClr val="tx1"/>
              </a:solidFill>
              <a:latin typeface="Times New Roman" panose="02020603050405020304" pitchFamily="18" charset="0"/>
              <a:cs typeface="Times New Roman" panose="02020603050405020304" pitchFamily="18" charset="0"/>
            </a:endParaRPr>
          </a:p>
          <a:p>
            <a:pPr marL="457200" lvl="1" indent="0">
              <a:buNone/>
            </a:pPr>
            <a:r>
              <a:rPr lang="el-GR" b="1" dirty="0">
                <a:solidFill>
                  <a:schemeClr val="tx1"/>
                </a:solidFill>
                <a:latin typeface="Times New Roman" panose="02020603050405020304" pitchFamily="18" charset="0"/>
                <a:cs typeface="Times New Roman" panose="02020603050405020304" pitchFamily="18" charset="0"/>
              </a:rPr>
              <a:t>ε </a:t>
            </a:r>
            <a:r>
              <a:rPr lang="en-IN" b="1" dirty="0">
                <a:solidFill>
                  <a:schemeClr val="tx1"/>
                </a:solidFill>
                <a:latin typeface="Times New Roman" panose="02020603050405020304" pitchFamily="18" charset="0"/>
                <a:cs typeface="Times New Roman" panose="02020603050405020304" pitchFamily="18" charset="0"/>
              </a:rPr>
              <a:t>up to 20</a:t>
            </a:r>
            <a:r>
              <a:rPr lang="el-GR" b="1" dirty="0">
                <a:solidFill>
                  <a:schemeClr val="tx1"/>
                </a:solidFill>
                <a:latin typeface="Times New Roman" panose="02020603050405020304" pitchFamily="18" charset="0"/>
                <a:cs typeface="Times New Roman" panose="02020603050405020304" pitchFamily="18" charset="0"/>
              </a:rPr>
              <a:t>μ</a:t>
            </a:r>
            <a:r>
              <a:rPr lang="en-IN" b="1" dirty="0">
                <a:solidFill>
                  <a:schemeClr val="tx1"/>
                </a:solidFill>
                <a:latin typeface="Times New Roman" panose="02020603050405020304" pitchFamily="18" charset="0"/>
                <a:cs typeface="Times New Roman" panose="02020603050405020304" pitchFamily="18" charset="0"/>
              </a:rPr>
              <a:t>s</a:t>
            </a:r>
            <a:r>
              <a:rPr lang="en-IN" dirty="0">
                <a:solidFill>
                  <a:schemeClr val="tx1"/>
                </a:solidFill>
                <a:latin typeface="Times New Roman" panose="02020603050405020304" pitchFamily="18" charset="0"/>
                <a:cs typeface="Times New Roman" panose="02020603050405020304" pitchFamily="18" charset="0"/>
              </a:rPr>
              <a:t> for non-directly synchronized devices.</a:t>
            </a:r>
          </a:p>
          <a:p>
            <a:pPr marL="457200" lvl="1" indent="0">
              <a:buNone/>
            </a:pPr>
            <a:r>
              <a:rPr lang="en-IN" dirty="0">
                <a:solidFill>
                  <a:schemeClr val="tx1"/>
                </a:solidFill>
                <a:latin typeface="Times New Roman" panose="02020603050405020304" pitchFamily="18" charset="0"/>
                <a:cs typeface="Times New Roman" panose="02020603050405020304" pitchFamily="18" charset="0"/>
              </a:rPr>
              <a:t>Directly synchronized devices have </a:t>
            </a:r>
            <a:r>
              <a:rPr lang="el-GR" dirty="0">
                <a:solidFill>
                  <a:schemeClr val="tx1"/>
                </a:solidFill>
                <a:latin typeface="Times New Roman" panose="02020603050405020304" pitchFamily="18" charset="0"/>
                <a:cs typeface="Times New Roman" panose="02020603050405020304" pitchFamily="18" charset="0"/>
              </a:rPr>
              <a:t>ε </a:t>
            </a:r>
            <a:r>
              <a:rPr lang="en-IN" dirty="0">
                <a:solidFill>
                  <a:schemeClr val="tx1"/>
                </a:solidFill>
                <a:latin typeface="Times New Roman" panose="02020603050405020304" pitchFamily="18" charset="0"/>
                <a:cs typeface="Times New Roman" panose="02020603050405020304" pitchFamily="18" charset="0"/>
              </a:rPr>
              <a:t>increasing from 6ns to ~6ns (extremely low due to small sync-intervals).</a:t>
            </a: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Huygens+</a:t>
            </a:r>
            <a:r>
              <a:rPr lang="el-GR" sz="1400" b="1" dirty="0">
                <a:solidFill>
                  <a:schemeClr val="tx1"/>
                </a:solidFill>
                <a:latin typeface="Times New Roman" panose="02020603050405020304" pitchFamily="18" charset="0"/>
                <a:cs typeface="Times New Roman" panose="02020603050405020304" pitchFamily="18" charset="0"/>
              </a:rPr>
              <a:t>ε:</a:t>
            </a:r>
            <a:endParaRPr lang="el-GR" sz="1400" dirty="0">
              <a:solidFill>
                <a:schemeClr val="tx1"/>
              </a:solidFill>
              <a:latin typeface="Times New Roman" panose="02020603050405020304" pitchFamily="18" charset="0"/>
              <a:cs typeface="Times New Roman" panose="02020603050405020304" pitchFamily="18" charset="0"/>
            </a:endParaRPr>
          </a:p>
          <a:p>
            <a:pPr marL="457200" lvl="1" indent="0">
              <a:buNone/>
            </a:pPr>
            <a:r>
              <a:rPr lang="el-GR" b="1" dirty="0">
                <a:solidFill>
                  <a:schemeClr val="tx1"/>
                </a:solidFill>
                <a:latin typeface="Times New Roman" panose="02020603050405020304" pitchFamily="18" charset="0"/>
                <a:cs typeface="Times New Roman" panose="02020603050405020304" pitchFamily="18" charset="0"/>
              </a:rPr>
              <a:t>ε </a:t>
            </a:r>
            <a:r>
              <a:rPr lang="en-IN" b="1" dirty="0">
                <a:solidFill>
                  <a:schemeClr val="tx1"/>
                </a:solidFill>
                <a:latin typeface="Times New Roman" panose="02020603050405020304" pitchFamily="18" charset="0"/>
                <a:cs typeface="Times New Roman" panose="02020603050405020304" pitchFamily="18" charset="0"/>
              </a:rPr>
              <a:t>increases from 0 to 400</a:t>
            </a:r>
            <a:r>
              <a:rPr lang="el-GR" b="1" dirty="0">
                <a:solidFill>
                  <a:schemeClr val="tx1"/>
                </a:solidFill>
                <a:latin typeface="Times New Roman" panose="02020603050405020304" pitchFamily="18" charset="0"/>
                <a:cs typeface="Times New Roman" panose="02020603050405020304" pitchFamily="18" charset="0"/>
              </a:rPr>
              <a:t>μ</a:t>
            </a:r>
            <a:r>
              <a:rPr lang="en-IN" b="1" dirty="0">
                <a:solidFill>
                  <a:schemeClr val="tx1"/>
                </a:solidFill>
                <a:latin typeface="Times New Roman" panose="02020603050405020304" pitchFamily="18" charset="0"/>
                <a:cs typeface="Times New Roman" panose="02020603050405020304" pitchFamily="18" charset="0"/>
              </a:rPr>
              <a:t>s</a:t>
            </a:r>
            <a:r>
              <a:rPr lang="en-IN" dirty="0">
                <a:solidFill>
                  <a:schemeClr val="tx1"/>
                </a:solidFill>
                <a:latin typeface="Times New Roman" panose="02020603050405020304" pitchFamily="18" charset="0"/>
                <a:cs typeface="Times New Roman" panose="02020603050405020304" pitchFamily="18" charset="0"/>
              </a:rPr>
              <a:t> during each 2s sync-interval.</a:t>
            </a:r>
          </a:p>
          <a:p>
            <a:pPr marL="457200" lvl="1" indent="0">
              <a:buNone/>
            </a:pPr>
            <a:r>
              <a:rPr lang="en-IN" dirty="0">
                <a:solidFill>
                  <a:schemeClr val="tx1"/>
                </a:solidFill>
                <a:latin typeface="Times New Roman" panose="02020603050405020304" pitchFamily="18" charset="0"/>
                <a:cs typeface="Times New Roman" panose="02020603050405020304" pitchFamily="18" charset="0"/>
              </a:rPr>
              <a:t>Even with reduced sync-interval, </a:t>
            </a:r>
            <a:r>
              <a:rPr lang="el-GR" dirty="0">
                <a:solidFill>
                  <a:schemeClr val="tx1"/>
                </a:solidFill>
                <a:latin typeface="Times New Roman" panose="02020603050405020304" pitchFamily="18" charset="0"/>
                <a:cs typeface="Times New Roman" panose="02020603050405020304" pitchFamily="18" charset="0"/>
              </a:rPr>
              <a:t>ε </a:t>
            </a:r>
            <a:r>
              <a:rPr lang="en-IN" dirty="0">
                <a:solidFill>
                  <a:schemeClr val="tx1"/>
                </a:solidFill>
                <a:latin typeface="Times New Roman" panose="02020603050405020304" pitchFamily="18" charset="0"/>
                <a:cs typeface="Times New Roman" panose="02020603050405020304" pitchFamily="18" charset="0"/>
              </a:rPr>
              <a:t>remains significantly higher than Sundial's, with a CPU cost.</a:t>
            </a:r>
          </a:p>
          <a:p>
            <a:endParaRPr lang="en-US" sz="1400"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C0B86FB-7679-5211-33AE-B65F3A8B086E}"/>
              </a:ext>
            </a:extLst>
          </p:cNvPr>
          <p:cNvPicPr>
            <a:picLocks noChangeAspect="1"/>
          </p:cNvPicPr>
          <p:nvPr/>
        </p:nvPicPr>
        <p:blipFill>
          <a:blip r:embed="rId2"/>
          <a:stretch>
            <a:fillRect/>
          </a:stretch>
        </p:blipFill>
        <p:spPr>
          <a:xfrm>
            <a:off x="2647402" y="3191493"/>
            <a:ext cx="4002712" cy="1952007"/>
          </a:xfrm>
          <a:prstGeom prst="rect">
            <a:avLst/>
          </a:prstGeom>
        </p:spPr>
      </p:pic>
      <p:sp>
        <p:nvSpPr>
          <p:cNvPr id="4" name="Title 1">
            <a:extLst>
              <a:ext uri="{FF2B5EF4-FFF2-40B4-BE49-F238E27FC236}">
                <a16:creationId xmlns:a16="http://schemas.microsoft.com/office/drawing/2014/main" id="{48C5B3C5-F221-010B-7430-282692E1C289}"/>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3"/>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48270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4CB0-AD3E-D792-C373-D1F007A2F31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br>
              <a:rPr lang="en-US" dirty="0"/>
            </a:br>
            <a:endParaRPr lang="en-US" dirty="0"/>
          </a:p>
        </p:txBody>
      </p:sp>
      <p:sp>
        <p:nvSpPr>
          <p:cNvPr id="3" name="Text Placeholder 2">
            <a:extLst>
              <a:ext uri="{FF2B5EF4-FFF2-40B4-BE49-F238E27FC236}">
                <a16:creationId xmlns:a16="http://schemas.microsoft.com/office/drawing/2014/main" id="{20BC505D-3F35-B667-7917-1CB2905F171F}"/>
              </a:ext>
            </a:extLst>
          </p:cNvPr>
          <p:cNvSpPr>
            <a:spLocks noGrp="1"/>
          </p:cNvSpPr>
          <p:nvPr>
            <p:ph type="body" idx="1"/>
          </p:nvPr>
        </p:nvSpPr>
        <p:spPr>
          <a:xfrm>
            <a:off x="311700" y="1017725"/>
            <a:ext cx="8520600" cy="2026660"/>
          </a:xfrm>
        </p:spPr>
        <p:txBody>
          <a:bodyPr>
            <a:normAutofit/>
          </a:bodyPr>
          <a:lstStyle/>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Sundial:</a:t>
            </a:r>
            <a:endParaRPr lang="en-IN" sz="1400" dirty="0">
              <a:solidFill>
                <a:schemeClr val="tx1"/>
              </a:solidFill>
              <a:latin typeface="Times New Roman" panose="02020603050405020304" pitchFamily="18" charset="0"/>
              <a:cs typeface="Times New Roman" panose="02020603050405020304" pitchFamily="18" charset="0"/>
            </a:endParaRPr>
          </a:p>
          <a:p>
            <a:pPr marL="596900" lvl="1" indent="0">
              <a:buNone/>
            </a:pPr>
            <a:r>
              <a:rPr lang="en-IN" b="1" dirty="0">
                <a:solidFill>
                  <a:schemeClr val="tx1"/>
                </a:solidFill>
                <a:latin typeface="Times New Roman" panose="02020603050405020304" pitchFamily="18" charset="0"/>
                <a:cs typeface="Times New Roman" panose="02020603050405020304" pitchFamily="18" charset="0"/>
              </a:rPr>
              <a:t>Normal:</a:t>
            </a:r>
            <a:r>
              <a:rPr lang="en-IN" dirty="0">
                <a:solidFill>
                  <a:schemeClr val="tx1"/>
                </a:solidFill>
                <a:latin typeface="Times New Roman" panose="02020603050405020304" pitchFamily="18" charset="0"/>
                <a:cs typeface="Times New Roman" panose="02020603050405020304" pitchFamily="18" charset="0"/>
              </a:rPr>
              <a:t> 15ns-33ns (depth 3).</a:t>
            </a:r>
          </a:p>
          <a:p>
            <a:pPr marL="596900" lvl="1" indent="0">
              <a:buNone/>
            </a:pPr>
            <a:r>
              <a:rPr lang="en-IN" b="1" dirty="0">
                <a:solidFill>
                  <a:schemeClr val="tx1"/>
                </a:solidFill>
                <a:latin typeface="Times New Roman" panose="02020603050405020304" pitchFamily="18" charset="0"/>
                <a:cs typeface="Times New Roman" panose="02020603050405020304" pitchFamily="18" charset="0"/>
              </a:rPr>
              <a:t>Failure:</a:t>
            </a:r>
            <a:r>
              <a:rPr lang="en-IN" dirty="0">
                <a:solidFill>
                  <a:schemeClr val="tx1"/>
                </a:solidFill>
                <a:latin typeface="Times New Roman" panose="02020603050405020304" pitchFamily="18" charset="0"/>
                <a:cs typeface="Times New Roman" panose="02020603050405020304" pitchFamily="18" charset="0"/>
              </a:rPr>
              <a:t> Peaks at 84ns, recovers to 30ns-48ns in 270</a:t>
            </a:r>
            <a:r>
              <a:rPr lang="el-GR" dirty="0">
                <a:solidFill>
                  <a:schemeClr val="tx1"/>
                </a:solidFill>
                <a:latin typeface="Times New Roman" panose="02020603050405020304" pitchFamily="18" charset="0"/>
                <a:cs typeface="Times New Roman" panose="02020603050405020304" pitchFamily="18" charset="0"/>
              </a:rPr>
              <a:t>μ</a:t>
            </a:r>
            <a:r>
              <a:rPr lang="en-IN" dirty="0">
                <a:solidFill>
                  <a:schemeClr val="tx1"/>
                </a:solidFill>
                <a:latin typeface="Times New Roman" panose="02020603050405020304" pitchFamily="18" charset="0"/>
                <a:cs typeface="Times New Roman" panose="02020603050405020304" pitchFamily="18" charset="0"/>
              </a:rPr>
              <a:t>s (local recovery).</a:t>
            </a:r>
          </a:p>
          <a:p>
            <a:pPr marL="596900" lvl="1" indent="0">
              <a:buNone/>
            </a:pPr>
            <a:r>
              <a:rPr lang="en-IN" b="1" dirty="0">
                <a:solidFill>
                  <a:schemeClr val="tx1"/>
                </a:solidFill>
                <a:latin typeface="Times New Roman" panose="02020603050405020304" pitchFamily="18" charset="0"/>
                <a:cs typeface="Times New Roman" panose="02020603050405020304" pitchFamily="18" charset="0"/>
              </a:rPr>
              <a:t>Root Failure:</a:t>
            </a:r>
            <a:r>
              <a:rPr lang="en-IN" dirty="0">
                <a:solidFill>
                  <a:schemeClr val="tx1"/>
                </a:solidFill>
                <a:latin typeface="Times New Roman" panose="02020603050405020304" pitchFamily="18" charset="0"/>
                <a:cs typeface="Times New Roman" panose="02020603050405020304" pitchFamily="18" charset="0"/>
              </a:rPr>
              <a:t> 103ns peak, recovery in 365</a:t>
            </a:r>
            <a:r>
              <a:rPr lang="el-GR" dirty="0">
                <a:solidFill>
                  <a:schemeClr val="tx1"/>
                </a:solidFill>
                <a:latin typeface="Times New Roman" panose="02020603050405020304" pitchFamily="18" charset="0"/>
                <a:cs typeface="Times New Roman" panose="02020603050405020304" pitchFamily="18" charset="0"/>
              </a:rPr>
              <a:t>μ</a:t>
            </a:r>
            <a:r>
              <a:rPr lang="en-IN" dirty="0">
                <a:solidFill>
                  <a:schemeClr val="tx1"/>
                </a:solidFill>
                <a:latin typeface="Times New Roman" panose="02020603050405020304" pitchFamily="18" charset="0"/>
                <a:cs typeface="Times New Roman" panose="02020603050405020304" pitchFamily="18" charset="0"/>
              </a:rPr>
              <a:t>s.</a:t>
            </a: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PTP+</a:t>
            </a:r>
            <a:r>
              <a:rPr lang="el-GR" sz="1400" b="1" dirty="0">
                <a:solidFill>
                  <a:schemeClr val="tx1"/>
                </a:solidFill>
                <a:latin typeface="Times New Roman" panose="02020603050405020304" pitchFamily="18" charset="0"/>
                <a:cs typeface="Times New Roman" panose="02020603050405020304" pitchFamily="18" charset="0"/>
              </a:rPr>
              <a:t>ε:</a:t>
            </a:r>
            <a:r>
              <a:rPr lang="en-US" sz="1400" b="1" dirty="0">
                <a:solidFill>
                  <a:schemeClr val="tx1"/>
                </a:solidFill>
                <a:latin typeface="Times New Roman" panose="02020603050405020304" pitchFamily="18" charset="0"/>
                <a:cs typeface="Times New Roman" panose="02020603050405020304" pitchFamily="18" charset="0"/>
              </a:rPr>
              <a:t> </a:t>
            </a:r>
            <a:r>
              <a:rPr lang="el-GR" sz="1400" dirty="0">
                <a:solidFill>
                  <a:schemeClr val="tx1"/>
                </a:solidFill>
                <a:latin typeface="Times New Roman" panose="02020603050405020304" pitchFamily="18" charset="0"/>
                <a:cs typeface="Times New Roman" panose="02020603050405020304" pitchFamily="18" charset="0"/>
              </a:rPr>
              <a:t>ε </a:t>
            </a:r>
            <a:r>
              <a:rPr lang="en-IN" sz="1400" dirty="0">
                <a:solidFill>
                  <a:schemeClr val="tx1"/>
                </a:solidFill>
                <a:latin typeface="Times New Roman" panose="02020603050405020304" pitchFamily="18" charset="0"/>
                <a:cs typeface="Times New Roman" panose="02020603050405020304" pitchFamily="18" charset="0"/>
              </a:rPr>
              <a:t>rises for 2s; remains high even without failure.</a:t>
            </a:r>
            <a:endParaRPr lang="en-US" sz="1400"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2195A06-0720-87D2-649E-B183CEA23476}"/>
              </a:ext>
            </a:extLst>
          </p:cNvPr>
          <p:cNvPicPr>
            <a:picLocks noChangeAspect="1"/>
          </p:cNvPicPr>
          <p:nvPr/>
        </p:nvPicPr>
        <p:blipFill>
          <a:blip r:embed="rId2"/>
          <a:stretch>
            <a:fillRect/>
          </a:stretch>
        </p:blipFill>
        <p:spPr>
          <a:xfrm>
            <a:off x="2283796" y="2571750"/>
            <a:ext cx="3953007" cy="2154285"/>
          </a:xfrm>
          <a:prstGeom prst="rect">
            <a:avLst/>
          </a:prstGeom>
        </p:spPr>
      </p:pic>
      <p:sp>
        <p:nvSpPr>
          <p:cNvPr id="6" name="Title 1">
            <a:extLst>
              <a:ext uri="{FF2B5EF4-FFF2-40B4-BE49-F238E27FC236}">
                <a16:creationId xmlns:a16="http://schemas.microsoft.com/office/drawing/2014/main" id="{BA941CE5-176E-1430-A11A-94DFD6AA8F2F}"/>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3"/>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229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4CB0-AD3E-D792-C373-D1F007A2F31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Evaluation</a:t>
            </a:r>
            <a:br>
              <a:rPr lang="en-US" dirty="0"/>
            </a:br>
            <a:endParaRPr lang="en-US" dirty="0"/>
          </a:p>
        </p:txBody>
      </p:sp>
      <p:sp>
        <p:nvSpPr>
          <p:cNvPr id="3" name="Text Placeholder 2">
            <a:extLst>
              <a:ext uri="{FF2B5EF4-FFF2-40B4-BE49-F238E27FC236}">
                <a16:creationId xmlns:a16="http://schemas.microsoft.com/office/drawing/2014/main" id="{20BC505D-3F35-B667-7917-1CB2905F171F}"/>
              </a:ext>
            </a:extLst>
          </p:cNvPr>
          <p:cNvSpPr>
            <a:spLocks noGrp="1"/>
          </p:cNvSpPr>
          <p:nvPr>
            <p:ph type="body" idx="1"/>
          </p:nvPr>
        </p:nvSpPr>
        <p:spPr>
          <a:xfrm>
            <a:off x="311700" y="1017725"/>
            <a:ext cx="8520600" cy="2026660"/>
          </a:xfrm>
        </p:spPr>
        <p:txBody>
          <a:bodyPr>
            <a:normAutofit/>
          </a:bodyPr>
          <a:lstStyle/>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PTP+DTP+</a:t>
            </a:r>
            <a:r>
              <a:rPr lang="el-GR" sz="1400" b="1" dirty="0">
                <a:solidFill>
                  <a:schemeClr val="tx1"/>
                </a:solidFill>
                <a:latin typeface="Times New Roman" panose="02020603050405020304" pitchFamily="18" charset="0"/>
                <a:cs typeface="Times New Roman" panose="02020603050405020304" pitchFamily="18" charset="0"/>
              </a:rPr>
              <a:t>ε:</a:t>
            </a:r>
            <a:r>
              <a:rPr lang="en-US" sz="1400" b="1" dirty="0">
                <a:solidFill>
                  <a:schemeClr val="tx1"/>
                </a:solidFill>
                <a:latin typeface="Times New Roman" panose="02020603050405020304" pitchFamily="18" charset="0"/>
                <a:cs typeface="Times New Roman" panose="02020603050405020304" pitchFamily="18" charset="0"/>
              </a:rPr>
              <a:t> </a:t>
            </a:r>
            <a:r>
              <a:rPr lang="en-IN" sz="1400" dirty="0">
                <a:solidFill>
                  <a:schemeClr val="tx1"/>
                </a:solidFill>
                <a:latin typeface="Times New Roman" panose="02020603050405020304" pitchFamily="18" charset="0"/>
                <a:cs typeface="Times New Roman" panose="02020603050405020304" pitchFamily="18" charset="0"/>
              </a:rPr>
              <a:t>Peaks at 40</a:t>
            </a:r>
            <a:r>
              <a:rPr lang="el-GR" sz="1400" dirty="0">
                <a:solidFill>
                  <a:schemeClr val="tx1"/>
                </a:solidFill>
                <a:latin typeface="Times New Roman" panose="02020603050405020304" pitchFamily="18" charset="0"/>
                <a:cs typeface="Times New Roman" panose="02020603050405020304" pitchFamily="18" charset="0"/>
              </a:rPr>
              <a:t>μ</a:t>
            </a:r>
            <a:r>
              <a:rPr lang="en-IN" sz="1400" dirty="0">
                <a:solidFill>
                  <a:schemeClr val="tx1"/>
                </a:solidFill>
                <a:latin typeface="Times New Roman" panose="02020603050405020304" pitchFamily="18" charset="0"/>
                <a:cs typeface="Times New Roman" panose="02020603050405020304" pitchFamily="18" charset="0"/>
              </a:rPr>
              <a:t>s, recovers to 20</a:t>
            </a:r>
            <a:r>
              <a:rPr lang="el-GR" sz="1400" dirty="0">
                <a:solidFill>
                  <a:schemeClr val="tx1"/>
                </a:solidFill>
                <a:latin typeface="Times New Roman" panose="02020603050405020304" pitchFamily="18" charset="0"/>
                <a:cs typeface="Times New Roman" panose="02020603050405020304" pitchFamily="18" charset="0"/>
              </a:rPr>
              <a:t>μ</a:t>
            </a:r>
            <a:r>
              <a:rPr lang="en-IN" sz="1400" dirty="0">
                <a:solidFill>
                  <a:schemeClr val="tx1"/>
                </a:solidFill>
                <a:latin typeface="Times New Roman" panose="02020603050405020304" pitchFamily="18" charset="0"/>
                <a:cs typeface="Times New Roman" panose="02020603050405020304" pitchFamily="18" charset="0"/>
              </a:rPr>
              <a:t>s; controller delay reduces peak </a:t>
            </a:r>
            <a:r>
              <a:rPr lang="el-GR" sz="1400" dirty="0">
                <a:solidFill>
                  <a:schemeClr val="tx1"/>
                </a:solidFill>
                <a:latin typeface="Times New Roman" panose="02020603050405020304" pitchFamily="18" charset="0"/>
                <a:cs typeface="Times New Roman" panose="02020603050405020304" pitchFamily="18" charset="0"/>
              </a:rPr>
              <a:t>ε </a:t>
            </a:r>
            <a:r>
              <a:rPr lang="en-IN" sz="1400" dirty="0">
                <a:solidFill>
                  <a:schemeClr val="tx1"/>
                </a:solidFill>
                <a:latin typeface="Times New Roman" panose="02020603050405020304" pitchFamily="18" charset="0"/>
                <a:cs typeface="Times New Roman" panose="02020603050405020304" pitchFamily="18" charset="0"/>
              </a:rPr>
              <a:t>only slightly.</a:t>
            </a:r>
          </a:p>
          <a:p>
            <a:pPr marL="114300" indent="0">
              <a:buNone/>
            </a:pPr>
            <a:endParaRPr lang="en-IN" sz="14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400" b="1" dirty="0">
                <a:solidFill>
                  <a:schemeClr val="tx1"/>
                </a:solidFill>
                <a:latin typeface="Times New Roman" panose="02020603050405020304" pitchFamily="18" charset="0"/>
                <a:cs typeface="Times New Roman" panose="02020603050405020304" pitchFamily="18" charset="0"/>
              </a:rPr>
              <a:t>Huygens+</a:t>
            </a:r>
            <a:r>
              <a:rPr lang="el-GR" sz="1400" b="1" dirty="0">
                <a:solidFill>
                  <a:schemeClr val="tx1"/>
                </a:solidFill>
                <a:latin typeface="Times New Roman" panose="02020603050405020304" pitchFamily="18" charset="0"/>
                <a:cs typeface="Times New Roman" panose="02020603050405020304" pitchFamily="18" charset="0"/>
              </a:rPr>
              <a:t>ε:</a:t>
            </a:r>
            <a:r>
              <a:rPr lang="en-US" sz="1400" b="1" dirty="0">
                <a:solidFill>
                  <a:schemeClr val="tx1"/>
                </a:solidFill>
                <a:latin typeface="Times New Roman" panose="02020603050405020304" pitchFamily="18" charset="0"/>
                <a:cs typeface="Times New Roman" panose="02020603050405020304" pitchFamily="18" charset="0"/>
              </a:rPr>
              <a:t> </a:t>
            </a:r>
            <a:r>
              <a:rPr lang="en-IN" sz="1400" dirty="0">
                <a:solidFill>
                  <a:schemeClr val="tx1"/>
                </a:solidFill>
                <a:latin typeface="Times New Roman" panose="02020603050405020304" pitchFamily="18" charset="0"/>
                <a:cs typeface="Times New Roman" panose="02020603050405020304" pitchFamily="18" charset="0"/>
              </a:rPr>
              <a:t>Unaffected, but high </a:t>
            </a:r>
            <a:r>
              <a:rPr lang="el-GR" sz="1400" dirty="0">
                <a:solidFill>
                  <a:schemeClr val="tx1"/>
                </a:solidFill>
                <a:latin typeface="Times New Roman" panose="02020603050405020304" pitchFamily="18" charset="0"/>
                <a:cs typeface="Times New Roman" panose="02020603050405020304" pitchFamily="18" charset="0"/>
              </a:rPr>
              <a:t>ε (200μ</a:t>
            </a:r>
            <a:r>
              <a:rPr lang="en-IN" sz="1400" dirty="0">
                <a:solidFill>
                  <a:schemeClr val="tx1"/>
                </a:solidFill>
                <a:latin typeface="Times New Roman" panose="02020603050405020304" pitchFamily="18" charset="0"/>
                <a:cs typeface="Times New Roman" panose="02020603050405020304" pitchFamily="18" charset="0"/>
              </a:rPr>
              <a:t>s-400</a:t>
            </a:r>
            <a:r>
              <a:rPr lang="el-GR" sz="1400" dirty="0">
                <a:solidFill>
                  <a:schemeClr val="tx1"/>
                </a:solidFill>
                <a:latin typeface="Times New Roman" panose="02020603050405020304" pitchFamily="18" charset="0"/>
                <a:cs typeface="Times New Roman" panose="02020603050405020304" pitchFamily="18" charset="0"/>
              </a:rPr>
              <a:t>μ</a:t>
            </a:r>
            <a:r>
              <a:rPr lang="en-IN" sz="1400" dirty="0">
                <a:solidFill>
                  <a:schemeClr val="tx1"/>
                </a:solidFill>
                <a:latin typeface="Times New Roman" panose="02020603050405020304" pitchFamily="18" charset="0"/>
                <a:cs typeface="Times New Roman" panose="02020603050405020304" pitchFamily="18" charset="0"/>
              </a:rPr>
              <a:t>s) during normal operation.</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2195A06-0720-87D2-649E-B183CEA23476}"/>
              </a:ext>
            </a:extLst>
          </p:cNvPr>
          <p:cNvPicPr>
            <a:picLocks noChangeAspect="1"/>
          </p:cNvPicPr>
          <p:nvPr/>
        </p:nvPicPr>
        <p:blipFill>
          <a:blip r:embed="rId2"/>
          <a:stretch>
            <a:fillRect/>
          </a:stretch>
        </p:blipFill>
        <p:spPr>
          <a:xfrm>
            <a:off x="2283796" y="2539942"/>
            <a:ext cx="3953007" cy="2154285"/>
          </a:xfrm>
          <a:prstGeom prst="rect">
            <a:avLst/>
          </a:prstGeom>
        </p:spPr>
      </p:pic>
      <p:sp>
        <p:nvSpPr>
          <p:cNvPr id="6" name="Title 1">
            <a:extLst>
              <a:ext uri="{FF2B5EF4-FFF2-40B4-BE49-F238E27FC236}">
                <a16:creationId xmlns:a16="http://schemas.microsoft.com/office/drawing/2014/main" id="{BA941CE5-176E-1430-A11A-94DFD6AA8F2F}"/>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solidFill>
                  <a:schemeClr val="tx1"/>
                </a:solidFill>
                <a:latin typeface="Times New Roman" panose="02020603050405020304" pitchFamily="18" charset="0"/>
                <a:cs typeface="Times New Roman" panose="02020603050405020304" pitchFamily="18" charset="0"/>
                <a:hlinkClick r:id="rId3"/>
              </a:rPr>
              <a:t>Sundial: Fault-tolerant Clock Synchronization for Datacenters</a:t>
            </a:r>
            <a:r>
              <a:rPr lang="en" sz="2000" b="1" dirty="0">
                <a:solidFill>
                  <a:srgbClr val="333333"/>
                </a:solidFill>
                <a:highlight>
                  <a:srgbClr val="FFFFFF"/>
                </a:highlight>
                <a:latin typeface="Times New Roman" panose="02020603050405020304" pitchFamily="18" charset="0"/>
                <a:cs typeface="Times New Roman" panose="02020603050405020304" pitchFamily="18" charset="0"/>
                <a:hlinkClick r:id="rId4"/>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31689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73B2D-9087-7795-1A04-1FECCDD5D440}"/>
              </a:ext>
            </a:extLst>
          </p:cNvPr>
          <p:cNvSpPr>
            <a:spLocks noGrp="1"/>
          </p:cNvSpPr>
          <p:nvPr>
            <p:ph type="title"/>
          </p:nvPr>
        </p:nvSpPr>
        <p:spPr/>
        <p:txBody>
          <a:bodyPr>
            <a:normAutofit fontScale="90000"/>
          </a:bodyPr>
          <a:lstStyle/>
          <a:p>
            <a:r>
              <a:rPr lang="en-US" dirty="0"/>
              <a:t>Note</a:t>
            </a:r>
          </a:p>
        </p:txBody>
      </p:sp>
      <p:sp>
        <p:nvSpPr>
          <p:cNvPr id="3" name="Text Placeholder 2">
            <a:extLst>
              <a:ext uri="{FF2B5EF4-FFF2-40B4-BE49-F238E27FC236}">
                <a16:creationId xmlns:a16="http://schemas.microsoft.com/office/drawing/2014/main" id="{73936417-66E9-DB48-0455-6DB2697BEB09}"/>
              </a:ext>
            </a:extLst>
          </p:cNvPr>
          <p:cNvSpPr>
            <a:spLocks noGrp="1"/>
          </p:cNvSpPr>
          <p:nvPr>
            <p:ph type="body" idx="1"/>
          </p:nvPr>
        </p:nvSpPr>
        <p:spPr/>
        <p:txBody>
          <a:bodyPr>
            <a:normAutofit/>
          </a:bodyPr>
          <a:lstStyle/>
          <a:p>
            <a:pPr marL="114300" indent="0">
              <a:buNone/>
            </a:pPr>
            <a:r>
              <a:rPr lang="en" sz="1600" b="1" u="sng" dirty="0">
                <a:solidFill>
                  <a:schemeClr val="hlink"/>
                </a:solidFill>
                <a:latin typeface="Times New Roman" panose="02020603050405020304" pitchFamily="18" charset="0"/>
                <a:cs typeface="Times New Roman" panose="02020603050405020304" pitchFamily="18" charset="0"/>
                <a:hlinkClick r:id="rId2"/>
              </a:rPr>
              <a:t>FRANCIS: Fast Reaction Algorithms for Network Coordination In Switches</a:t>
            </a:r>
            <a:r>
              <a:rPr lang="en" sz="1600" dirty="0">
                <a:solidFill>
                  <a:schemeClr val="dk1"/>
                </a:solidFill>
                <a:latin typeface="Times New Roman" panose="02020603050405020304" pitchFamily="18" charset="0"/>
                <a:cs typeface="Times New Roman" panose="02020603050405020304" pitchFamily="18" charset="0"/>
              </a:rPr>
              <a:t> - Claims that it quickly recovers from multiple failures, reduces the time uncertainty bound by up to 5x, and lowers the clock drift when compared to sundial through programmable switches.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7717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B4BC9-E9DC-0859-7022-84AF8B29AC64}"/>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Time synchronization using deep learning</a:t>
            </a:r>
          </a:p>
        </p:txBody>
      </p:sp>
      <p:sp>
        <p:nvSpPr>
          <p:cNvPr id="3" name="Text Placeholder 2">
            <a:extLst>
              <a:ext uri="{FF2B5EF4-FFF2-40B4-BE49-F238E27FC236}">
                <a16:creationId xmlns:a16="http://schemas.microsoft.com/office/drawing/2014/main" id="{4D55E496-95CF-85F4-740D-B9A0AAD8FDAA}"/>
              </a:ext>
            </a:extLst>
          </p:cNvPr>
          <p:cNvSpPr>
            <a:spLocks noGrp="1"/>
          </p:cNvSpPr>
          <p:nvPr>
            <p:ph type="body" idx="1"/>
          </p:nvPr>
        </p:nvSpPr>
        <p:spPr/>
        <p:txBody>
          <a:bodyPr/>
          <a:lstStyle/>
          <a:p>
            <a:pPr marL="114300" indent="0">
              <a:buNone/>
            </a:pPr>
            <a:r>
              <a:rPr lang="en-IN" sz="1600" dirty="0">
                <a:solidFill>
                  <a:schemeClr val="tx1"/>
                </a:solidFill>
                <a:effectLst/>
                <a:latin typeface="Times New Roman" panose="02020603050405020304" pitchFamily="18" charset="0"/>
                <a:cs typeface="Times New Roman" panose="02020603050405020304" pitchFamily="18" charset="0"/>
                <a:hlinkClick r:id="rId2"/>
              </a:rPr>
              <a:t>Unsupervised Deep-Learning for Distributed Clock Synchronization in Wireless Networks </a:t>
            </a:r>
            <a:endParaRPr lang="en-IN" sz="16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r>
              <a:rPr lang="en-US" dirty="0">
                <a:latin typeface="Times New Roman" panose="02020603050405020304" pitchFamily="18" charset="0"/>
                <a:cs typeface="Times New Roman" panose="02020603050405020304" pitchFamily="18" charset="0"/>
              </a:rPr>
              <a:t>The paper is related to the study of clock synchronization in wireless networks but I could not clearly understand it. </a:t>
            </a: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r>
              <a:rPr lang="en-US" dirty="0">
                <a:latin typeface="Times New Roman" panose="02020603050405020304" pitchFamily="18" charset="0"/>
                <a:cs typeface="Times New Roman" panose="02020603050405020304" pitchFamily="18" charset="0"/>
              </a:rPr>
              <a:t>Their code is at </a:t>
            </a:r>
            <a:r>
              <a:rPr lang="en-US" dirty="0">
                <a:latin typeface="Times New Roman" panose="02020603050405020304" pitchFamily="18" charset="0"/>
                <a:cs typeface="Times New Roman" panose="02020603050405020304" pitchFamily="18" charset="0"/>
                <a:hlinkClick r:id="rId3"/>
              </a:rPr>
              <a:t>github</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288485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66865</TotalTime>
  <Words>5073</Words>
  <Application>Microsoft Macintosh PowerPoint</Application>
  <PresentationFormat>On-screen Show (16:9)</PresentationFormat>
  <Paragraphs>720</Paragraphs>
  <Slides>87</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87</vt:i4>
      </vt:variant>
    </vt:vector>
  </HeadingPairs>
  <TitlesOfParts>
    <vt:vector size="95" baseType="lpstr">
      <vt:lpstr>Arial</vt:lpstr>
      <vt:lpstr>Helvetica</vt:lpstr>
      <vt:lpstr>NimbusRomNo9L</vt:lpstr>
      <vt:lpstr>source-serif-pro</vt:lpstr>
      <vt:lpstr>StandardSymL</vt:lpstr>
      <vt:lpstr>Times New Roman</vt:lpstr>
      <vt:lpstr>Wingdings</vt:lpstr>
      <vt:lpstr>Simple Light</vt:lpstr>
      <vt:lpstr>Clock Synchronization  State of Art</vt:lpstr>
      <vt:lpstr>Summary</vt:lpstr>
      <vt:lpstr>Global Positioning System(GPS)  First launched: 1978</vt:lpstr>
      <vt:lpstr>PowerPoint Presentation</vt:lpstr>
      <vt:lpstr>Overview</vt:lpstr>
      <vt:lpstr>Synchronization Subnet</vt:lpstr>
      <vt:lpstr>Algorithm</vt:lpstr>
      <vt:lpstr>Precision Time Protocol IEEE 1588; Established: 2002   </vt:lpstr>
      <vt:lpstr>Overview</vt:lpstr>
      <vt:lpstr>Overview</vt:lpstr>
      <vt:lpstr>Datacenter Time Protocol paper release: 2019</vt:lpstr>
      <vt:lpstr>PowerPoint Presentation</vt:lpstr>
      <vt:lpstr>Contribution</vt:lpstr>
      <vt:lpstr>Implementation</vt:lpstr>
      <vt:lpstr>Implementation</vt:lpstr>
      <vt:lpstr>Implementation</vt:lpstr>
      <vt:lpstr>Implementation</vt:lpstr>
      <vt:lpstr>Deployment – Hardware changes</vt:lpstr>
      <vt:lpstr>Evaluation - PTP</vt:lpstr>
      <vt:lpstr>Evaluation - DTP</vt:lpstr>
      <vt:lpstr>Huygen: Exploiting a Natural Network Effect for Scalable, Fine-grained Clock Synchronization, 2018</vt:lpstr>
      <vt:lpstr>Contributions</vt:lpstr>
      <vt:lpstr>Study of clocks</vt:lpstr>
      <vt:lpstr>Study of clocks</vt:lpstr>
      <vt:lpstr>Study of clocks</vt:lpstr>
      <vt:lpstr>Algorithm</vt:lpstr>
      <vt:lpstr>Algorithm: 3 major steps involved</vt:lpstr>
      <vt:lpstr>Algorithm</vt:lpstr>
      <vt:lpstr>Algorithm</vt:lpstr>
      <vt:lpstr>Evaluation</vt:lpstr>
      <vt:lpstr>Evaluation</vt:lpstr>
      <vt:lpstr>Evaluation</vt:lpstr>
      <vt:lpstr>Conclusion</vt:lpstr>
      <vt:lpstr>Note</vt:lpstr>
      <vt:lpstr>Communication-efficient Clock Synchronization</vt:lpstr>
      <vt:lpstr>Overview</vt:lpstr>
      <vt:lpstr>Implementation</vt:lpstr>
      <vt:lpstr>SSA - Motivation</vt:lpstr>
      <vt:lpstr>Synchronization Algorithm Workflow</vt:lpstr>
      <vt:lpstr>Algorithm</vt:lpstr>
      <vt:lpstr>Algorithm</vt:lpstr>
      <vt:lpstr>Algorithm</vt:lpstr>
      <vt:lpstr>Evaluation - Parameter experiments</vt:lpstr>
      <vt:lpstr>Evaluation</vt:lpstr>
      <vt:lpstr>Evaluation – Comparison with HUYGENS</vt:lpstr>
      <vt:lpstr>Graham: Synchronizing by Leveraging Local Clock Properties</vt:lpstr>
      <vt:lpstr>Motivation</vt:lpstr>
      <vt:lpstr>Contribution  </vt:lpstr>
      <vt:lpstr>Local clock study</vt:lpstr>
      <vt:lpstr>Local clock study</vt:lpstr>
      <vt:lpstr>Local clock study</vt:lpstr>
      <vt:lpstr>Clock Observations</vt:lpstr>
      <vt:lpstr>Temperature vs Error relationship</vt:lpstr>
      <vt:lpstr>Temperature vs Error relationship</vt:lpstr>
      <vt:lpstr>Design  As the clock error can be obtained for a given temperature from the curve, clock can be corrected even in the absence of accurate timing signal.   Graham learns the temperature-clock error relationship by fitting curves as new data points are learned.  </vt:lpstr>
      <vt:lpstr>Implementation  The temperature and clock error is modelled by using cubic polynomial equations solved using linear least squares measures.    Graham uses temperature sensors to collect temperature data at regular intervals, assuming operating temperature range of 40-80oC.  In systems that has more multiple sensors, the sensor with minimal frequency error is selected  The system continuously gathers data and learn the curve before applying corrections.  Jitter and network asymmetry are considered as noise which is a random variable with zero mean that can be reduced by averaging over more equations and longer durations.  </vt:lpstr>
      <vt:lpstr>Evaluation  </vt:lpstr>
      <vt:lpstr>Evaluation  </vt:lpstr>
      <vt:lpstr>Evaluation  </vt:lpstr>
      <vt:lpstr>Evaluation  </vt:lpstr>
      <vt:lpstr>Evaluation  </vt:lpstr>
      <vt:lpstr>Conclusion  </vt:lpstr>
      <vt:lpstr>Multi-hop Precision Time Protocol </vt:lpstr>
      <vt:lpstr>Motivation &amp; Contribution</vt:lpstr>
      <vt:lpstr>Approach </vt:lpstr>
      <vt:lpstr>Step 1: Get Random Delay Distribution based on SVM</vt:lpstr>
      <vt:lpstr>PowerPoint Presentation</vt:lpstr>
      <vt:lpstr>Step 2: Calculate Preliminary Time Offset</vt:lpstr>
      <vt:lpstr>Step 3: Correction based on Weight Loop Effect:</vt:lpstr>
      <vt:lpstr>Evaluation</vt:lpstr>
      <vt:lpstr>Evaluation</vt:lpstr>
      <vt:lpstr>Evaluation</vt:lpstr>
      <vt:lpstr>Sundial: Fault-tolerant Clock Synchronization for Datacenters </vt:lpstr>
      <vt:lpstr>Motivation… </vt:lpstr>
      <vt:lpstr>Two key requirements</vt:lpstr>
      <vt:lpstr>Uses a hardware-software codesign</vt:lpstr>
      <vt:lpstr>PowerPoint Presentation</vt:lpstr>
      <vt:lpstr>PowerPoint Presentation</vt:lpstr>
      <vt:lpstr>PowerPoint Presentation</vt:lpstr>
      <vt:lpstr>Software Design</vt:lpstr>
      <vt:lpstr>Software Design</vt:lpstr>
      <vt:lpstr>Evaluation </vt:lpstr>
      <vt:lpstr>Evaluation </vt:lpstr>
      <vt:lpstr>Evaluation </vt:lpstr>
      <vt:lpstr>Evaluation </vt:lpstr>
      <vt:lpstr>Note</vt:lpstr>
      <vt:lpstr>Time synchronization using deep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Vaishnavi Papudesi Babu</cp:lastModifiedBy>
  <cp:revision>43</cp:revision>
  <dcterms:modified xsi:type="dcterms:W3CDTF">2024-08-24T00:33:09Z</dcterms:modified>
</cp:coreProperties>
</file>